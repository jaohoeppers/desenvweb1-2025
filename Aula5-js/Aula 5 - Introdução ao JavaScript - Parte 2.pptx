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30" r:id="rId3"/>
    <p:sldId id="331" r:id="rId4"/>
    <p:sldId id="332" r:id="rId5"/>
    <p:sldId id="333" r:id="rId6"/>
    <p:sldId id="334" r:id="rId7"/>
    <p:sldId id="335" r:id="rId8"/>
    <p:sldId id="336" r:id="rId9"/>
    <p:sldId id="337" r:id="rId10"/>
    <p:sldId id="339" r:id="rId11"/>
    <p:sldId id="338" r:id="rId12"/>
    <p:sldId id="340" r:id="rId13"/>
    <p:sldId id="341" r:id="rId14"/>
    <p:sldId id="342" r:id="rId15"/>
    <p:sldId id="343" r:id="rId16"/>
    <p:sldId id="346" r:id="rId17"/>
    <p:sldId id="282" r:id="rId1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A1D4CEC-13E9-481F-86CA-30C6F37FFFCE}">
          <p14:sldIdLst>
            <p14:sldId id="256"/>
          </p14:sldIdLst>
        </p14:section>
        <p14:section name="JavaScript - Operadores" id="{7F8F755E-232A-4AD9-AB73-D27134BC1AD7}">
          <p14:sldIdLst>
            <p14:sldId id="330"/>
            <p14:sldId id="331"/>
            <p14:sldId id="332"/>
            <p14:sldId id="333"/>
            <p14:sldId id="334"/>
            <p14:sldId id="335"/>
          </p14:sldIdLst>
        </p14:section>
        <p14:section name="JavaScript - Repetição e Iteração" id="{5BC422A0-BFF8-4B1E-9BC3-22021592B2A7}">
          <p14:sldIdLst>
            <p14:sldId id="336"/>
            <p14:sldId id="337"/>
            <p14:sldId id="339"/>
            <p14:sldId id="338"/>
          </p14:sldIdLst>
        </p14:section>
        <p14:section name="JavaScript - Funções" id="{B109F249-D86F-4DBE-9176-744A1162C1AD}">
          <p14:sldIdLst>
            <p14:sldId id="340"/>
          </p14:sldIdLst>
        </p14:section>
        <p14:section name="JavaScript - Array" id="{2F561CF8-D75D-468D-B156-89508AB1D3D3}">
          <p14:sldIdLst>
            <p14:sldId id="341"/>
            <p14:sldId id="342"/>
          </p14:sldIdLst>
        </p14:section>
        <p14:section name="JavaScript - Prática" id="{30A25FC7-0B52-4DD0-97E6-43A4AEFE4909}">
          <p14:sldIdLst>
            <p14:sldId id="343"/>
            <p14:sldId id="346"/>
          </p14:sldIdLst>
        </p14:section>
        <p14:section name="Próxima Aula" id="{66AAF6F1-D593-4073-912F-D8F5562F77B2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3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188640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pt-BR"/>
              <a:t>Engenharia de Software I</a:t>
            </a:r>
            <a:endParaRPr lang="pt-BR" dirty="0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1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54" y="5993904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pt-BR/docs/Web/JavaScript/Guide/Expressions_and_operators#operadores_de_atribui%C3%A7%C3%A3o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pt-BR/docs/Web/JavaScript/Guide/Indexed_collection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sz="5300" dirty="0"/>
              <a:t>Programação Web 1</a:t>
            </a:r>
            <a:br>
              <a:rPr lang="pt-BR" sz="5300" dirty="0"/>
            </a:br>
            <a:r>
              <a:rPr lang="pt-BR" b="0" dirty="0"/>
              <a:t>Introdução ao </a:t>
            </a:r>
            <a:r>
              <a:rPr lang="pt-BR" b="0" dirty="0" err="1" smtClean="0"/>
              <a:t>JavaScript</a:t>
            </a:r>
            <a:r>
              <a:rPr lang="pt-BR" b="0" dirty="0" smtClean="0"/>
              <a:t> – Parte 2</a:t>
            </a:r>
            <a:endParaRPr lang="pt-BR" b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292080" y="3611607"/>
            <a:ext cx="3096344" cy="537473"/>
          </a:xfrm>
        </p:spPr>
        <p:txBody>
          <a:bodyPr/>
          <a:lstStyle/>
          <a:p>
            <a:r>
              <a:rPr lang="pt-BR" dirty="0"/>
              <a:t>Cleber Nardelli</a:t>
            </a:r>
          </a:p>
        </p:txBody>
      </p:sp>
    </p:spTree>
    <p:extLst>
      <p:ext uri="{BB962C8B-B14F-4D97-AF65-F5344CB8AC3E}">
        <p14:creationId xmlns:p14="http://schemas.microsoft.com/office/powerpoint/2010/main" val="357523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8CEDBBA-9E33-44BD-A66B-47CC1F748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Atribuição</a:t>
            </a:r>
            <a:r>
              <a:rPr lang="pt-BR" dirty="0"/>
              <a:t>: Existem diversas formas de se atribuir valores em variáveis: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lista completa deles pode ser encontrada neste </a:t>
            </a:r>
            <a:r>
              <a:rPr lang="pt-BR" dirty="0">
                <a:hlinkClick r:id="rId2"/>
              </a:rPr>
              <a:t>link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8CCE2F1-D5C7-4347-8B6C-E395A8F2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Operadores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D452FD2E-A64F-4FC2-9B34-0BCE21A5F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847598"/>
              </p:ext>
            </p:extLst>
          </p:nvPr>
        </p:nvGraphicFramePr>
        <p:xfrm>
          <a:off x="575556" y="2504122"/>
          <a:ext cx="799288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 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Atribuição encurtada. O método mais básico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 +=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i="0" dirty="0"/>
                        <a:t>Atribuição de adição. Mesmo que x = x +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 -=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Atribuição de Subtração. Mesmo que x = x – y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 **=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Atribuição de exponencial. Mesmo que x = x **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11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 %=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Atribuição de resto. Mesmo que x = x %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516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538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8CEDBBA-9E33-44BD-A66B-47CC1F748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00000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Comparação</a:t>
            </a:r>
            <a:r>
              <a:rPr lang="pt-BR" dirty="0"/>
              <a:t>: Os operandos podem ser </a:t>
            </a:r>
            <a:r>
              <a:rPr lang="pt-BR" b="1" dirty="0"/>
              <a:t>numéricos, </a:t>
            </a:r>
            <a:r>
              <a:rPr lang="pt-BR" b="1" dirty="0" err="1"/>
              <a:t>strings</a:t>
            </a:r>
            <a:r>
              <a:rPr lang="pt-BR" b="1" dirty="0"/>
              <a:t>, lógicos ou objetos</a:t>
            </a:r>
            <a:r>
              <a:rPr lang="pt-BR" dirty="0"/>
              <a:t>;</a:t>
            </a:r>
          </a:p>
          <a:p>
            <a:r>
              <a:rPr lang="pt-BR" dirty="0"/>
              <a:t>Quando são de tipos diferentes o JS converte implicitamente, geralmente resultando em uma comparação numérica;</a:t>
            </a:r>
          </a:p>
          <a:p>
            <a:r>
              <a:rPr lang="pt-BR" dirty="0"/>
              <a:t>As únicas exceções são os operadores </a:t>
            </a:r>
            <a:r>
              <a:rPr lang="pt-BR" dirty="0">
                <a:solidFill>
                  <a:srgbClr val="FF0000"/>
                </a:solidFill>
              </a:rPr>
              <a:t>===</a:t>
            </a:r>
            <a:r>
              <a:rPr lang="pt-BR" dirty="0"/>
              <a:t> e o </a:t>
            </a:r>
            <a:r>
              <a:rPr lang="pt-BR" dirty="0">
                <a:solidFill>
                  <a:srgbClr val="FF0000"/>
                </a:solidFill>
              </a:rPr>
              <a:t>!==</a:t>
            </a:r>
            <a:r>
              <a:rPr lang="pt-BR" dirty="0"/>
              <a:t>, que realizam comparações de igualdade e desigualdade "estritas“;</a:t>
            </a:r>
          </a:p>
          <a:p>
            <a:r>
              <a:rPr lang="pt-BR" dirty="0"/>
              <a:t>As </a:t>
            </a:r>
            <a:r>
              <a:rPr lang="pt-BR" dirty="0" err="1">
                <a:solidFill>
                  <a:srgbClr val="FF0000"/>
                </a:solidFill>
              </a:rPr>
              <a:t>Strings</a:t>
            </a:r>
            <a:r>
              <a:rPr lang="pt-BR" dirty="0"/>
              <a:t> são comparadas com base em ordenação </a:t>
            </a:r>
            <a:r>
              <a:rPr lang="pt-BR" dirty="0" err="1"/>
              <a:t>lexográfica</a:t>
            </a:r>
            <a:r>
              <a:rPr lang="pt-BR" dirty="0"/>
              <a:t> com valores Unicode;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8CCE2F1-D5C7-4347-8B6C-E395A8F2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Operadores</a:t>
            </a:r>
          </a:p>
        </p:txBody>
      </p:sp>
    </p:spTree>
    <p:extLst>
      <p:ext uri="{BB962C8B-B14F-4D97-AF65-F5344CB8AC3E}">
        <p14:creationId xmlns:p14="http://schemas.microsoft.com/office/powerpoint/2010/main" val="422977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8CEDBBA-9E33-44BD-A66B-47CC1F748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026" y="1268760"/>
            <a:ext cx="8229600" cy="4525963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Comparação</a:t>
            </a:r>
            <a:r>
              <a:rPr lang="pt-BR" dirty="0"/>
              <a:t>: Da mesma forma existem diversas formas: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8CCE2F1-D5C7-4347-8B6C-E395A8F2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Operadores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D452FD2E-A64F-4FC2-9B34-0BCE21A5F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497750"/>
              </p:ext>
            </p:extLst>
          </p:nvPr>
        </p:nvGraphicFramePr>
        <p:xfrm>
          <a:off x="457200" y="2304113"/>
          <a:ext cx="7992888" cy="431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Igual (==)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Retorna TRUE caso ambos sejam iguais.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Não igual (!=)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i="0" dirty="0"/>
                        <a:t>Retorna TRUE caso não sejam iguais.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Estritamente Igual (===)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Retorna TRUE caso os operandos não sejam iguais e/ou não sejam do mesmo tipo;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Maior que (&gt;)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Retorna TRUE caso o operando da esquerda seja </a:t>
                      </a:r>
                      <a:r>
                        <a:rPr lang="pt-BR" b="1" dirty="0"/>
                        <a:t>maior</a:t>
                      </a:r>
                      <a:r>
                        <a:rPr lang="pt-BR" dirty="0"/>
                        <a:t> que o da direita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11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Menor que (&lt;)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Retorna TRUE caso o operando da esquerda seja </a:t>
                      </a:r>
                      <a:r>
                        <a:rPr lang="pt-BR" b="1" dirty="0"/>
                        <a:t>menor</a:t>
                      </a:r>
                      <a:r>
                        <a:rPr lang="pt-BR" dirty="0"/>
                        <a:t> que o da direita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516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Maior ou igual (&gt;=)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Retorna TRUE caso seja maior ou igual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19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Menor ou igual (&lt;=)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Retorna TRUE caso seja menor ou igual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42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80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8CEDBBA-9E33-44BD-A66B-47CC1F748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900000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Aritméticos</a:t>
            </a:r>
            <a:r>
              <a:rPr lang="pt-BR" dirty="0"/>
              <a:t>: Básicos - Soma (+), subtração (-), multiplicação (*) e divisão (/).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8CCE2F1-D5C7-4347-8B6C-E395A8F2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Operadores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34C1F43-4FBB-4EB1-9FF3-831F0CF45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994314"/>
              </p:ext>
            </p:extLst>
          </p:nvPr>
        </p:nvGraphicFramePr>
        <p:xfrm>
          <a:off x="575556" y="2360674"/>
          <a:ext cx="7992888" cy="42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Módulo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Retorna o inteiro restante da divisão de dois valores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Incremento(++)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i="0" dirty="0"/>
                        <a:t>Adiciona 1 ao seu operando. Dado x = 3:</a:t>
                      </a:r>
                    </a:p>
                    <a:p>
                      <a:r>
                        <a:rPr lang="pt-BR" i="0" dirty="0"/>
                        <a:t>x++  &gt;&gt; Retorna 3 e adiciona 1 ao x</a:t>
                      </a:r>
                    </a:p>
                    <a:p>
                      <a:r>
                        <a:rPr lang="pt-BR" i="0" dirty="0"/>
                        <a:t>++x  &gt;&gt; Adiciona 1 ao x e retorna o valor 4.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Decremento (--)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Mesma situação do operador anterior, porém atuando como decremento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Negação (-)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Retorna a negação do operando. Se x = 3, então –x retorna 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11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Adição (+)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Tenta converter o operando em um número.</a:t>
                      </a:r>
                    </a:p>
                    <a:p>
                      <a:r>
                        <a:rPr lang="pt-BR" dirty="0"/>
                        <a:t>+”3” retorna 3. +</a:t>
                      </a:r>
                      <a:r>
                        <a:rPr lang="pt-BR" dirty="0" err="1"/>
                        <a:t>true</a:t>
                      </a:r>
                      <a:r>
                        <a:rPr lang="pt-BR" dirty="0"/>
                        <a:t> retorna 1.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516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Exponenciação</a:t>
                      </a:r>
                      <a:r>
                        <a:rPr lang="pt-BR" dirty="0"/>
                        <a:t> (**)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Calcula a base elevada a potência do expoente.</a:t>
                      </a:r>
                    </a:p>
                    <a:p>
                      <a:r>
                        <a:rPr lang="pt-BR" dirty="0" err="1"/>
                        <a:t>Ex</a:t>
                      </a:r>
                      <a:r>
                        <a:rPr lang="pt-BR" dirty="0"/>
                        <a:t>: 2 ** 3 retorna 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19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765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8CEDBBA-9E33-44BD-A66B-47CC1F748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84576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Lógicos</a:t>
            </a:r>
            <a:r>
              <a:rPr lang="pt-BR" dirty="0"/>
              <a:t>: Normalmente utilizados com valores booleanos, mas podem ser diferentes!</a:t>
            </a:r>
          </a:p>
          <a:p>
            <a:r>
              <a:rPr lang="pt-BR" dirty="0"/>
              <a:t>AND lógico (&amp;&amp;) - Dado: </a:t>
            </a:r>
            <a:r>
              <a:rPr lang="pt-BR" u="sng" dirty="0"/>
              <a:t>expr1 &amp;&amp; expr2:</a:t>
            </a:r>
            <a:endParaRPr lang="pt-BR" dirty="0"/>
          </a:p>
          <a:p>
            <a:pPr lvl="1"/>
            <a:r>
              <a:rPr lang="pt-BR" u="sng" dirty="0"/>
              <a:t>Caso os valores sejam booleanos</a:t>
            </a:r>
            <a:r>
              <a:rPr lang="pt-BR" dirty="0"/>
              <a:t>, retorna TRUE se ambos forem </a:t>
            </a:r>
            <a:r>
              <a:rPr lang="pt-BR" dirty="0">
                <a:solidFill>
                  <a:srgbClr val="FF0000"/>
                </a:solidFill>
              </a:rPr>
              <a:t>verdadeiro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Caso contrário, retorna </a:t>
            </a:r>
            <a:r>
              <a:rPr lang="pt-BR" dirty="0">
                <a:solidFill>
                  <a:srgbClr val="FF0000"/>
                </a:solidFill>
              </a:rPr>
              <a:t>expr1</a:t>
            </a:r>
            <a:r>
              <a:rPr lang="pt-BR" dirty="0"/>
              <a:t> caso possa ser </a:t>
            </a:r>
            <a:r>
              <a:rPr lang="pt-BR" u="sng" dirty="0"/>
              <a:t>convertida para FALSO</a:t>
            </a:r>
            <a:r>
              <a:rPr lang="pt-BR" dirty="0"/>
              <a:t>. Senão retorna </a:t>
            </a:r>
            <a:r>
              <a:rPr lang="pt-BR" dirty="0">
                <a:solidFill>
                  <a:srgbClr val="FF0000"/>
                </a:solidFill>
              </a:rPr>
              <a:t>expr2</a:t>
            </a:r>
          </a:p>
          <a:p>
            <a:pPr lvl="1"/>
            <a:endParaRPr lang="pt-BR" dirty="0">
              <a:solidFill>
                <a:srgbClr val="FF0000"/>
              </a:solidFill>
            </a:endParaRPr>
          </a:p>
          <a:p>
            <a:r>
              <a:rPr lang="pt-BR" dirty="0"/>
              <a:t>OR lógico (||) - Dado: expr1 || expr2: </a:t>
            </a:r>
          </a:p>
          <a:p>
            <a:pPr lvl="1"/>
            <a:r>
              <a:rPr lang="pt-BR" dirty="0"/>
              <a:t>Caso os valores sejam booleanos, retorna TRUE se um dos valores for </a:t>
            </a:r>
            <a:r>
              <a:rPr lang="pt-BR" dirty="0">
                <a:solidFill>
                  <a:srgbClr val="FF0000"/>
                </a:solidFill>
              </a:rPr>
              <a:t>verdadeiro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Caso contrário, retorna expr1 caso possa ser </a:t>
            </a:r>
            <a:r>
              <a:rPr lang="pt-BR" u="sng" dirty="0"/>
              <a:t>convertida para VERDADEIRO</a:t>
            </a:r>
            <a:r>
              <a:rPr lang="pt-BR" dirty="0"/>
              <a:t>. Senão retorna </a:t>
            </a:r>
            <a:r>
              <a:rPr lang="pt-BR" dirty="0">
                <a:solidFill>
                  <a:srgbClr val="FF0000"/>
                </a:solidFill>
              </a:rPr>
              <a:t>expr2</a:t>
            </a:r>
            <a:r>
              <a:rPr lang="pt-BR" dirty="0"/>
              <a:t>.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8CCE2F1-D5C7-4347-8B6C-E395A8F2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Operadores</a:t>
            </a:r>
          </a:p>
        </p:txBody>
      </p:sp>
    </p:spTree>
    <p:extLst>
      <p:ext uri="{BB962C8B-B14F-4D97-AF65-F5344CB8AC3E}">
        <p14:creationId xmlns:p14="http://schemas.microsoft.com/office/powerpoint/2010/main" val="1933719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8CEDBBA-9E33-44BD-A66B-47CC1F748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84576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Ternário</a:t>
            </a:r>
            <a:r>
              <a:rPr lang="pt-BR" dirty="0"/>
              <a:t>: O operador condicional é o único operador </a:t>
            </a:r>
            <a:r>
              <a:rPr lang="pt-BR" dirty="0" err="1"/>
              <a:t>JavaScript</a:t>
            </a:r>
            <a:r>
              <a:rPr lang="pt-BR" dirty="0"/>
              <a:t> que utiliza três operandos;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1" dirty="0" err="1">
                <a:solidFill>
                  <a:srgbClr val="FF0000"/>
                </a:solidFill>
              </a:rPr>
              <a:t>String</a:t>
            </a:r>
            <a:r>
              <a:rPr lang="pt-BR" dirty="0"/>
              <a:t>: O operador + concatena duas </a:t>
            </a:r>
            <a:r>
              <a:rPr lang="pt-BR" dirty="0" err="1"/>
              <a:t>strings</a:t>
            </a:r>
            <a:r>
              <a:rPr lang="pt-BR" dirty="0"/>
              <a:t>: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8CCE2F1-D5C7-4347-8B6C-E395A8F2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Operadores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3A0A0D1-3DBF-4E65-ADD8-1FC7991EB903}"/>
              </a:ext>
            </a:extLst>
          </p:cNvPr>
          <p:cNvSpPr/>
          <p:nvPr/>
        </p:nvSpPr>
        <p:spPr>
          <a:xfrm>
            <a:off x="827584" y="2564904"/>
            <a:ext cx="80648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status = idade &gt;= 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?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"adulto"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: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"menor de idade"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E7CDA55-9AB5-4270-9F3F-C6A7F29EEF6E}"/>
              </a:ext>
            </a:extLst>
          </p:cNvPr>
          <p:cNvSpPr/>
          <p:nvPr/>
        </p:nvSpPr>
        <p:spPr>
          <a:xfrm>
            <a:off x="827584" y="4183920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str1 =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"minha"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str2 =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console.log(str1 + str2);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41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03E19F3-732C-43D9-9CDA-3FD24D238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FF0000"/>
                </a:solidFill>
              </a:rPr>
              <a:t>FOR</a:t>
            </a:r>
            <a:r>
              <a:rPr lang="pt-BR" dirty="0"/>
              <a:t>: É repetido até que uma condição específica seja falsa: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b="1" dirty="0">
                <a:solidFill>
                  <a:srgbClr val="FF0000"/>
                </a:solidFill>
              </a:rPr>
              <a:t>do..</a:t>
            </a:r>
            <a:r>
              <a:rPr lang="pt-BR" b="1" dirty="0" err="1">
                <a:solidFill>
                  <a:srgbClr val="FF0000"/>
                </a:solidFill>
              </a:rPr>
              <a:t>While</a:t>
            </a:r>
            <a:r>
              <a:rPr lang="pt-BR" dirty="0"/>
              <a:t>: A condição é avaliada ao final: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DCDCC8D-4FC0-44B8-B14E-B3E945D5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Repetição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6649FA7-68D5-4895-9177-1FA2ADD38E4F}"/>
              </a:ext>
            </a:extLst>
          </p:cNvPr>
          <p:cNvSpPr/>
          <p:nvPr/>
        </p:nvSpPr>
        <p:spPr>
          <a:xfrm>
            <a:off x="827584" y="2348880"/>
            <a:ext cx="727280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passo;</a:t>
            </a:r>
          </a:p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(passo = 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; passo &lt; 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; passo++) {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2000" dirty="0">
                <a:solidFill>
                  <a:srgbClr val="6A9955"/>
                </a:solidFill>
                <a:latin typeface="Consolas" panose="020B0609020204030204" pitchFamily="49" charset="0"/>
              </a:rPr>
              <a:t>// Executa 5 vezes, com os valores 0 a 4.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console.log(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"Ande um passo para o leste"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D32028E-ABC5-4577-9569-847A0AA9964C}"/>
              </a:ext>
            </a:extLst>
          </p:cNvPr>
          <p:cNvSpPr/>
          <p:nvPr/>
        </p:nvSpPr>
        <p:spPr>
          <a:xfrm>
            <a:off x="819470" y="4776507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do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i += 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console.log(i);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} 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while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(i &lt; 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516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03E19F3-732C-43D9-9CDA-3FD24D238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666523"/>
          </a:xfrm>
        </p:spPr>
        <p:txBody>
          <a:bodyPr>
            <a:normAutofit/>
          </a:bodyPr>
          <a:lstStyle/>
          <a:p>
            <a:r>
              <a:rPr lang="pt-BR" b="1" dirty="0" err="1">
                <a:solidFill>
                  <a:srgbClr val="FF0000"/>
                </a:solidFill>
              </a:rPr>
              <a:t>While</a:t>
            </a:r>
            <a:r>
              <a:rPr lang="pt-BR" dirty="0"/>
              <a:t>: A condição é avaliada no início, logo na primeira iteração: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DCDCC8D-4FC0-44B8-B14E-B3E945D5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Repetição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DA7456F-E1E5-45DF-A6F9-3BE0DE328DA2}"/>
              </a:ext>
            </a:extLst>
          </p:cNvPr>
          <p:cNvSpPr/>
          <p:nvPr/>
        </p:nvSpPr>
        <p:spPr>
          <a:xfrm>
            <a:off x="827584" y="2204864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n =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x =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while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(n &lt;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  n++;</a:t>
            </a:r>
          </a:p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  x += n;</a:t>
            </a:r>
          </a:p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274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03E19F3-732C-43D9-9CDA-3FD24D238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666523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For .. </a:t>
            </a:r>
            <a:r>
              <a:rPr lang="pt-BR" b="1" dirty="0" err="1">
                <a:solidFill>
                  <a:srgbClr val="FF0000"/>
                </a:solidFill>
              </a:rPr>
              <a:t>of</a:t>
            </a:r>
            <a:r>
              <a:rPr lang="pt-BR" dirty="0"/>
              <a:t>: Cria um laço de repetição com objetos interativos, </a:t>
            </a:r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dirty="0" err="1"/>
              <a:t>Array</a:t>
            </a:r>
            <a:r>
              <a:rPr lang="pt-BR" dirty="0"/>
              <a:t>, Map e Set. Interage com valores;</a:t>
            </a:r>
            <a:endParaRPr lang="pt-BR" b="1" dirty="0">
              <a:solidFill>
                <a:srgbClr val="FF0000"/>
              </a:solidFill>
            </a:endParaRPr>
          </a:p>
          <a:p>
            <a:r>
              <a:rPr lang="pt-BR" b="1" dirty="0">
                <a:solidFill>
                  <a:srgbClr val="FF0000"/>
                </a:solidFill>
              </a:rPr>
              <a:t>For .. In</a:t>
            </a:r>
            <a:r>
              <a:rPr lang="pt-BR" dirty="0"/>
              <a:t>: Interage com o nome das propriedades;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DCDCC8D-4FC0-44B8-B14E-B3E945D5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Repetição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A6A8246-9CD3-4EB0-9BBE-307C2C165805}"/>
              </a:ext>
            </a:extLst>
          </p:cNvPr>
          <p:cNvSpPr/>
          <p:nvPr/>
        </p:nvSpPr>
        <p:spPr>
          <a:xfrm>
            <a:off x="899592" y="3573016"/>
            <a:ext cx="68407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arr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7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arr.novo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"Novo Item"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i 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arr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console.log(i);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// logs "0", "1", "2", "novo"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i 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of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arr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console.log(i);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// logs "3", "5", "7"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818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03E19F3-732C-43D9-9CDA-3FD24D238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666523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Continue</a:t>
            </a:r>
            <a:r>
              <a:rPr lang="pt-BR" dirty="0"/>
              <a:t>: Utilizado para avançar iteração:</a:t>
            </a:r>
          </a:p>
          <a:p>
            <a:pPr lvl="1"/>
            <a:r>
              <a:rPr lang="pt-BR" dirty="0"/>
              <a:t>Encerra a iteração atual mais interna de uma instrução </a:t>
            </a:r>
            <a:r>
              <a:rPr lang="pt-BR" dirty="0" err="1">
                <a:solidFill>
                  <a:srgbClr val="FF0000"/>
                </a:solidFill>
              </a:rPr>
              <a:t>while</a:t>
            </a:r>
            <a:r>
              <a:rPr lang="pt-BR" dirty="0">
                <a:solidFill>
                  <a:srgbClr val="FF0000"/>
                </a:solidFill>
              </a:rPr>
              <a:t>, do-</a:t>
            </a:r>
            <a:r>
              <a:rPr lang="pt-BR" dirty="0" err="1">
                <a:solidFill>
                  <a:srgbClr val="FF0000"/>
                </a:solidFill>
              </a:rPr>
              <a:t>while</a:t>
            </a:r>
            <a:r>
              <a:rPr lang="pt-BR" dirty="0">
                <a:solidFill>
                  <a:srgbClr val="FF0000"/>
                </a:solidFill>
              </a:rPr>
              <a:t>, ou for</a:t>
            </a:r>
            <a:r>
              <a:rPr lang="pt-BR" dirty="0"/>
              <a:t> e continuará a execução do laço a partir da próxima iteração;</a:t>
            </a:r>
          </a:p>
          <a:p>
            <a:endParaRPr lang="pt-BR" dirty="0"/>
          </a:p>
          <a:p>
            <a:r>
              <a:rPr lang="pt-BR" b="1" dirty="0">
                <a:solidFill>
                  <a:srgbClr val="FF0000"/>
                </a:solidFill>
              </a:rPr>
              <a:t>Break</a:t>
            </a:r>
            <a:r>
              <a:rPr lang="pt-BR" dirty="0"/>
              <a:t>: Utilizado para encerrar laços de repetição:</a:t>
            </a:r>
          </a:p>
          <a:p>
            <a:pPr lvl="1"/>
            <a:r>
              <a:rPr lang="pt-BR" dirty="0"/>
              <a:t>Ao utilizar break sem um </a:t>
            </a:r>
            <a:r>
              <a:rPr lang="pt-BR" dirty="0" err="1"/>
              <a:t>label</a:t>
            </a:r>
            <a:r>
              <a:rPr lang="pt-BR" dirty="0"/>
              <a:t>, ele encerrará o laço mais interno </a:t>
            </a:r>
            <a:r>
              <a:rPr lang="pt-BR" dirty="0" err="1">
                <a:solidFill>
                  <a:srgbClr val="FF0000"/>
                </a:solidFill>
              </a:rPr>
              <a:t>while</a:t>
            </a:r>
            <a:r>
              <a:rPr lang="pt-BR" dirty="0">
                <a:solidFill>
                  <a:srgbClr val="FF0000"/>
                </a:solidFill>
              </a:rPr>
              <a:t>, do-</a:t>
            </a:r>
            <a:r>
              <a:rPr lang="pt-BR" dirty="0" err="1">
                <a:solidFill>
                  <a:srgbClr val="FF0000"/>
                </a:solidFill>
              </a:rPr>
              <a:t>while</a:t>
            </a:r>
            <a:r>
              <a:rPr lang="pt-BR" dirty="0">
                <a:solidFill>
                  <a:srgbClr val="FF0000"/>
                </a:solidFill>
              </a:rPr>
              <a:t>, for, ou switch</a:t>
            </a:r>
            <a:r>
              <a:rPr lang="pt-BR" dirty="0"/>
              <a:t> e transferirá o controle para a próxima instrução.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DCDCC8D-4FC0-44B8-B14E-B3E945D5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Repetição</a:t>
            </a:r>
          </a:p>
        </p:txBody>
      </p:sp>
    </p:spTree>
    <p:extLst>
      <p:ext uri="{BB962C8B-B14F-4D97-AF65-F5344CB8AC3E}">
        <p14:creationId xmlns:p14="http://schemas.microsoft.com/office/powerpoint/2010/main" val="3304262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B213A8A-7132-4079-9BD6-4D2FB2E07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modo mais simples de declarar função é:</a:t>
            </a:r>
          </a:p>
          <a:p>
            <a:endParaRPr lang="pt-BR" dirty="0"/>
          </a:p>
          <a:p>
            <a:endParaRPr lang="pt-BR" dirty="0"/>
          </a:p>
          <a:p>
            <a:pPr marL="109728" indent="0">
              <a:buNone/>
            </a:pPr>
            <a:endParaRPr lang="pt-BR" dirty="0"/>
          </a:p>
          <a:p>
            <a:r>
              <a:rPr lang="pt-BR" b="1" dirty="0">
                <a:solidFill>
                  <a:srgbClr val="FF0000"/>
                </a:solidFill>
              </a:rPr>
              <a:t>Expressão de função</a:t>
            </a:r>
            <a:r>
              <a:rPr lang="pt-BR" dirty="0"/>
              <a:t>: Uma função </a:t>
            </a:r>
            <a:r>
              <a:rPr lang="pt-BR" u="sng" dirty="0"/>
              <a:t>anônima</a:t>
            </a:r>
            <a:r>
              <a:rPr lang="pt-BR" dirty="0"/>
              <a:t> cuja resultado é atribuído a uma variável por exemplo: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641903-5C41-4D15-9A82-08D517B9D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- Funções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2D88B53-F300-4781-9759-2E70F207F3A5}"/>
              </a:ext>
            </a:extLst>
          </p:cNvPr>
          <p:cNvSpPr/>
          <p:nvPr/>
        </p:nvSpPr>
        <p:spPr>
          <a:xfrm>
            <a:off x="827584" y="1844824"/>
            <a:ext cx="73448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nomeSobrenome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(nome, sobrenome)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nome +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 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+ sobrenome;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console.log(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nomeSobrenome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"Cleber"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"Nardelli"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));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6AD6D7-2D50-41C0-B7E1-B2C9D4083665}"/>
              </a:ext>
            </a:extLst>
          </p:cNvPr>
          <p:cNvSpPr/>
          <p:nvPr/>
        </p:nvSpPr>
        <p:spPr>
          <a:xfrm>
            <a:off x="840160" y="4776507"/>
            <a:ext cx="80648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nomeSobrenome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monta(nome, sobrenome)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nome +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 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+ sobrenome;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console.log(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nomeSobrenome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"Cleber"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"Nardelli"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));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524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B213A8A-7132-4079-9BD6-4D2FB2E07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Utiliza-se o tipo de OBJETO </a:t>
            </a:r>
            <a:r>
              <a:rPr lang="pt-BR" dirty="0" err="1"/>
              <a:t>Array</a:t>
            </a:r>
            <a:r>
              <a:rPr lang="pt-BR" dirty="0"/>
              <a:t> e os métodos disponíveis;</a:t>
            </a:r>
          </a:p>
          <a:p>
            <a:r>
              <a:rPr lang="pt-BR" dirty="0"/>
              <a:t>Um objeto da classe </a:t>
            </a:r>
            <a:r>
              <a:rPr lang="pt-BR" dirty="0" err="1"/>
              <a:t>Array</a:t>
            </a:r>
            <a:r>
              <a:rPr lang="pt-BR" dirty="0"/>
              <a:t>, dispõe de métodos para manipular </a:t>
            </a:r>
            <a:r>
              <a:rPr lang="pt-BR" dirty="0" err="1"/>
              <a:t>array</a:t>
            </a:r>
            <a:r>
              <a:rPr lang="pt-BR" dirty="0"/>
              <a:t> de diversas maneiras como JOIN, REVERSE e SORT;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 err="1"/>
              <a:t>Array</a:t>
            </a:r>
            <a:r>
              <a:rPr lang="pt-BR" dirty="0"/>
              <a:t> com Dados: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641903-5C41-4D15-9A82-08D517B9D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- </a:t>
            </a:r>
            <a:r>
              <a:rPr lang="pt-BR" dirty="0" err="1"/>
              <a:t>Array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55A5776-D95B-4853-82F9-AE28E702929A}"/>
              </a:ext>
            </a:extLst>
          </p:cNvPr>
          <p:cNvSpPr/>
          <p:nvPr/>
        </p:nvSpPr>
        <p:spPr>
          <a:xfrm>
            <a:off x="827584" y="5055318"/>
            <a:ext cx="78592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arr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new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Array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"casa"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"aparamento"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"sítio"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arr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Array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"casa"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"apartamento"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"sítio"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arr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"casa"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"apartamento"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"sítio"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5F500E8-88CE-4F6D-9EEF-25A30404D037}"/>
              </a:ext>
            </a:extLst>
          </p:cNvPr>
          <p:cNvSpPr/>
          <p:nvPr/>
        </p:nvSpPr>
        <p:spPr>
          <a:xfrm>
            <a:off x="827584" y="3573016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arr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new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Array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arr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Array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arr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= [];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141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B213A8A-7132-4079-9BD6-4D2FB2E07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Principais métodos: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641903-5C41-4D15-9A82-08D517B9D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- </a:t>
            </a:r>
            <a:r>
              <a:rPr lang="pt-BR" dirty="0" err="1"/>
              <a:t>Array</a:t>
            </a:r>
            <a:endParaRPr lang="pt-BR" dirty="0"/>
          </a:p>
        </p:txBody>
      </p:sp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11A60375-0527-40C8-8BCA-EEB4F30A5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768298"/>
              </p:ext>
            </p:extLst>
          </p:nvPr>
        </p:nvGraphicFramePr>
        <p:xfrm>
          <a:off x="575556" y="1700808"/>
          <a:ext cx="7992888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Método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concat</a:t>
                      </a:r>
                      <a:r>
                        <a:rPr lang="pt-BR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Une dois </a:t>
                      </a:r>
                      <a:r>
                        <a:rPr kumimoji="0" lang="pt-BR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arrays</a:t>
                      </a:r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retorna um novo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join</a:t>
                      </a:r>
                      <a:r>
                        <a:rPr lang="pt-BR" dirty="0"/>
                        <a:t>(‘,’)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i="0" dirty="0"/>
                        <a:t>Une os elementos de uma </a:t>
                      </a:r>
                      <a:r>
                        <a:rPr lang="pt-BR" i="0" dirty="0" err="1"/>
                        <a:t>array</a:t>
                      </a:r>
                      <a:r>
                        <a:rPr lang="pt-BR" i="0" dirty="0"/>
                        <a:t> dentro de um </a:t>
                      </a:r>
                      <a:r>
                        <a:rPr lang="pt-BR" i="0" dirty="0" err="1"/>
                        <a:t>string</a:t>
                      </a:r>
                      <a:r>
                        <a:rPr lang="pt-BR" i="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push</a:t>
                      </a:r>
                      <a:r>
                        <a:rPr lang="pt-BR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Adiciona um ou mais elementos no fim do </a:t>
                      </a:r>
                      <a:r>
                        <a:rPr kumimoji="0" lang="pt-BR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pop()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Remove o último elemento e o retorna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11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shift()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Remove o primeiro elemento e o retorna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516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slice</a:t>
                      </a:r>
                      <a:r>
                        <a:rPr lang="pt-BR" dirty="0"/>
                        <a:t>(</a:t>
                      </a:r>
                      <a:r>
                        <a:rPr lang="pt-BR" dirty="0" err="1"/>
                        <a:t>ini</a:t>
                      </a:r>
                      <a:r>
                        <a:rPr lang="pt-BR" dirty="0"/>
                        <a:t>, </a:t>
                      </a:r>
                      <a:r>
                        <a:rPr lang="pt-BR" dirty="0" err="1"/>
                        <a:t>end</a:t>
                      </a:r>
                      <a:r>
                        <a:rPr lang="pt-B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Extrai uma parte de elementos de um </a:t>
                      </a:r>
                      <a:r>
                        <a:rPr lang="pt-BR" dirty="0" err="1"/>
                        <a:t>array</a:t>
                      </a:r>
                      <a:r>
                        <a:rPr lang="pt-BR" dirty="0"/>
                        <a:t> e retorna um novo </a:t>
                      </a:r>
                      <a:r>
                        <a:rPr lang="pt-BR" dirty="0" err="1"/>
                        <a:t>array</a:t>
                      </a:r>
                      <a:r>
                        <a:rPr lang="pt-BR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18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reverse()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Inverte os elementos de um </a:t>
                      </a:r>
                      <a:r>
                        <a:rPr lang="pt-BR" dirty="0" err="1"/>
                        <a:t>array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20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sort</a:t>
                      </a:r>
                      <a:r>
                        <a:rPr lang="pt-BR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Ordena os elementos do </a:t>
                      </a:r>
                      <a:r>
                        <a:rPr lang="pt-BR" dirty="0" err="1"/>
                        <a:t>array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8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indexof</a:t>
                      </a:r>
                      <a:r>
                        <a:rPr lang="pt-BR" dirty="0"/>
                        <a:t>(ELEMENT, </a:t>
                      </a:r>
                      <a:r>
                        <a:rPr lang="pt-BR" dirty="0" err="1"/>
                        <a:t>from</a:t>
                      </a:r>
                      <a:r>
                        <a:rPr lang="pt-B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Busca pelo ELEMENT no </a:t>
                      </a:r>
                      <a:r>
                        <a:rPr lang="pt-BR" dirty="0" err="1"/>
                        <a:t>array</a:t>
                      </a:r>
                      <a:r>
                        <a:rPr lang="pt-BR" dirty="0"/>
                        <a:t> e retorna o índice da primeira ocorrência.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284043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99769DA9-2305-4A95-A431-9772EE2C3906}"/>
              </a:ext>
            </a:extLst>
          </p:cNvPr>
          <p:cNvSpPr/>
          <p:nvPr/>
        </p:nvSpPr>
        <p:spPr>
          <a:xfrm>
            <a:off x="4355976" y="6195774"/>
            <a:ext cx="3584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Documentação </a:t>
            </a:r>
            <a:r>
              <a:rPr lang="pt-BR" dirty="0">
                <a:hlinkClick r:id="rId2"/>
              </a:rPr>
              <a:t>completa aqui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1336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4E5AC26-0C5D-4696-97DA-7201386D1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Prática 1</a:t>
            </a:r>
            <a:r>
              <a:rPr lang="pt-BR" dirty="0"/>
              <a:t>: Utilizando os conhecimentos descritos, pede-se para:</a:t>
            </a:r>
          </a:p>
          <a:p>
            <a:pPr lvl="1"/>
            <a:r>
              <a:rPr lang="pt-BR" dirty="0"/>
              <a:t>Criar uma calculadora utilizando-se HTML;</a:t>
            </a:r>
          </a:p>
          <a:p>
            <a:pPr lvl="1"/>
            <a:r>
              <a:rPr lang="pt-BR" dirty="0"/>
              <a:t>Deverá prever as 4 operações básicas (ao menos); </a:t>
            </a:r>
          </a:p>
          <a:p>
            <a:pPr lvl="1"/>
            <a:r>
              <a:rPr lang="pt-BR" dirty="0"/>
              <a:t>Deverá calcular e exibir o resultado utilizando </a:t>
            </a:r>
            <a:r>
              <a:rPr lang="pt-BR" dirty="0" err="1"/>
              <a:t>JavaScript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Caso o resultado seja NEGATIVO, deve-se utilizar um estilo cuja o </a:t>
            </a:r>
            <a:r>
              <a:rPr lang="pt-BR" u="sng" dirty="0"/>
              <a:t>fundo do campo</a:t>
            </a:r>
            <a:r>
              <a:rPr lang="pt-BR" dirty="0"/>
              <a:t> resultado seja </a:t>
            </a:r>
            <a:r>
              <a:rPr lang="pt-BR" dirty="0">
                <a:solidFill>
                  <a:srgbClr val="FF0000"/>
                </a:solidFill>
              </a:rPr>
              <a:t>VERMELHO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Caso POSITIVO, deverá ser </a:t>
            </a:r>
            <a:r>
              <a:rPr lang="pt-BR" dirty="0">
                <a:solidFill>
                  <a:srgbClr val="00B050"/>
                </a:solidFill>
              </a:rPr>
              <a:t>VERDE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Caso seja 0, deverá ser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CINZA</a:t>
            </a:r>
            <a:r>
              <a:rPr lang="pt-BR" dirty="0"/>
              <a:t>.</a:t>
            </a:r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D2544DE-7F1A-4082-96FF-0F0B1289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- Prática</a:t>
            </a:r>
          </a:p>
        </p:txBody>
      </p:sp>
    </p:spTree>
    <p:extLst>
      <p:ext uri="{BB962C8B-B14F-4D97-AF65-F5344CB8AC3E}">
        <p14:creationId xmlns:p14="http://schemas.microsoft.com/office/powerpoint/2010/main" val="1952513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2CBD5333-CEA5-41E0-9E30-553812416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Prática 2</a:t>
            </a:r>
            <a:r>
              <a:rPr lang="pt-BR" dirty="0"/>
              <a:t>: Utilizando a tabela de dados da prática 1 da aula 3 – tabela de notas de alunos – pede-se:</a:t>
            </a:r>
          </a:p>
          <a:p>
            <a:pPr lvl="1"/>
            <a:r>
              <a:rPr lang="pt-BR" dirty="0"/>
              <a:t>1 – Criar um botão para adicionar uma linha totalizadora na tabela ao final (inferior) e calcular a média de cada nota;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2 – Criar um botão para adicionar uma coluna totalizadora na tabela ao final (direito) e calcular a média de cada aluno;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6977823-19E3-49AC-A8A7-1CDA56DD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- Prática</a:t>
            </a:r>
          </a:p>
        </p:txBody>
      </p:sp>
    </p:spTree>
    <p:extLst>
      <p:ext uri="{BB962C8B-B14F-4D97-AF65-F5344CB8AC3E}">
        <p14:creationId xmlns:p14="http://schemas.microsoft.com/office/powerpoint/2010/main" val="1401147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040560"/>
          </a:xfrm>
        </p:spPr>
        <p:txBody>
          <a:bodyPr>
            <a:normAutofit/>
          </a:bodyPr>
          <a:lstStyle/>
          <a:p>
            <a:r>
              <a:rPr lang="pt-BR" dirty="0"/>
              <a:t>Aula 6</a:t>
            </a:r>
          </a:p>
          <a:p>
            <a:r>
              <a:rPr lang="pt-BR" dirty="0"/>
              <a:t>Avaliação Parte </a:t>
            </a:r>
            <a:r>
              <a:rPr lang="pt-BR" dirty="0" smtClean="0"/>
              <a:t>1 (Sala de Aula):</a:t>
            </a:r>
            <a:endParaRPr lang="pt-BR" dirty="0"/>
          </a:p>
          <a:p>
            <a:pPr lvl="1"/>
            <a:r>
              <a:rPr lang="pt-BR" dirty="0" err="1"/>
              <a:t>Github</a:t>
            </a:r>
            <a:endParaRPr lang="pt-BR" dirty="0"/>
          </a:p>
          <a:p>
            <a:pPr lvl="1"/>
            <a:r>
              <a:rPr lang="pt-BR" dirty="0"/>
              <a:t>Revisão HTML</a:t>
            </a:r>
          </a:p>
          <a:p>
            <a:pPr lvl="1"/>
            <a:r>
              <a:rPr lang="pt-BR" dirty="0"/>
              <a:t>Revisão CSS</a:t>
            </a:r>
          </a:p>
          <a:p>
            <a:pPr lvl="1"/>
            <a:r>
              <a:rPr lang="pt-BR" dirty="0"/>
              <a:t>Introdução ao </a:t>
            </a:r>
            <a:r>
              <a:rPr lang="pt-BR" dirty="0" err="1"/>
              <a:t>JavaScript</a:t>
            </a:r>
            <a:endParaRPr lang="pt-BR" dirty="0"/>
          </a:p>
          <a:p>
            <a:pPr lvl="1"/>
            <a:endParaRPr lang="pt-BR" dirty="0"/>
          </a:p>
          <a:p>
            <a:r>
              <a:rPr lang="pt-BR" dirty="0"/>
              <a:t>As práticas (1 e 2) dessa aula, valerão 3 pontos da </a:t>
            </a:r>
            <a:r>
              <a:rPr lang="pt-BR" dirty="0" smtClean="0"/>
              <a:t>avaliação </a:t>
            </a:r>
            <a:r>
              <a:rPr lang="pt-BR" dirty="0" smtClean="0">
                <a:solidFill>
                  <a:srgbClr val="FF0000"/>
                </a:solidFill>
              </a:rPr>
              <a:t>e devem ser postados antes da avaliação</a:t>
            </a:r>
            <a:endParaRPr lang="pt-BR" dirty="0">
              <a:solidFill>
                <a:srgbClr val="FF0000"/>
              </a:solidFill>
            </a:endParaRPr>
          </a:p>
          <a:p>
            <a:pPr lvl="1"/>
            <a:r>
              <a:rPr lang="pt-BR" dirty="0"/>
              <a:t>Avaliação 0.7 + prática </a:t>
            </a:r>
            <a:r>
              <a:rPr lang="pt-BR" dirty="0" smtClean="0"/>
              <a:t>0.3.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Próxima Aula</a:t>
            </a:r>
          </a:p>
        </p:txBody>
      </p:sp>
    </p:spTree>
    <p:extLst>
      <p:ext uri="{BB962C8B-B14F-4D97-AF65-F5344CB8AC3E}">
        <p14:creationId xmlns:p14="http://schemas.microsoft.com/office/powerpoint/2010/main" val="993406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6410</TotalTime>
  <Words>1214</Words>
  <Application>Microsoft Office PowerPoint</Application>
  <PresentationFormat>Apresentação na tela (4:3)</PresentationFormat>
  <Paragraphs>201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Consolas</vt:lpstr>
      <vt:lpstr>Lucida Sans Unicode</vt:lpstr>
      <vt:lpstr>Verdana</vt:lpstr>
      <vt:lpstr>Wingdings 2</vt:lpstr>
      <vt:lpstr>Wingdings 3</vt:lpstr>
      <vt:lpstr>Concurso</vt:lpstr>
      <vt:lpstr>Programação Web 1 Introdução ao JavaScript – Parte 2</vt:lpstr>
      <vt:lpstr>JavaScript – Operadores</vt:lpstr>
      <vt:lpstr>JavaScript – Operadores</vt:lpstr>
      <vt:lpstr>JavaScript – Operadores</vt:lpstr>
      <vt:lpstr>JavaScript – Operadores</vt:lpstr>
      <vt:lpstr>JavaScript – Operadores</vt:lpstr>
      <vt:lpstr>JavaScript – Operadores</vt:lpstr>
      <vt:lpstr>JavaScript – Repetição</vt:lpstr>
      <vt:lpstr>JavaScript – Repetição</vt:lpstr>
      <vt:lpstr>JavaScript – Repetição</vt:lpstr>
      <vt:lpstr>JavaScript – Repetição</vt:lpstr>
      <vt:lpstr>JavaScript - Funções</vt:lpstr>
      <vt:lpstr>JavaScript - Array</vt:lpstr>
      <vt:lpstr>JavaScript - Array</vt:lpstr>
      <vt:lpstr>JavaScript - Prática</vt:lpstr>
      <vt:lpstr>JavaScript - Prática</vt:lpstr>
      <vt:lpstr>Próxima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</dc:title>
  <dc:creator>Cleber Nardelli</dc:creator>
  <cp:lastModifiedBy>User</cp:lastModifiedBy>
  <cp:revision>193</cp:revision>
  <dcterms:created xsi:type="dcterms:W3CDTF">2013-09-10T00:11:01Z</dcterms:created>
  <dcterms:modified xsi:type="dcterms:W3CDTF">2025-09-01T22:19:27Z</dcterms:modified>
</cp:coreProperties>
</file>