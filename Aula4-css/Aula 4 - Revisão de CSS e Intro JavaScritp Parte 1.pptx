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3" r:id="rId3"/>
    <p:sldId id="284" r:id="rId4"/>
    <p:sldId id="285" r:id="rId5"/>
    <p:sldId id="286" r:id="rId6"/>
    <p:sldId id="288" r:id="rId7"/>
    <p:sldId id="289" r:id="rId8"/>
    <p:sldId id="290" r:id="rId9"/>
    <p:sldId id="292" r:id="rId10"/>
    <p:sldId id="293" r:id="rId11"/>
    <p:sldId id="287" r:id="rId12"/>
    <p:sldId id="291" r:id="rId13"/>
    <p:sldId id="294" r:id="rId14"/>
    <p:sldId id="297" r:id="rId15"/>
    <p:sldId id="295" r:id="rId16"/>
    <p:sldId id="296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4" r:id="rId43"/>
    <p:sldId id="282" r:id="rId44"/>
  </p:sldIdLst>
  <p:sldSz cx="9144000" cy="6858000" type="screen4x3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A1D4CEC-13E9-481F-86CA-30C6F37FFFCE}">
          <p14:sldIdLst>
            <p14:sldId id="256"/>
          </p14:sldIdLst>
        </p14:section>
        <p14:section name="CSS" id="{09157F9B-F7D1-4447-93EC-73EC60D9C5A9}">
          <p14:sldIdLst>
            <p14:sldId id="283"/>
            <p14:sldId id="284"/>
            <p14:sldId id="285"/>
            <p14:sldId id="286"/>
            <p14:sldId id="288"/>
          </p14:sldIdLst>
        </p14:section>
        <p14:section name="Sintaxe Básica" id="{084E90E7-E1E4-4FF0-B451-8292A74C0CE2}">
          <p14:sldIdLst>
            <p14:sldId id="289"/>
            <p14:sldId id="290"/>
            <p14:sldId id="292"/>
            <p14:sldId id="293"/>
          </p14:sldIdLst>
        </p14:section>
        <p14:section name="Seletores" id="{99B5588B-E821-4A07-9129-5818A20187A2}">
          <p14:sldIdLst>
            <p14:sldId id="287"/>
            <p14:sldId id="291"/>
            <p14:sldId id="294"/>
            <p14:sldId id="297"/>
            <p14:sldId id="295"/>
            <p14:sldId id="296"/>
            <p14:sldId id="299"/>
          </p14:sldIdLst>
        </p14:section>
        <p14:section name="Introdução ao JavaScript - Parte 1" id="{4612AE87-59EB-4566-8801-2F0A2FF5BD7F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JavaScritp - O Básico" id="{692C9FFC-B9F9-4505-8A9B-430F92C28492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Próxima Aula" id="{66AAF6F1-D593-4073-912F-D8F5562F77B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188640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E700DB3-DBF0-4086-B675-117E7A9610B8}" type="datetimeFigureOut">
              <a:rPr lang="pt-BR" smtClean="0"/>
              <a:t>25/08/2025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pt-BR"/>
              <a:t>Engenharia de Software I</a:t>
            </a:r>
            <a:endParaRPr lang="pt-BR" dirty="0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pic>
        <p:nvPicPr>
          <p:cNvPr id="11" name="Picture 2" descr="http://www.minha.unidavi.edu.br/media/meuespaco_2011/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54" y="5993904"/>
            <a:ext cx="118464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ma-international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262.ecma-international.org/11.0/index.html#titl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pt-BR/docs/Learn/JavaScript/First_steps/What_is_JavaScrip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API/Geolocation" TargetMode="External"/><Relationship Id="rId7" Type="http://schemas.openxmlformats.org/officeDocument/2006/relationships/hyperlink" Target="https://developer.mozilla.org/pt-BR/docs/Web/API/WebRTC_API" TargetMode="External"/><Relationship Id="rId2" Type="http://schemas.openxmlformats.org/officeDocument/2006/relationships/hyperlink" Target="https://developer.mozilla.org/pt-BR/docs/Web/API/Document_Object_Mode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Web/Media/Audio_and_video_delivery" TargetMode="External"/><Relationship Id="rId5" Type="http://schemas.openxmlformats.org/officeDocument/2006/relationships/hyperlink" Target="https://developer.mozilla.org/pt-BR/docs/Web/API/WebGL_API" TargetMode="External"/><Relationship Id="rId4" Type="http://schemas.openxmlformats.org/officeDocument/2006/relationships/hyperlink" Target="https://developer.mozilla.org/pt-BR/docs/Web/API/Canvas_API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ps/" TargetMode="External"/><Relationship Id="rId2" Type="http://schemas.openxmlformats.org/officeDocument/2006/relationships/hyperlink" Target="https://dev.twitter.com/overview/documentation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JavaScript/Reference/Global_Objects/undefined" TargetMode="External"/><Relationship Id="rId2" Type="http://schemas.openxmlformats.org/officeDocument/2006/relationships/hyperlink" Target="https://developer.mozilla.org/pt-BR/docs/Web/JavaScript/Reference/Global_Objects/ReferenceError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pt-BR/docs/Glossary/Object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pt-BR/docs/Web/API/Document_Object_Model/Introduction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1520" y="2204864"/>
            <a:ext cx="8204448" cy="1829761"/>
          </a:xfrm>
        </p:spPr>
        <p:txBody>
          <a:bodyPr>
            <a:normAutofit fontScale="90000"/>
          </a:bodyPr>
          <a:lstStyle/>
          <a:p>
            <a:r>
              <a:rPr lang="pt-BR" sz="5300" dirty="0"/>
              <a:t>Programação Web 1</a:t>
            </a:r>
            <a:br>
              <a:rPr lang="pt-BR" sz="5300" dirty="0"/>
            </a:br>
            <a:r>
              <a:rPr lang="pt-BR" b="0" dirty="0" smtClean="0"/>
              <a:t>CSS</a:t>
            </a:r>
            <a:br>
              <a:rPr lang="pt-BR" b="0" dirty="0" smtClean="0"/>
            </a:br>
            <a:r>
              <a:rPr lang="pt-BR" b="0" dirty="0" smtClean="0"/>
              <a:t>Introdução ao </a:t>
            </a:r>
            <a:r>
              <a:rPr lang="pt-BR" b="0" dirty="0" err="1" smtClean="0"/>
              <a:t>JavaScript</a:t>
            </a:r>
            <a:r>
              <a:rPr lang="pt-BR" b="0" dirty="0" smtClean="0"/>
              <a:t> – Parte 1</a:t>
            </a:r>
            <a:endParaRPr lang="pt-BR" b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59624" y="4034625"/>
            <a:ext cx="3096344" cy="537473"/>
          </a:xfrm>
        </p:spPr>
        <p:txBody>
          <a:bodyPr/>
          <a:lstStyle/>
          <a:p>
            <a:r>
              <a:rPr lang="pt-BR" dirty="0"/>
              <a:t>Cleber Nardelli</a:t>
            </a:r>
          </a:p>
        </p:txBody>
      </p:sp>
    </p:spTree>
    <p:extLst>
      <p:ext uri="{BB962C8B-B14F-4D97-AF65-F5344CB8AC3E}">
        <p14:creationId xmlns:p14="http://schemas.microsoft.com/office/powerpoint/2010/main" val="357523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3691ED2-7562-47E9-926D-F0C9C8D04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devem</a:t>
            </a:r>
            <a:r>
              <a:rPr lang="en-US" dirty="0"/>
              <a:t> ser </a:t>
            </a:r>
            <a:r>
              <a:rPr lang="en-US" dirty="0" err="1"/>
              <a:t>mostradas</a:t>
            </a:r>
            <a:r>
              <a:rPr lang="en-US" dirty="0"/>
              <a:t> as </a:t>
            </a:r>
            <a:r>
              <a:rPr lang="en-US" dirty="0" err="1"/>
              <a:t>marcações</a:t>
            </a:r>
            <a:r>
              <a:rPr lang="en-US" dirty="0"/>
              <a:t> HTML;</a:t>
            </a:r>
          </a:p>
          <a:p>
            <a:r>
              <a:rPr lang="en-US" dirty="0" err="1"/>
              <a:t>Normalmente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armazenadas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folhas</a:t>
            </a:r>
            <a:r>
              <a:rPr lang="en-US" dirty="0"/>
              <a:t> de </a:t>
            </a:r>
            <a:r>
              <a:rPr lang="en-US" dirty="0" err="1"/>
              <a:t>estilo</a:t>
            </a:r>
            <a:r>
              <a:rPr lang="en-US" dirty="0"/>
              <a:t> </a:t>
            </a:r>
            <a:r>
              <a:rPr lang="en-US" dirty="0" err="1"/>
              <a:t>externas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arquivos</a:t>
            </a:r>
            <a:r>
              <a:rPr lang="en-US" dirty="0"/>
              <a:t> .</a:t>
            </a:r>
            <a:r>
              <a:rPr lang="en-US" dirty="0" err="1"/>
              <a:t>css</a:t>
            </a:r>
            <a:r>
              <a:rPr lang="en-US" dirty="0"/>
              <a:t>;</a:t>
            </a:r>
          </a:p>
          <a:p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propriedades</a:t>
            </a:r>
            <a:r>
              <a:rPr lang="en-US" dirty="0"/>
              <a:t> para </a:t>
            </a:r>
            <a:r>
              <a:rPr lang="en-US" dirty="0" err="1"/>
              <a:t>controles</a:t>
            </a:r>
            <a:r>
              <a:rPr lang="en-US" dirty="0"/>
              <a:t> </a:t>
            </a:r>
            <a:r>
              <a:rPr lang="en-US" dirty="0" err="1"/>
              <a:t>básicas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fontes</a:t>
            </a:r>
            <a:r>
              <a:rPr lang="en-US" dirty="0"/>
              <a:t>, </a:t>
            </a:r>
            <a:r>
              <a:rPr lang="en-US" dirty="0" err="1"/>
              <a:t>cor</a:t>
            </a:r>
            <a:r>
              <a:rPr lang="en-US" dirty="0"/>
              <a:t>, layout e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outras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dinâmicas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ocultar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itens</a:t>
            </a:r>
            <a:r>
              <a:rPr lang="en-US" dirty="0"/>
              <a:t>, para </a:t>
            </a:r>
            <a:r>
              <a:rPr lang="en-US" dirty="0" err="1"/>
              <a:t>listas</a:t>
            </a:r>
            <a:r>
              <a:rPr lang="en-US" dirty="0"/>
              <a:t> drop-down e outros components;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2A107B1-236B-49BB-8980-D8C7CD1B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– O Básico</a:t>
            </a:r>
          </a:p>
        </p:txBody>
      </p:sp>
    </p:spTree>
    <p:extLst>
      <p:ext uri="{BB962C8B-B14F-4D97-AF65-F5344CB8AC3E}">
        <p14:creationId xmlns:p14="http://schemas.microsoft.com/office/powerpoint/2010/main" val="305266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CD3A495-52E3-493E-8158-27B024199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algumas formas de se utilizar o CSS:</a:t>
            </a:r>
          </a:p>
          <a:p>
            <a:r>
              <a:rPr lang="pt-BR" dirty="0"/>
              <a:t>1 – </a:t>
            </a:r>
            <a:r>
              <a:rPr lang="pt-BR" i="1" dirty="0" err="1"/>
              <a:t>inline</a:t>
            </a:r>
            <a:r>
              <a:rPr lang="pt-BR" i="1" dirty="0"/>
              <a:t> </a:t>
            </a:r>
            <a:r>
              <a:rPr lang="pt-BR" dirty="0"/>
              <a:t>– o estilo é aplicado a um elemento HTML específico;</a:t>
            </a:r>
          </a:p>
          <a:p>
            <a:r>
              <a:rPr lang="pt-BR" dirty="0"/>
              <a:t>2 – no escopo da página pela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/>
              <a:t>&lt;</a:t>
            </a:r>
            <a:r>
              <a:rPr lang="pt-BR" b="1" dirty="0" err="1"/>
              <a:t>style</a:t>
            </a:r>
            <a:r>
              <a:rPr lang="pt-BR" b="1" dirty="0"/>
              <a:t>&gt; &lt;/</a:t>
            </a:r>
            <a:r>
              <a:rPr lang="pt-BR" b="1" dirty="0" err="1"/>
              <a:t>style</a:t>
            </a:r>
            <a:r>
              <a:rPr lang="pt-BR" b="1" dirty="0"/>
              <a:t>&gt;;</a:t>
            </a:r>
          </a:p>
          <a:p>
            <a:r>
              <a:rPr lang="pt-BR" dirty="0"/>
              <a:t>3 – Como uma biblioteca de estilos em arquivos de folha de estilo (.</a:t>
            </a:r>
            <a:r>
              <a:rPr lang="pt-BR" dirty="0" err="1"/>
              <a:t>css</a:t>
            </a:r>
            <a:r>
              <a:rPr lang="pt-BR" dirty="0"/>
              <a:t>) que são referenciados nas páginas HTML pela </a:t>
            </a:r>
            <a:r>
              <a:rPr lang="pt-BR" dirty="0" err="1"/>
              <a:t>tag</a:t>
            </a:r>
            <a:r>
              <a:rPr lang="pt-BR" dirty="0"/>
              <a:t> </a:t>
            </a:r>
            <a:r>
              <a:rPr lang="pt-BR" b="1" dirty="0"/>
              <a:t>&lt;link&gt;</a:t>
            </a:r>
            <a:r>
              <a:rPr lang="pt-BR" dirty="0"/>
              <a:t>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777F56A-1E30-4826-AE10-E40146E0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– O Básico</a:t>
            </a:r>
          </a:p>
        </p:txBody>
      </p:sp>
    </p:spTree>
    <p:extLst>
      <p:ext uri="{BB962C8B-B14F-4D97-AF65-F5344CB8AC3E}">
        <p14:creationId xmlns:p14="http://schemas.microsoft.com/office/powerpoint/2010/main" val="3838333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E5933D9-19F9-4FB6-9681-BF9D6428E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Inline:</a:t>
            </a:r>
          </a:p>
          <a:p>
            <a:endParaRPr lang="pt-BR"/>
          </a:p>
          <a:p>
            <a:endParaRPr lang="pt-BR"/>
          </a:p>
          <a:p>
            <a:endParaRPr lang="pt-BR"/>
          </a:p>
          <a:p>
            <a:r>
              <a:rPr lang="pt-BR"/>
              <a:t>Escopo: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C482A9E-467A-49B9-812E-B33EDDC2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– O Básico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D1BFAC-97A6-42C9-9244-64FF35B78BD3}"/>
              </a:ext>
            </a:extLst>
          </p:cNvPr>
          <p:cNvSpPr/>
          <p:nvPr/>
        </p:nvSpPr>
        <p:spPr>
          <a:xfrm>
            <a:off x="1187624" y="2060848"/>
            <a:ext cx="64087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s-ES" sz="24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s-E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s-ES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s-ES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s-ES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s-ES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color:red</a:t>
            </a:r>
            <a:r>
              <a:rPr lang="es-ES" sz="2400" dirty="0">
                <a:solidFill>
                  <a:srgbClr val="CE9178"/>
                </a:solidFill>
                <a:latin typeface="Consolas" panose="020B0609020204030204" pitchFamily="49" charset="0"/>
              </a:rPr>
              <a:t>;"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s-ES" sz="2400" dirty="0">
                <a:solidFill>
                  <a:srgbClr val="D4D4D4"/>
                </a:solidFill>
                <a:latin typeface="Consolas" panose="020B0609020204030204" pitchFamily="49" charset="0"/>
              </a:rPr>
              <a:t>Teste de estilo CSS </a:t>
            </a:r>
            <a:r>
              <a:rPr lang="es-E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inline</a:t>
            </a:r>
            <a:r>
              <a:rPr lang="es-ES" sz="2400" dirty="0">
                <a:solidFill>
                  <a:srgbClr val="D4D4D4"/>
                </a:solidFill>
                <a:latin typeface="Consolas" panose="020B0609020204030204" pitchFamily="49" charset="0"/>
              </a:rPr>
              <a:t> no elemento HTML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s-ES" sz="24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s-E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s-E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1D84C5-A672-47BE-96AF-11392273D829}"/>
              </a:ext>
            </a:extLst>
          </p:cNvPr>
          <p:cNvSpPr/>
          <p:nvPr/>
        </p:nvSpPr>
        <p:spPr>
          <a:xfrm>
            <a:off x="1187624" y="3861184"/>
            <a:ext cx="55446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head</a:t>
            </a:r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lvl="1"/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  </a:t>
            </a:r>
            <a:r>
              <a:rPr lang="pt-BR" sz="2400" dirty="0">
                <a:solidFill>
                  <a:srgbClr val="D7BA7D"/>
                </a:solidFill>
                <a:latin typeface="Consolas" panose="020B0609020204030204" pitchFamily="49" charset="0"/>
              </a:rPr>
              <a:t>p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pt-BR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:blue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;}</a:t>
            </a:r>
          </a:p>
          <a:p>
            <a:pPr lvl="1"/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400" dirty="0" err="1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head</a:t>
            </a:r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4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31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E5933D9-19F9-4FB6-9681-BF9D6428E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Referência externa:</a:t>
            </a:r>
          </a:p>
          <a:p>
            <a:endParaRPr lang="pt-BR" dirty="0"/>
          </a:p>
          <a:p>
            <a:endParaRPr lang="pt-BR" dirty="0"/>
          </a:p>
          <a:p>
            <a:pPr marL="109728" indent="0">
              <a:buNone/>
            </a:pPr>
            <a:endParaRPr lang="pt-BR" dirty="0"/>
          </a:p>
          <a:p>
            <a:r>
              <a:rPr lang="pt-BR" dirty="0"/>
              <a:t>Dentro do arquivo CSS: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Também é possível usar comentários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C482A9E-467A-49B9-812E-B33EDDC2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– O Básico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FCEF2F3-1056-4CC4-931C-945CF2640C29}"/>
              </a:ext>
            </a:extLst>
          </p:cNvPr>
          <p:cNvSpPr/>
          <p:nvPr/>
        </p:nvSpPr>
        <p:spPr>
          <a:xfrm>
            <a:off x="899592" y="2132856"/>
            <a:ext cx="76328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400" dirty="0">
                <a:solidFill>
                  <a:srgbClr val="569CD6"/>
                </a:solidFill>
                <a:latin typeface="Consolas" panose="020B0609020204030204" pitchFamily="49" charset="0"/>
              </a:rPr>
              <a:t>link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"01_base_estilos.css"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rel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stylesheet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type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text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/</a:t>
            </a:r>
            <a:r>
              <a:rPr lang="pt-BR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css</a:t>
            </a:r>
            <a:r>
              <a:rPr lang="pt-BR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400" dirty="0">
                <a:solidFill>
                  <a:srgbClr val="569CD6"/>
                </a:solidFill>
                <a:latin typeface="Consolas" panose="020B0609020204030204" pitchFamily="49" charset="0"/>
              </a:rPr>
              <a:t>link</a:t>
            </a:r>
            <a:r>
              <a:rPr lang="pt-BR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372F466-DC66-454C-AD0B-278D020810DB}"/>
              </a:ext>
            </a:extLst>
          </p:cNvPr>
          <p:cNvSpPr/>
          <p:nvPr/>
        </p:nvSpPr>
        <p:spPr>
          <a:xfrm>
            <a:off x="902837" y="3861048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>
                <a:solidFill>
                  <a:srgbClr val="D7BA7D"/>
                </a:solidFill>
                <a:latin typeface="Consolas" panose="020B0609020204030204" pitchFamily="49" charset="0"/>
              </a:rPr>
              <a:t>h4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sz="2400" dirty="0">
                <a:solidFill>
                  <a:srgbClr val="D7BA7D"/>
                </a:solidFill>
                <a:latin typeface="Consolas" panose="020B0609020204030204" pitchFamily="49" charset="0"/>
              </a:rPr>
              <a:t>h5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pt-BR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:green</a:t>
            </a:r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24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6AE034-1256-40FF-B211-E3F8BDD149D4}"/>
              </a:ext>
            </a:extLst>
          </p:cNvPr>
          <p:cNvSpPr/>
          <p:nvPr/>
        </p:nvSpPr>
        <p:spPr>
          <a:xfrm>
            <a:off x="1907704" y="5661248"/>
            <a:ext cx="91450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Mais informações sobre a forma de comentários: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https://www.w3schools.com/css/css_comments.asp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9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95578BF-E884-43EA-9F36-B5F8D94D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8363272" cy="4827992"/>
          </a:xfrm>
        </p:spPr>
        <p:txBody>
          <a:bodyPr>
            <a:normAutofit/>
          </a:bodyPr>
          <a:lstStyle/>
          <a:p>
            <a:r>
              <a:rPr lang="pt-BR" sz="2800" dirty="0"/>
              <a:t>O HTML fica mais </a:t>
            </a:r>
            <a:r>
              <a:rPr lang="pt-BR" sz="2800" b="1" u="sng" dirty="0"/>
              <a:t>simples</a:t>
            </a:r>
            <a:r>
              <a:rPr lang="pt-BR" sz="2800" dirty="0"/>
              <a:t> de “ler“;</a:t>
            </a:r>
          </a:p>
          <a:p>
            <a:r>
              <a:rPr lang="pt-BR" sz="2800" dirty="0"/>
              <a:t>O mesmo arquivo pode ser </a:t>
            </a:r>
            <a:r>
              <a:rPr lang="pt-BR" sz="2800" b="1" u="sng" dirty="0"/>
              <a:t>compartilhado </a:t>
            </a:r>
            <a:r>
              <a:rPr lang="pt-BR" sz="2800" dirty="0"/>
              <a:t>entre as páginas diferentes;</a:t>
            </a:r>
          </a:p>
          <a:p>
            <a:r>
              <a:rPr lang="pt-BR" sz="2800" dirty="0"/>
              <a:t>O browser faz </a:t>
            </a:r>
            <a:r>
              <a:rPr lang="pt-BR" sz="2800" b="1" u="sng" dirty="0"/>
              <a:t>cache</a:t>
            </a:r>
            <a:r>
              <a:rPr lang="pt-BR" sz="2800" dirty="0"/>
              <a:t> dos estilos;</a:t>
            </a:r>
          </a:p>
          <a:p>
            <a:r>
              <a:rPr lang="pt-BR" sz="2800" dirty="0"/>
              <a:t>Pode-se alterar as configurações </a:t>
            </a:r>
            <a:r>
              <a:rPr lang="pt-BR" sz="2800" b="1" u="sng" dirty="0"/>
              <a:t>sem modificar</a:t>
            </a:r>
            <a:r>
              <a:rPr lang="pt-BR" sz="2800" dirty="0"/>
              <a:t> o HTML</a:t>
            </a:r>
          </a:p>
          <a:p>
            <a:r>
              <a:rPr lang="pt-BR" sz="2800" dirty="0"/>
              <a:t>Pode-se utilizar arquivos que estão em </a:t>
            </a:r>
            <a:r>
              <a:rPr lang="pt-BR" sz="2800" b="1" u="sng" dirty="0"/>
              <a:t>servidores diferentes</a:t>
            </a:r>
            <a:r>
              <a:rPr lang="pt-BR" sz="2800" dirty="0"/>
              <a:t> dos que fornecem o conteúdo HTML pesado da aplicação. (CDN)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FD34206-6AFE-4590-9A9F-6CB14B5D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– Por que?</a:t>
            </a:r>
          </a:p>
        </p:txBody>
      </p:sp>
    </p:spTree>
    <p:extLst>
      <p:ext uri="{BB962C8B-B14F-4D97-AF65-F5344CB8AC3E}">
        <p14:creationId xmlns:p14="http://schemas.microsoft.com/office/powerpoint/2010/main" val="92551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0552C56-E7B9-4070-805B-05BA7F88C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formada por duas partes principais: o Seletor e o Bloco de Declaração: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8222016-0DAA-48FA-9EF7-55FB11193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– Sintaxe Básica</a:t>
            </a:r>
          </a:p>
        </p:txBody>
      </p:sp>
      <p:pic>
        <p:nvPicPr>
          <p:cNvPr id="1026" name="Picture 2" descr="CSS e suas Propriedades mais usadas! - Chief of Design">
            <a:extLst>
              <a:ext uri="{FF2B5EF4-FFF2-40B4-BE49-F238E27FC236}">
                <a16:creationId xmlns:a16="http://schemas.microsoft.com/office/drawing/2014/main" id="{8D036E42-309A-4528-8399-249931CC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530" y="2462189"/>
            <a:ext cx="6650940" cy="361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5199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46C310E-B6AC-481D-A7B3-8623B24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C5BBDFF-4E36-4971-93FA-C795AE93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– Sintaxe Básica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25F09C3-041B-458C-A46E-3091B8890765}"/>
              </a:ext>
            </a:extLst>
          </p:cNvPr>
          <p:cNvSpPr/>
          <p:nvPr/>
        </p:nvSpPr>
        <p:spPr>
          <a:xfrm>
            <a:off x="899592" y="2204864"/>
            <a:ext cx="684076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D7BA7D"/>
                </a:solidFill>
                <a:latin typeface="Consolas" panose="020B0609020204030204" pitchFamily="49" charset="0"/>
              </a:rPr>
              <a:t>h1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pt-BR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font-family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sz="2800" dirty="0" err="1">
                <a:solidFill>
                  <a:srgbClr val="D4D4D4"/>
                </a:solidFill>
                <a:latin typeface="Consolas" panose="020B0609020204030204" pitchFamily="49" charset="0"/>
              </a:rPr>
              <a:t>verdana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sz="2800" dirty="0">
                <a:solidFill>
                  <a:srgbClr val="D7BA7D"/>
                </a:solidFill>
                <a:latin typeface="Consolas" panose="020B0609020204030204" pitchFamily="49" charset="0"/>
              </a:rPr>
              <a:t>h1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font-family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sz="2800" dirty="0" err="1">
                <a:solidFill>
                  <a:srgbClr val="D4D4D4"/>
                </a:solidFill>
                <a:latin typeface="Consolas" panose="020B0609020204030204" pitchFamily="49" charset="0"/>
              </a:rPr>
              <a:t>verdana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font-size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sz="2800" dirty="0">
                <a:solidFill>
                  <a:srgbClr val="B5CEA8"/>
                </a:solidFill>
                <a:latin typeface="Consolas" panose="020B0609020204030204" pitchFamily="49" charset="0"/>
              </a:rPr>
              <a:t>78%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sz="2800" dirty="0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sz="2800" dirty="0" err="1">
                <a:solidFill>
                  <a:srgbClr val="D4D4D4"/>
                </a:solidFill>
                <a:latin typeface="Consolas" panose="020B0609020204030204" pitchFamily="49" charset="0"/>
              </a:rPr>
              <a:t>red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7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9D5C291-3A7B-4F10-9476-E2A87313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Antes de avançar precisamos falar um pouco sobre o &lt;</a:t>
            </a:r>
            <a:r>
              <a:rPr lang="pt-BR" dirty="0" err="1"/>
              <a:t>div</a:t>
            </a:r>
            <a:r>
              <a:rPr lang="pt-BR" dirty="0"/>
              <a:t>&gt;;</a:t>
            </a:r>
          </a:p>
          <a:p>
            <a:r>
              <a:rPr lang="pt-BR" dirty="0"/>
              <a:t>Considere um container genérico;</a:t>
            </a:r>
          </a:p>
          <a:p>
            <a:r>
              <a:rPr lang="pt-BR" dirty="0"/>
              <a:t>Com ele podemos organizar logicamente a página;</a:t>
            </a:r>
          </a:p>
          <a:p>
            <a:r>
              <a:rPr lang="pt-BR" dirty="0"/>
              <a:t>Com isso, podemos aplicar os estilos CSS desejados ou aplicar os comportamentos JS necessários;</a:t>
            </a:r>
          </a:p>
          <a:p>
            <a:r>
              <a:rPr lang="pt-BR" dirty="0"/>
              <a:t>O elemento DIV não tem nenhuma estilização padrão, exceto nova linha.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7446CFA-B851-406B-A982-0337B4E5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elemento DIV</a:t>
            </a:r>
          </a:p>
        </p:txBody>
      </p:sp>
    </p:spTree>
    <p:extLst>
      <p:ext uri="{BB962C8B-B14F-4D97-AF65-F5344CB8AC3E}">
        <p14:creationId xmlns:p14="http://schemas.microsoft.com/office/powerpoint/2010/main" val="215590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ED1A65C-2208-4BBF-A6D7-BF163A08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HTML – O elemento DIV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D2F5395-643B-4025-9E69-0E257F3A250B}"/>
              </a:ext>
            </a:extLst>
          </p:cNvPr>
          <p:cNvSpPr/>
          <p:nvPr/>
        </p:nvSpPr>
        <p:spPr>
          <a:xfrm>
            <a:off x="971600" y="1268760"/>
            <a:ext cx="84352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"container"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header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 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Este é o elemento Header dentro da DIV container.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header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conteudo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article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 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Parágrafo dentro de um artigo, no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de conteúdo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article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barralateral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aside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 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Este é um parágrafo dentro da barra lateral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aside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51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37883E6-D0E0-4470-9B10-B1E20F08B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1328"/>
            <a:ext cx="3682752" cy="4525963"/>
          </a:xfrm>
        </p:spPr>
        <p:txBody>
          <a:bodyPr>
            <a:normAutofit fontScale="92500"/>
          </a:bodyPr>
          <a:lstStyle/>
          <a:p>
            <a:r>
              <a:rPr lang="pt-BR" dirty="0"/>
              <a:t>Permitem aplicar diferentes estilos para </a:t>
            </a:r>
            <a:r>
              <a:rPr lang="pt-BR" b="1" dirty="0"/>
              <a:t>um mesmo tipo de elemento</a:t>
            </a:r>
            <a:r>
              <a:rPr lang="pt-BR" dirty="0"/>
              <a:t>;</a:t>
            </a:r>
          </a:p>
          <a:p>
            <a:r>
              <a:rPr lang="pt-BR" dirty="0"/>
              <a:t>Por exemplo: Supondo a necessidade de dois tipos de parágrafos, um alinhado a esquerda e outro a direita: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B24C0C9-3B66-4C24-841C-C125A05B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- Seletores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ED76A7-C115-4ABD-9E90-AFAD468665A2}"/>
              </a:ext>
            </a:extLst>
          </p:cNvPr>
          <p:cNvSpPr/>
          <p:nvPr/>
        </p:nvSpPr>
        <p:spPr>
          <a:xfrm>
            <a:off x="2915816" y="1205977"/>
            <a:ext cx="725455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p.esq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text-align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left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p.dir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text-align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right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style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head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esq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Esquerdo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dir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Direito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u="sng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esq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Esquerdo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u="sng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u="sng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dir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Direito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u="sng" dirty="0" err="1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body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714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CB6C553-AE20-4304-BA07-F72998F9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pt-BR" dirty="0"/>
              <a:t>Principais Formas de declaração: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E76A5D2-F859-4CF8-AF2A-9155231F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- Seletores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0D9473B-8815-4639-8ABF-070A923453EE}"/>
              </a:ext>
            </a:extLst>
          </p:cNvPr>
          <p:cNvSpPr/>
          <p:nvPr/>
        </p:nvSpPr>
        <p:spPr>
          <a:xfrm>
            <a:off x="772006" y="1556792"/>
            <a:ext cx="8064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Aplicar regra a todos os elementos DIV 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   As cores podem ser especificadas no formato de nome, RGB ou Hexadecimal (#121212)*/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139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141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146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50ECDF4-926D-43BB-A0B8-C50229FD293A}"/>
              </a:ext>
            </a:extLst>
          </p:cNvPr>
          <p:cNvSpPr/>
          <p:nvPr/>
        </p:nvSpPr>
        <p:spPr>
          <a:xfrm>
            <a:off x="767340" y="3865116"/>
            <a:ext cx="80648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Aplicar regra a todos elementos DIV ou LI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li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font-family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verdana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font-size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14px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As unidades de medidas podem ser explicitadas ou proporcionais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49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CB6C553-AE20-4304-BA07-F72998F9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pt-BR" dirty="0"/>
              <a:t>Principais Formas de declaração: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E76A5D2-F859-4CF8-AF2A-9155231F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- Seletores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F308667-D45E-43FD-858D-24D6908844F7}"/>
              </a:ext>
            </a:extLst>
          </p:cNvPr>
          <p:cNvSpPr/>
          <p:nvPr/>
        </p:nvSpPr>
        <p:spPr>
          <a:xfrm>
            <a:off x="827584" y="1700808"/>
            <a:ext cx="77768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Qualquer elemento com o ID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dados_complementares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#</a:t>
            </a:r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dados_complementares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206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226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171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D253DEF-0D97-4DF0-9A17-54623CC10858}"/>
              </a:ext>
            </a:extLst>
          </p:cNvPr>
          <p:cNvSpPr/>
          <p:nvPr/>
        </p:nvSpPr>
        <p:spPr>
          <a:xfrm>
            <a:off x="844418" y="3068960"/>
            <a:ext cx="76160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Qualquer elemento com a CLASSE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dados_endereco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dados_endereco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rgb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154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173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244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2479727-39EA-46A9-93D5-108492130ED1}"/>
              </a:ext>
            </a:extLst>
          </p:cNvPr>
          <p:cNvSpPr/>
          <p:nvPr/>
        </p:nvSpPr>
        <p:spPr>
          <a:xfrm>
            <a:off x="844418" y="4602833"/>
            <a:ext cx="80648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Aplicar regra a elementos LI da classe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dados_sensiveis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li.dados_sensiveis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font-style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italic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39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CB6C553-AE20-4304-BA07-F72998F9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pt-BR" dirty="0"/>
              <a:t>Principais Formas de declaração: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E76A5D2-F859-4CF8-AF2A-9155231F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- Seletores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A79D192-1200-4C7A-8798-392DF71758C6}"/>
              </a:ext>
            </a:extLst>
          </p:cNvPr>
          <p:cNvSpPr/>
          <p:nvPr/>
        </p:nvSpPr>
        <p:spPr>
          <a:xfrm>
            <a:off x="539552" y="1721663"/>
            <a:ext cx="822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Um elemento de URL pode ser referenciado desta forma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fieldset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background-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image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url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"https://s3-sa-east-1.amazonaws.com/site50anos/selo50anos_uni.png"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Com o valor de atributo HSL (CSS3) é possível aplicar transparência. Nesse caso está 75% transparente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background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hsla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240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4%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58%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0.204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38F135D-583D-44DA-9810-9B908274FD97}"/>
              </a:ext>
            </a:extLst>
          </p:cNvPr>
          <p:cNvSpPr/>
          <p:nvPr/>
        </p:nvSpPr>
        <p:spPr>
          <a:xfrm>
            <a:off x="539552" y="4063252"/>
            <a:ext cx="81472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/* A regra @media permite definir comportamentos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especificos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para outros tipos de mídia */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@media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print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D7BA7D"/>
                </a:solidFill>
                <a:latin typeface="Consolas" panose="020B0609020204030204" pitchFamily="49" charset="0"/>
              </a:rPr>
              <a:t>div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li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font-family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'Courier New'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Courier,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monospace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50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4E31AD6-09C5-4C5A-B6F4-61CB277B1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1</a:t>
            </a:r>
            <a:r>
              <a:rPr lang="pt-BR" dirty="0"/>
              <a:t>: Utilizando o cadastro de pessoas criado na aula passada, deve-se:</a:t>
            </a:r>
          </a:p>
          <a:p>
            <a:pPr lvl="1"/>
            <a:r>
              <a:rPr lang="pt-BR" dirty="0"/>
              <a:t>Organizar em contêineres genéricos (DIV)</a:t>
            </a:r>
          </a:p>
          <a:p>
            <a:pPr lvl="1"/>
            <a:r>
              <a:rPr lang="pt-BR" dirty="0"/>
              <a:t>Criar uma folha de estilos própria</a:t>
            </a:r>
          </a:p>
          <a:p>
            <a:pPr lvl="1"/>
            <a:r>
              <a:rPr lang="pt-BR" dirty="0"/>
              <a:t>Criar regras de formatação para todos os elementos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E2572A5-8998-406C-A5B2-49E353E4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- Prática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BBF855-7E17-4D0D-88D8-87D48B4A5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89" y="3793201"/>
            <a:ext cx="8351912" cy="255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44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EE540FA-CBAF-47A1-8F17-D5BDF6346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2</a:t>
            </a:r>
            <a:r>
              <a:rPr lang="pt-BR" dirty="0"/>
              <a:t>: Nessa prática deve-se utilizar elementos livres para formatação do estilo do mesmo cadastro.</a:t>
            </a:r>
          </a:p>
          <a:p>
            <a:endParaRPr lang="pt-BR" dirty="0"/>
          </a:p>
          <a:p>
            <a:r>
              <a:rPr lang="pt-BR" dirty="0"/>
              <a:t>Explore ao máximo as capacidades do CSS</a:t>
            </a:r>
          </a:p>
          <a:p>
            <a:endParaRPr lang="pt-BR" dirty="0"/>
          </a:p>
          <a:p>
            <a:r>
              <a:rPr lang="pt-BR" dirty="0"/>
              <a:t>Postar no GITHUB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B6C8AAC-5868-4A20-B432-DD6C29B7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- Prática</a:t>
            </a:r>
          </a:p>
        </p:txBody>
      </p:sp>
    </p:spTree>
    <p:extLst>
      <p:ext uri="{BB962C8B-B14F-4D97-AF65-F5344CB8AC3E}">
        <p14:creationId xmlns:p14="http://schemas.microsoft.com/office/powerpoint/2010/main" val="2577905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EE540FA-CBAF-47A1-8F17-D5BDF6346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Prática 3</a:t>
            </a:r>
            <a:r>
              <a:rPr lang="pt-BR" dirty="0"/>
              <a:t>: Aplicar formatação de CSS no exemplo de HTML criado na primeira aula de revisão quando criamos a página de biografia.</a:t>
            </a:r>
          </a:p>
          <a:p>
            <a:endParaRPr lang="pt-BR" dirty="0"/>
          </a:p>
          <a:p>
            <a:r>
              <a:rPr lang="pt-BR" dirty="0"/>
              <a:t>Explore ao máximo as capacidades do CSS</a:t>
            </a:r>
          </a:p>
          <a:p>
            <a:endParaRPr lang="pt-BR" dirty="0"/>
          </a:p>
          <a:p>
            <a:r>
              <a:rPr lang="pt-BR" dirty="0"/>
              <a:t>Postar no GITHUB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B6C8AAC-5868-4A20-B432-DD6C29B7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CSS - Prática</a:t>
            </a:r>
          </a:p>
        </p:txBody>
      </p:sp>
    </p:spTree>
    <p:extLst>
      <p:ext uri="{BB962C8B-B14F-4D97-AF65-F5344CB8AC3E}">
        <p14:creationId xmlns:p14="http://schemas.microsoft.com/office/powerpoint/2010/main" val="3456633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D257A61-1065-4F34-9575-5CC1BF00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0193"/>
            <a:ext cx="8229600" cy="4900000"/>
          </a:xfrm>
        </p:spPr>
        <p:txBody>
          <a:bodyPr>
            <a:normAutofit/>
          </a:bodyPr>
          <a:lstStyle/>
          <a:p>
            <a:r>
              <a:rPr lang="pt-BR" dirty="0"/>
              <a:t>A Netscape foi a criadora do </a:t>
            </a:r>
            <a:r>
              <a:rPr lang="pt-BR" dirty="0" err="1"/>
              <a:t>JavaScript</a:t>
            </a:r>
            <a:r>
              <a:rPr lang="pt-BR" dirty="0"/>
              <a:t>, mas antes se chamava MOCHA;</a:t>
            </a:r>
          </a:p>
          <a:p>
            <a:r>
              <a:rPr lang="pt-BR" dirty="0"/>
              <a:t>A fim de manter um padrão entre navegadores, em novembro de 1996 a Netscape enviou o </a:t>
            </a:r>
            <a:r>
              <a:rPr lang="pt-BR" dirty="0" err="1"/>
              <a:t>JavaScript</a:t>
            </a:r>
            <a:r>
              <a:rPr lang="pt-BR" dirty="0"/>
              <a:t> à </a:t>
            </a:r>
            <a:r>
              <a:rPr lang="pt-BR" u="sng" dirty="0">
                <a:hlinkClick r:id="rId2" tooltip="ECMA International"/>
              </a:rPr>
              <a:t>ECMA </a:t>
            </a:r>
            <a:r>
              <a:rPr lang="pt-BR" u="sng" dirty="0" err="1">
                <a:hlinkClick r:id="rId2" tooltip="ECMA International"/>
              </a:rPr>
              <a:t>International</a:t>
            </a:r>
            <a:r>
              <a:rPr lang="pt-BR" u="sng" dirty="0"/>
              <a:t>;</a:t>
            </a:r>
          </a:p>
          <a:p>
            <a:pPr lvl="1"/>
            <a:r>
              <a:rPr lang="pt-BR" b="1" dirty="0" err="1"/>
              <a:t>E</a:t>
            </a:r>
            <a:r>
              <a:rPr lang="pt-BR" dirty="0" err="1"/>
              <a:t>uropean</a:t>
            </a:r>
            <a:r>
              <a:rPr lang="pt-BR" dirty="0"/>
              <a:t> </a:t>
            </a:r>
            <a:r>
              <a:rPr lang="pt-BR" b="1" dirty="0"/>
              <a:t>C</a:t>
            </a:r>
            <a:r>
              <a:rPr lang="pt-BR" dirty="0"/>
              <a:t>omputer </a:t>
            </a:r>
            <a:r>
              <a:rPr lang="pt-BR" b="1" dirty="0" err="1"/>
              <a:t>M</a:t>
            </a:r>
            <a:r>
              <a:rPr lang="pt-BR" dirty="0" err="1"/>
              <a:t>anufacturers</a:t>
            </a:r>
            <a:r>
              <a:rPr lang="pt-BR" dirty="0"/>
              <a:t> </a:t>
            </a:r>
            <a:r>
              <a:rPr lang="pt-BR" b="1" dirty="0" err="1"/>
              <a:t>A</a:t>
            </a:r>
            <a:r>
              <a:rPr lang="pt-BR" dirty="0" err="1"/>
              <a:t>ssociation</a:t>
            </a:r>
            <a:r>
              <a:rPr lang="pt-BR" dirty="0"/>
              <a:t> (Associação Europeia de Fabricantes de Computadores).</a:t>
            </a:r>
          </a:p>
          <a:p>
            <a:r>
              <a:rPr lang="pt-BR" dirty="0"/>
              <a:t>Já que o nome </a:t>
            </a:r>
            <a:r>
              <a:rPr lang="pt-BR" dirty="0" err="1"/>
              <a:t>JavaScript</a:t>
            </a:r>
            <a:r>
              <a:rPr lang="pt-BR" dirty="0"/>
              <a:t> pertencia à Sun, foi registrado um novo nome - </a:t>
            </a:r>
            <a:r>
              <a:rPr lang="pt-BR" b="1" dirty="0" err="1"/>
              <a:t>ECMAScript</a:t>
            </a:r>
            <a:endParaRPr lang="pt-BR" b="1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EB78CF1-AFAA-41CA-8394-5A1D8E1B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JavaScript</a:t>
            </a:r>
            <a:r>
              <a:rPr lang="pt-BR" dirty="0"/>
              <a:t> – Um pouco da história</a:t>
            </a:r>
          </a:p>
        </p:txBody>
      </p:sp>
    </p:spTree>
    <p:extLst>
      <p:ext uri="{BB962C8B-B14F-4D97-AF65-F5344CB8AC3E}">
        <p14:creationId xmlns:p14="http://schemas.microsoft.com/office/powerpoint/2010/main" val="3783754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D257A61-1065-4F34-9575-5CC1BF00F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0193"/>
            <a:ext cx="8229600" cy="4900000"/>
          </a:xfrm>
        </p:spPr>
        <p:txBody>
          <a:bodyPr>
            <a:normAutofit/>
          </a:bodyPr>
          <a:lstStyle/>
          <a:p>
            <a:r>
              <a:rPr lang="pt-BR" b="1" dirty="0"/>
              <a:t>O </a:t>
            </a:r>
            <a:r>
              <a:rPr lang="pt-BR" b="1" dirty="0" err="1"/>
              <a:t>ECMAScript</a:t>
            </a:r>
            <a:r>
              <a:rPr lang="pt-BR" dirty="0"/>
              <a:t> continua em evolução. </a:t>
            </a:r>
          </a:p>
          <a:p>
            <a:r>
              <a:rPr lang="pt-BR" dirty="0"/>
              <a:t>Quando funcionalidades são adicionadas o documento </a:t>
            </a:r>
            <a:r>
              <a:rPr lang="pt-BR" dirty="0">
                <a:hlinkClick r:id="rId2"/>
              </a:rPr>
              <a:t>ECMA-262</a:t>
            </a:r>
            <a:r>
              <a:rPr lang="pt-BR" dirty="0"/>
              <a:t> é atualizado;</a:t>
            </a:r>
          </a:p>
          <a:p>
            <a:r>
              <a:rPr lang="pt-BR" dirty="0"/>
              <a:t>Em 2015 (</a:t>
            </a:r>
            <a:r>
              <a:rPr lang="pt-BR" dirty="0" err="1"/>
              <a:t>ECMAScript</a:t>
            </a:r>
            <a:r>
              <a:rPr lang="pt-BR" dirty="0"/>
              <a:t> 6 ou ES6), foi decidido que o nome das versões viriam com o número do ano. </a:t>
            </a:r>
          </a:p>
          <a:p>
            <a:pPr lvl="1"/>
            <a:r>
              <a:rPr lang="pt-BR" dirty="0"/>
              <a:t>Por isso que o ES6 também ficou conhecido como </a:t>
            </a:r>
            <a:r>
              <a:rPr lang="pt-BR" dirty="0" err="1"/>
              <a:t>ECMAScript</a:t>
            </a:r>
            <a:r>
              <a:rPr lang="pt-BR" dirty="0"/>
              <a:t> 2015 (ou ES2015);</a:t>
            </a:r>
          </a:p>
          <a:p>
            <a:pPr lvl="1"/>
            <a:r>
              <a:rPr lang="pt-BR" dirty="0"/>
              <a:t>No momento está no </a:t>
            </a:r>
            <a:r>
              <a:rPr lang="pt-BR" dirty="0" err="1"/>
              <a:t>ECMAScript</a:t>
            </a:r>
            <a:r>
              <a:rPr lang="pt-BR" dirty="0"/>
              <a:t> 2020;</a:t>
            </a:r>
          </a:p>
          <a:p>
            <a:r>
              <a:rPr lang="pt-BR" dirty="0"/>
              <a:t>O nome </a:t>
            </a:r>
            <a:r>
              <a:rPr lang="pt-BR" dirty="0" err="1"/>
              <a:t>JavaScript</a:t>
            </a:r>
            <a:r>
              <a:rPr lang="pt-BR" dirty="0"/>
              <a:t> é usado por sua popularidade;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EB78CF1-AFAA-41CA-8394-5A1D8E1B7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JavaScript</a:t>
            </a:r>
            <a:r>
              <a:rPr lang="pt-BR" dirty="0"/>
              <a:t> – Um pouco da história</a:t>
            </a:r>
          </a:p>
        </p:txBody>
      </p:sp>
    </p:spTree>
    <p:extLst>
      <p:ext uri="{BB962C8B-B14F-4D97-AF65-F5344CB8AC3E}">
        <p14:creationId xmlns:p14="http://schemas.microsoft.com/office/powerpoint/2010/main" val="4209863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E1D9EA3-807A-4659-831D-053C7D798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Permite implementar comportamentos complexos em páginas web.</a:t>
            </a:r>
          </a:p>
          <a:p>
            <a:pPr lvl="1"/>
            <a:r>
              <a:rPr lang="pt-BR" dirty="0"/>
              <a:t>Armazenar conteúdo útil em variáveis;</a:t>
            </a:r>
          </a:p>
          <a:p>
            <a:pPr lvl="1"/>
            <a:r>
              <a:rPr lang="pt-BR" dirty="0"/>
              <a:t>Operações com pedaços de texto;</a:t>
            </a:r>
          </a:p>
          <a:p>
            <a:pPr lvl="1"/>
            <a:r>
              <a:rPr lang="pt-BR" dirty="0"/>
              <a:t>Executar o código em resposta a determinados eventos que ocorrem na página – disparados ou não pelo usuário;</a:t>
            </a:r>
          </a:p>
          <a:p>
            <a:pPr lvl="1"/>
            <a:r>
              <a:rPr lang="pt-BR" dirty="0"/>
              <a:t>Poderoso e e diverso conjunto de APIs que podem ser reaproveitadas;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E2D212E-ED79-465C-BA07-316C3CD2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Introdução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2AD441C-C968-444D-AB02-699A6D7DBE5F}"/>
              </a:ext>
            </a:extLst>
          </p:cNvPr>
          <p:cNvSpPr/>
          <p:nvPr/>
        </p:nvSpPr>
        <p:spPr>
          <a:xfrm>
            <a:off x="5364088" y="5877272"/>
            <a:ext cx="3384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Fonte: </a:t>
            </a:r>
            <a:r>
              <a:rPr lang="pt-BR" dirty="0" err="1">
                <a:hlinkClick r:id="rId2"/>
              </a:rPr>
              <a:t>Developer</a:t>
            </a:r>
            <a:r>
              <a:rPr lang="pt-BR" dirty="0">
                <a:hlinkClick r:id="rId2"/>
              </a:rPr>
              <a:t> MDN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2621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A916FF1F-8555-4644-8A4F-3CAEFDB9F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API (</a:t>
            </a:r>
            <a:r>
              <a:rPr lang="pt-BR" dirty="0" err="1"/>
              <a:t>Application</a:t>
            </a:r>
            <a:r>
              <a:rPr lang="pt-BR" dirty="0"/>
              <a:t> Interface </a:t>
            </a:r>
            <a:r>
              <a:rPr lang="pt-BR" dirty="0" err="1"/>
              <a:t>Program</a:t>
            </a:r>
            <a:r>
              <a:rPr lang="pt-BR" dirty="0"/>
              <a:t>):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4FED3E2-2D05-48ED-B3C1-E0F2A7BC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Introdução</a:t>
            </a:r>
          </a:p>
        </p:txBody>
      </p:sp>
      <p:pic>
        <p:nvPicPr>
          <p:cNvPr id="1026" name="Picture 2" descr="APIs de terceiros e APIs do navegador">
            <a:extLst>
              <a:ext uri="{FF2B5EF4-FFF2-40B4-BE49-F238E27FC236}">
                <a16:creationId xmlns:a16="http://schemas.microsoft.com/office/drawing/2014/main" id="{2A1CE397-12ED-4A00-BD66-491AFE2DE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79929"/>
            <a:ext cx="7501562" cy="470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107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F18C449-6212-4ADC-BD89-7419E2726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APIs do Navegador:</a:t>
            </a:r>
          </a:p>
          <a:p>
            <a:pPr lvl="1"/>
            <a:r>
              <a:rPr lang="pt-BR" dirty="0"/>
              <a:t>A </a:t>
            </a:r>
            <a:r>
              <a:rPr lang="pt-BR" u="sng" dirty="0">
                <a:hlinkClick r:id="rId2"/>
              </a:rPr>
              <a:t>API DOM (</a:t>
            </a:r>
            <a:r>
              <a:rPr lang="pt-BR" u="sng" dirty="0" err="1">
                <a:hlinkClick r:id="rId2"/>
              </a:rPr>
              <a:t>Document</a:t>
            </a:r>
            <a:r>
              <a:rPr lang="pt-BR" u="sng" dirty="0">
                <a:hlinkClick r:id="rId2"/>
              </a:rPr>
              <a:t> </a:t>
            </a:r>
            <a:r>
              <a:rPr lang="pt-BR" u="sng" dirty="0" err="1">
                <a:hlinkClick r:id="rId2"/>
              </a:rPr>
              <a:t>Object</a:t>
            </a:r>
            <a:r>
              <a:rPr lang="pt-BR" u="sng" dirty="0">
                <a:hlinkClick r:id="rId2"/>
              </a:rPr>
              <a:t> </a:t>
            </a:r>
            <a:r>
              <a:rPr lang="pt-BR" u="sng" dirty="0" err="1">
                <a:hlinkClick r:id="rId2"/>
              </a:rPr>
              <a:t>Model</a:t>
            </a:r>
            <a:r>
              <a:rPr lang="pt-BR" u="sng" dirty="0">
                <a:hlinkClick r:id="rId2"/>
              </a:rPr>
              <a:t>)</a:t>
            </a:r>
            <a:r>
              <a:rPr lang="pt-BR" dirty="0"/>
              <a:t> permite a você manipular HTML e CSS, criando, removendo e mudando HTML;</a:t>
            </a:r>
          </a:p>
          <a:p>
            <a:pPr lvl="1"/>
            <a:r>
              <a:rPr lang="pt-BR" dirty="0"/>
              <a:t>A </a:t>
            </a:r>
            <a:r>
              <a:rPr lang="pt-BR" u="sng" dirty="0">
                <a:hlinkClick r:id="rId3"/>
              </a:rPr>
              <a:t>API de Geolocalização</a:t>
            </a:r>
            <a:r>
              <a:rPr lang="pt-BR" dirty="0"/>
              <a:t> recupera informações geográficas;</a:t>
            </a:r>
          </a:p>
          <a:p>
            <a:pPr lvl="1"/>
            <a:r>
              <a:rPr lang="pt-BR" dirty="0"/>
              <a:t>As APIs </a:t>
            </a:r>
            <a:r>
              <a:rPr lang="pt-BR" u="sng" dirty="0" err="1">
                <a:hlinkClick r:id="rId4"/>
              </a:rPr>
              <a:t>Canvas</a:t>
            </a:r>
            <a:r>
              <a:rPr lang="pt-BR" dirty="0"/>
              <a:t> e </a:t>
            </a:r>
            <a:r>
              <a:rPr lang="pt-BR" u="sng" dirty="0" err="1">
                <a:hlinkClick r:id="rId5"/>
              </a:rPr>
              <a:t>WebGL</a:t>
            </a:r>
            <a:r>
              <a:rPr lang="pt-BR" dirty="0"/>
              <a:t> permitem trabalhar com gráficos 2D e 3D animados;</a:t>
            </a:r>
          </a:p>
          <a:p>
            <a:pPr lvl="1"/>
            <a:r>
              <a:rPr lang="pt-BR" dirty="0">
                <a:hlinkClick r:id="rId6" tooltip="Esta página está disponível apenas em inglês no momento"/>
              </a:rPr>
              <a:t>APIs de áudio e vídeo</a:t>
            </a:r>
            <a:r>
              <a:rPr lang="pt-BR" dirty="0"/>
              <a:t> e </a:t>
            </a:r>
            <a:r>
              <a:rPr lang="pt-BR" u="sng" dirty="0" err="1">
                <a:hlinkClick r:id="rId7"/>
              </a:rPr>
              <a:t>WebRTC</a:t>
            </a:r>
            <a:r>
              <a:rPr lang="pt-BR" dirty="0"/>
              <a:t> permitem fazer coisas realmente interessantes com multimídia;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C86B3C-8307-4ADE-AB47-2A56C9A6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Introdução</a:t>
            </a:r>
          </a:p>
        </p:txBody>
      </p:sp>
    </p:spTree>
    <p:extLst>
      <p:ext uri="{BB962C8B-B14F-4D97-AF65-F5344CB8AC3E}">
        <p14:creationId xmlns:p14="http://schemas.microsoft.com/office/powerpoint/2010/main" val="3405329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F18C449-6212-4ADC-BD89-7419E2726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APIs de Terceiros:</a:t>
            </a:r>
          </a:p>
          <a:p>
            <a:pPr lvl="1"/>
            <a:r>
              <a:rPr lang="pt-BR" dirty="0"/>
              <a:t>A </a:t>
            </a:r>
            <a:r>
              <a:rPr lang="pt-BR" u="sng" dirty="0">
                <a:hlinkClick r:id="rId2"/>
              </a:rPr>
              <a:t>API do X</a:t>
            </a:r>
            <a:r>
              <a:rPr lang="pt-BR" dirty="0"/>
              <a:t> permite fazer coisas como exibir seus últimos tweets no seu website;</a:t>
            </a:r>
          </a:p>
          <a:p>
            <a:pPr lvl="1"/>
            <a:r>
              <a:rPr lang="pt-BR" dirty="0"/>
              <a:t>A </a:t>
            </a:r>
            <a:r>
              <a:rPr lang="pt-BR" u="sng" dirty="0">
                <a:hlinkClick r:id="rId3"/>
              </a:rPr>
              <a:t>API do Google Maps</a:t>
            </a:r>
            <a:r>
              <a:rPr lang="pt-BR" dirty="0"/>
              <a:t> permite inserir mapas customizados no site e outras diversas funcionalidades;</a:t>
            </a:r>
          </a:p>
          <a:p>
            <a:pPr lvl="1"/>
            <a:r>
              <a:rPr lang="pt-BR" dirty="0"/>
              <a:t>Facebook, e outros;</a:t>
            </a:r>
          </a:p>
          <a:p>
            <a:pPr lvl="1"/>
            <a:endParaRPr lang="pt-BR" dirty="0"/>
          </a:p>
          <a:p>
            <a:r>
              <a:rPr lang="pt-BR" dirty="0" err="1"/>
              <a:t>JavaScript</a:t>
            </a:r>
            <a:r>
              <a:rPr lang="pt-BR" dirty="0"/>
              <a:t> é muito usado para modificar HTML e CSS para atualizar a interface do usuário, por meio da API do </a:t>
            </a:r>
            <a:r>
              <a:rPr lang="pt-BR" b="1" dirty="0" err="1">
                <a:solidFill>
                  <a:srgbClr val="FF0000"/>
                </a:solidFill>
              </a:rPr>
              <a:t>Document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Object</a:t>
            </a:r>
            <a:r>
              <a:rPr lang="pt-BR" b="1" dirty="0">
                <a:solidFill>
                  <a:srgbClr val="FF0000"/>
                </a:solidFill>
              </a:rPr>
              <a:t> </a:t>
            </a:r>
            <a:r>
              <a:rPr lang="pt-BR" b="1" dirty="0" err="1">
                <a:solidFill>
                  <a:srgbClr val="FF0000"/>
                </a:solidFill>
              </a:rPr>
              <a:t>Model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C86B3C-8307-4ADE-AB47-2A56C9A6B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Introdução</a:t>
            </a:r>
          </a:p>
        </p:txBody>
      </p:sp>
    </p:spTree>
    <p:extLst>
      <p:ext uri="{BB962C8B-B14F-4D97-AF65-F5344CB8AC3E}">
        <p14:creationId xmlns:p14="http://schemas.microsoft.com/office/powerpoint/2010/main" val="217209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2220272-C289-48FF-8FF4-C49D42018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pt-BR" dirty="0"/>
              <a:t>No navegador, cada guia cria um ambiente de execução separado;</a:t>
            </a:r>
          </a:p>
          <a:p>
            <a:r>
              <a:rPr lang="pt-BR" dirty="0" err="1"/>
              <a:t>JavaScript</a:t>
            </a:r>
            <a:r>
              <a:rPr lang="pt-BR" dirty="0"/>
              <a:t> é uma linguagem “Case </a:t>
            </a:r>
            <a:r>
              <a:rPr lang="pt-BR" dirty="0" err="1"/>
              <a:t>Sensitive</a:t>
            </a:r>
            <a:r>
              <a:rPr lang="pt-BR" dirty="0"/>
              <a:t>”;</a:t>
            </a:r>
          </a:p>
          <a:p>
            <a:r>
              <a:rPr lang="pt-BR" dirty="0"/>
              <a:t>O </a:t>
            </a:r>
            <a:r>
              <a:rPr lang="pt-BR" dirty="0" err="1"/>
              <a:t>JavaScript</a:t>
            </a:r>
            <a:r>
              <a:rPr lang="pt-BR" dirty="0"/>
              <a:t> é uma linguagem </a:t>
            </a:r>
            <a:r>
              <a:rPr lang="pt-BR" u="sng" dirty="0"/>
              <a:t>DE SCRIPTING</a:t>
            </a:r>
            <a:r>
              <a:rPr lang="pt-BR" dirty="0"/>
              <a:t> interpretada (compilado </a:t>
            </a:r>
            <a:r>
              <a:rPr lang="pt-BR" b="1" i="1" dirty="0" err="1"/>
              <a:t>just</a:t>
            </a:r>
            <a:r>
              <a:rPr lang="pt-BR" b="1" i="1" dirty="0"/>
              <a:t>-</a:t>
            </a:r>
            <a:r>
              <a:rPr lang="pt-BR" b="1" i="1" dirty="0" err="1"/>
              <a:t>in-time</a:t>
            </a:r>
            <a:r>
              <a:rPr lang="pt-BR" dirty="0"/>
              <a:t>);</a:t>
            </a:r>
          </a:p>
          <a:p>
            <a:r>
              <a:rPr lang="pt-BR" dirty="0"/>
              <a:t>Não confundir com o JAVA: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CD91C1F-1248-45BC-A949-88B0CBD4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Introdução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256402-4CB5-4ACE-9636-3BC88AB33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428999"/>
            <a:ext cx="7236296" cy="343724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2161D18-F5F6-451E-9EEC-A7B8D77DD5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26" t="6840" r="4326" b="6840"/>
          <a:stretch/>
        </p:blipFill>
        <p:spPr>
          <a:xfrm>
            <a:off x="3095328" y="2309018"/>
            <a:ext cx="6048672" cy="39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35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4F1AACF-201A-4B54-828A-E6265405B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Ao final de cada linha se utiliza o ponto e vírgula – “;”</a:t>
            </a:r>
          </a:p>
          <a:p>
            <a:r>
              <a:rPr lang="pt-BR" sz="2800" dirty="0"/>
              <a:t>Comentários podem ser adicionados;</a:t>
            </a:r>
          </a:p>
          <a:p>
            <a:pPr lvl="1"/>
            <a:r>
              <a:rPr lang="pt-BR" sz="2400" b="1" dirty="0">
                <a:solidFill>
                  <a:srgbClr val="00B050"/>
                </a:solidFill>
              </a:rPr>
              <a:t>//As duas barras podem ser usadas para uma linha de comentário sem quebra</a:t>
            </a:r>
          </a:p>
          <a:p>
            <a:pPr lvl="1"/>
            <a:r>
              <a:rPr lang="pt-BR" sz="2400" b="1" dirty="0">
                <a:solidFill>
                  <a:srgbClr val="00B050"/>
                </a:solidFill>
              </a:rPr>
              <a:t>/* A barra mais o * pode ser utilizado para grandes trechos de comentário, incluindo quebras de linhas */</a:t>
            </a:r>
            <a:endParaRPr lang="pt-BR" sz="2000" b="1" dirty="0">
              <a:solidFill>
                <a:srgbClr val="00B050"/>
              </a:solidFill>
            </a:endParaRP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EA33C3A-C900-4F10-AAE6-BDEE2056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Introdução</a:t>
            </a:r>
          </a:p>
        </p:txBody>
      </p:sp>
    </p:spTree>
    <p:extLst>
      <p:ext uri="{BB962C8B-B14F-4D97-AF65-F5344CB8AC3E}">
        <p14:creationId xmlns:p14="http://schemas.microsoft.com/office/powerpoint/2010/main" val="3480025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0BD318A-EC89-4B29-BD46-E744E8EA4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Cuidado com a ordem de carga de elementos;</a:t>
            </a:r>
          </a:p>
          <a:p>
            <a:r>
              <a:rPr lang="pt-BR" dirty="0"/>
              <a:t>Assim que o código é encontrado pelo navegador ele é executado. Se algum elemento HTML ou CSS necessário ainda não tiver sido carregado, haverá problemas de </a:t>
            </a:r>
            <a:r>
              <a:rPr lang="pt-BR" b="1" dirty="0" err="1"/>
              <a:t>run</a:t>
            </a:r>
            <a:r>
              <a:rPr lang="pt-BR" b="1" dirty="0"/>
              <a:t>-time</a:t>
            </a:r>
            <a:r>
              <a:rPr lang="pt-BR" dirty="0"/>
              <a:t>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D6BAB4D-208F-4BAB-8166-D60CB96B8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Introdução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8C3C8A3-B01A-44B0-BF6A-70F112198850}"/>
              </a:ext>
            </a:extLst>
          </p:cNvPr>
          <p:cNvSpPr/>
          <p:nvPr/>
        </p:nvSpPr>
        <p:spPr>
          <a:xfrm>
            <a:off x="1258272" y="4723445"/>
            <a:ext cx="66274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600" dirty="0" err="1">
                <a:solidFill>
                  <a:srgbClr val="FF0000"/>
                </a:solidFill>
                <a:latin typeface="Menlo"/>
              </a:rPr>
              <a:t>TypeError</a:t>
            </a:r>
            <a:r>
              <a:rPr lang="pt-BR" sz="3600" dirty="0">
                <a:solidFill>
                  <a:srgbClr val="FF0000"/>
                </a:solidFill>
                <a:latin typeface="Menlo"/>
              </a:rPr>
              <a:t>: </a:t>
            </a:r>
            <a:r>
              <a:rPr lang="pt-BR" sz="3600" dirty="0" err="1">
                <a:solidFill>
                  <a:srgbClr val="FF0000"/>
                </a:solidFill>
                <a:latin typeface="Menlo"/>
              </a:rPr>
              <a:t>something</a:t>
            </a:r>
            <a:r>
              <a:rPr lang="pt-BR" sz="3600" dirty="0">
                <a:solidFill>
                  <a:srgbClr val="FF0000"/>
                </a:solidFill>
                <a:latin typeface="Menlo"/>
              </a:rPr>
              <a:t> </a:t>
            </a:r>
            <a:r>
              <a:rPr lang="pt-BR" sz="3600" b="1" u="sng" dirty="0" err="1">
                <a:solidFill>
                  <a:srgbClr val="FF0000"/>
                </a:solidFill>
                <a:latin typeface="Menlo"/>
              </a:rPr>
              <a:t>is</a:t>
            </a:r>
            <a:r>
              <a:rPr lang="pt-BR" sz="3600" b="1" u="sng" dirty="0">
                <a:solidFill>
                  <a:srgbClr val="FF0000"/>
                </a:solidFill>
                <a:latin typeface="Menlo"/>
              </a:rPr>
              <a:t> </a:t>
            </a:r>
            <a:r>
              <a:rPr lang="pt-BR" sz="3600" b="1" u="sng" dirty="0" err="1">
                <a:solidFill>
                  <a:srgbClr val="FF0000"/>
                </a:solidFill>
                <a:latin typeface="Menlo"/>
              </a:rPr>
              <a:t>undefined</a:t>
            </a:r>
            <a:endParaRPr lang="pt-BR" sz="36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83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EB30C3F-018E-4138-8384-1DCD801C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Formas de se adicionar </a:t>
            </a:r>
            <a:r>
              <a:rPr lang="pt-BR" dirty="0" err="1"/>
              <a:t>JavaScript</a:t>
            </a:r>
            <a:r>
              <a:rPr lang="pt-BR" dirty="0"/>
              <a:t> no código:</a:t>
            </a:r>
          </a:p>
          <a:p>
            <a:r>
              <a:rPr lang="pt-BR" dirty="0" err="1"/>
              <a:t>JavaScript</a:t>
            </a:r>
            <a:r>
              <a:rPr lang="pt-BR" dirty="0"/>
              <a:t> Interno:</a:t>
            </a:r>
          </a:p>
          <a:p>
            <a:pPr lvl="1"/>
            <a:r>
              <a:rPr lang="pt-BR" dirty="0"/>
              <a:t>O código é carregado juntamente no arquivo HTML interno;</a:t>
            </a:r>
          </a:p>
          <a:p>
            <a:pPr lvl="1"/>
            <a:r>
              <a:rPr lang="pt-BR" dirty="0"/>
              <a:t>Utiliza-se o elemento HTML SCRIPT;</a:t>
            </a:r>
          </a:p>
          <a:p>
            <a:pPr lvl="1"/>
            <a:r>
              <a:rPr lang="pt-BR" dirty="0"/>
              <a:t>A declaração do elemento pode ser feita em qualquer parte da página HTML, no header ou </a:t>
            </a:r>
            <a:r>
              <a:rPr lang="pt-BR" dirty="0" err="1"/>
              <a:t>body</a:t>
            </a:r>
            <a:r>
              <a:rPr lang="pt-BR" dirty="0"/>
              <a:t>;</a:t>
            </a:r>
          </a:p>
          <a:p>
            <a:r>
              <a:rPr lang="pt-BR" dirty="0" err="1"/>
              <a:t>JavaScript</a:t>
            </a:r>
            <a:r>
              <a:rPr lang="pt-BR" dirty="0"/>
              <a:t> Externo:</a:t>
            </a:r>
          </a:p>
          <a:p>
            <a:pPr lvl="1"/>
            <a:r>
              <a:rPr lang="pt-BR" dirty="0"/>
              <a:t>O código é carregado por meio de outro arquivo;</a:t>
            </a:r>
          </a:p>
          <a:p>
            <a:pPr lvl="1"/>
            <a:r>
              <a:rPr lang="pt-BR" dirty="0"/>
              <a:t>Utiliza-se a mesma TAG SCRIPT, porém adicionando o atributo </a:t>
            </a:r>
            <a:r>
              <a:rPr lang="pt-BR" b="1" dirty="0"/>
              <a:t>SRC</a:t>
            </a:r>
          </a:p>
          <a:p>
            <a:pPr lvl="1"/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FF0BA37-B39F-417E-A2CE-CC79B5CA3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 Básico</a:t>
            </a:r>
          </a:p>
        </p:txBody>
      </p:sp>
    </p:spTree>
    <p:extLst>
      <p:ext uri="{BB962C8B-B14F-4D97-AF65-F5344CB8AC3E}">
        <p14:creationId xmlns:p14="http://schemas.microsoft.com/office/powerpoint/2010/main" val="2183867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4F1AACF-201A-4B54-828A-E6265405B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Manipulador 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In-Line</a:t>
            </a:r>
            <a:r>
              <a:rPr lang="pt-BR" dirty="0"/>
              <a:t>:</a:t>
            </a:r>
          </a:p>
          <a:p>
            <a:r>
              <a:rPr lang="pt-BR" dirty="0"/>
              <a:t>O código </a:t>
            </a:r>
            <a:r>
              <a:rPr lang="pt-BR" dirty="0" err="1"/>
              <a:t>JavaScript</a:t>
            </a:r>
            <a:r>
              <a:rPr lang="pt-BR" dirty="0"/>
              <a:t> é escrito dentro do código HTML, normalmente por meio de um atributo: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EA33C3A-C900-4F10-AAE6-BDEE2056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 Básico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70D370-50A8-4E59-A18F-683FFF0F5FC6}"/>
              </a:ext>
            </a:extLst>
          </p:cNvPr>
          <p:cNvSpPr/>
          <p:nvPr/>
        </p:nvSpPr>
        <p:spPr>
          <a:xfrm>
            <a:off x="821904" y="3212976"/>
            <a:ext cx="785921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pt-BR" sz="2800" dirty="0" err="1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  <a:r>
              <a:rPr lang="pt-BR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800" dirty="0" err="1">
                <a:solidFill>
                  <a:srgbClr val="CE9178"/>
                </a:solidFill>
                <a:latin typeface="Consolas" panose="020B0609020204030204" pitchFamily="49" charset="0"/>
              </a:rPr>
              <a:t>criarParagrafo</a:t>
            </a:r>
            <a:r>
              <a:rPr lang="pt-BR" sz="2800" dirty="0">
                <a:solidFill>
                  <a:srgbClr val="CE9178"/>
                </a:solidFill>
                <a:latin typeface="Consolas" panose="020B0609020204030204" pitchFamily="49" charset="0"/>
              </a:rPr>
              <a:t>()"</a:t>
            </a:r>
            <a:r>
              <a:rPr lang="pt-BR" sz="2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pt-BR" sz="2800" dirty="0">
                <a:solidFill>
                  <a:srgbClr val="D4D4D4"/>
                </a:solidFill>
                <a:latin typeface="Consolas" panose="020B0609020204030204" pitchFamily="49" charset="0"/>
              </a:rPr>
              <a:t>Clique Aqui - Método 3</a:t>
            </a:r>
          </a:p>
          <a:p>
            <a:r>
              <a:rPr lang="pt-BR" sz="2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pt-BR" sz="2800" dirty="0" err="1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pt-BR" sz="2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pt-BR" sz="2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0BDAFBA-4966-40F4-9685-290305F91A2A}"/>
              </a:ext>
            </a:extLst>
          </p:cNvPr>
          <p:cNvSpPr/>
          <p:nvPr/>
        </p:nvSpPr>
        <p:spPr>
          <a:xfrm>
            <a:off x="817441" y="5333407"/>
            <a:ext cx="69949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>
                <a:solidFill>
                  <a:srgbClr val="FF0000"/>
                </a:solidFill>
              </a:rPr>
              <a:t>Essa é uma má prática, adicionar código </a:t>
            </a:r>
            <a:r>
              <a:rPr lang="pt-BR" sz="2000" dirty="0" err="1">
                <a:solidFill>
                  <a:srgbClr val="FF0000"/>
                </a:solidFill>
              </a:rPr>
              <a:t>JavaScript</a:t>
            </a:r>
            <a:r>
              <a:rPr lang="pt-BR" sz="2000" dirty="0">
                <a:solidFill>
                  <a:srgbClr val="FF0000"/>
                </a:solidFill>
              </a:rPr>
              <a:t> </a:t>
            </a:r>
            <a:r>
              <a:rPr lang="pt-BR" sz="2000" dirty="0" err="1">
                <a:solidFill>
                  <a:srgbClr val="FF0000"/>
                </a:solidFill>
              </a:rPr>
              <a:t>in-line</a:t>
            </a:r>
            <a:r>
              <a:rPr lang="pt-BR" sz="2000" dirty="0">
                <a:solidFill>
                  <a:srgbClr val="FF0000"/>
                </a:solidFill>
              </a:rPr>
              <a:t> no HTML!!!</a:t>
            </a:r>
          </a:p>
        </p:txBody>
      </p:sp>
    </p:spTree>
    <p:extLst>
      <p:ext uri="{BB962C8B-B14F-4D97-AF65-F5344CB8AC3E}">
        <p14:creationId xmlns:p14="http://schemas.microsoft.com/office/powerpoint/2010/main" val="159349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4F1AACF-201A-4B54-828A-E6265405B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Para evitar erros de interpretação em </a:t>
            </a:r>
            <a:r>
              <a:rPr lang="pt-BR" sz="2800" dirty="0" err="1"/>
              <a:t>run</a:t>
            </a:r>
            <a:r>
              <a:rPr lang="pt-BR" sz="2800" dirty="0"/>
              <a:t>-time, deve-se controlar o modo como os arquivos JS são carregados;</a:t>
            </a:r>
          </a:p>
          <a:p>
            <a:r>
              <a:rPr lang="pt-BR" sz="2800" dirty="0"/>
              <a:t>Os Atributos DEFER e ASYNC:</a:t>
            </a:r>
          </a:p>
          <a:p>
            <a:pPr lvl="1"/>
            <a:r>
              <a:rPr lang="pt-BR" sz="2400" dirty="0"/>
              <a:t>DEFER: roda exatamente na ordem em que aparecem na página e serão executados assim que o </a:t>
            </a:r>
            <a:r>
              <a:rPr lang="pt-BR" sz="2400" b="1" u="sng" dirty="0"/>
              <a:t>script e o conteúdo for baixado</a:t>
            </a:r>
            <a:r>
              <a:rPr lang="pt-BR" sz="2400" dirty="0"/>
              <a:t>.</a:t>
            </a:r>
          </a:p>
          <a:p>
            <a:pPr lvl="1"/>
            <a:r>
              <a:rPr lang="pt-BR" sz="2400" dirty="0"/>
              <a:t>ASYNC: baixa o script </a:t>
            </a:r>
            <a:r>
              <a:rPr lang="pt-BR" sz="2400" b="1" u="sng" dirty="0"/>
              <a:t>sem bloquear a renderização da página</a:t>
            </a:r>
            <a:r>
              <a:rPr lang="pt-BR" sz="2400" dirty="0"/>
              <a:t> e irão executar </a:t>
            </a:r>
            <a:r>
              <a:rPr lang="pt-BR" sz="2400" b="1" dirty="0">
                <a:solidFill>
                  <a:srgbClr val="FF0000"/>
                </a:solidFill>
              </a:rPr>
              <a:t>imediatamente após o script terminar de ser disponibilizado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EA33C3A-C900-4F10-AAE6-BDEE2056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O Básico</a:t>
            </a:r>
          </a:p>
        </p:txBody>
      </p:sp>
    </p:spTree>
    <p:extLst>
      <p:ext uri="{BB962C8B-B14F-4D97-AF65-F5344CB8AC3E}">
        <p14:creationId xmlns:p14="http://schemas.microsoft.com/office/powerpoint/2010/main" val="2723633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1CBE230-76EC-45A1-8ED6-C93D67DB2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517232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Declarações de variáveis: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Os nomes (identificadores) devem começar com uma letra, </a:t>
            </a:r>
            <a:r>
              <a:rPr lang="pt-BR" dirty="0" err="1"/>
              <a:t>underline</a:t>
            </a:r>
            <a:r>
              <a:rPr lang="pt-BR" dirty="0"/>
              <a:t> (_), ou cifrão ($);</a:t>
            </a:r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pPr lvl="1"/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Var X = 42 /* Variável global*/</a:t>
            </a:r>
          </a:p>
          <a:p>
            <a:pPr lvl="1"/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X = 42 /* Variável global */</a:t>
            </a:r>
          </a:p>
          <a:p>
            <a:pPr lvl="1"/>
            <a:r>
              <a:rPr lang="pt-BR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pt-BR" dirty="0">
                <a:latin typeface="Courier New" panose="02070309020205020404" pitchFamily="49" charset="0"/>
                <a:cs typeface="Courier New" panose="02070309020205020404" pitchFamily="49" charset="0"/>
              </a:rPr>
              <a:t> x = 42 /* Variável de escopo local */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8F710ED-C698-4837-8A1E-6E1EE834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6F8317EA-4636-4F00-87DA-8F0098B6E8A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5556" y="1799704"/>
          <a:ext cx="7992888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Declara uma variável, opcionalmente, inicializando-a com um valor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Let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Declara uma variável </a:t>
                      </a:r>
                      <a:r>
                        <a:rPr kumimoji="0" lang="pt-BR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 de escopo do bloco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opcionalmente, inicializando-a com um valor.</a:t>
                      </a:r>
                    </a:p>
                    <a:p>
                      <a:r>
                        <a:rPr kumimoji="0" lang="pt-BR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Introduzida pelo ECMA6</a:t>
                      </a:r>
                      <a:endParaRPr lang="pt-BR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Const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Declara uma constante </a:t>
                      </a:r>
                      <a:r>
                        <a:rPr kumimoji="0" lang="pt-BR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escopo de bloco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apenas de leitura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146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800700DC-E6E7-4945-872D-BD644DE3E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acesso a variáveis não declaradas resultará em erro – </a:t>
            </a:r>
            <a:r>
              <a:rPr lang="pt-BR" dirty="0" err="1">
                <a:hlinkClick r:id="rId2"/>
              </a:rPr>
              <a:t>ReferenceError</a:t>
            </a:r>
            <a:r>
              <a:rPr lang="pt-BR" dirty="0"/>
              <a:t>;</a:t>
            </a:r>
          </a:p>
          <a:p>
            <a:r>
              <a:rPr lang="pt-BR" dirty="0"/>
              <a:t>Uma variável declarada usando a declaração </a:t>
            </a:r>
            <a:r>
              <a:rPr lang="pt-BR" b="1" dirty="0"/>
              <a:t>var ou </a:t>
            </a:r>
            <a:r>
              <a:rPr lang="pt-BR" b="1" dirty="0" err="1"/>
              <a:t>let</a:t>
            </a:r>
            <a:r>
              <a:rPr lang="pt-BR" b="1" dirty="0"/>
              <a:t> </a:t>
            </a:r>
            <a:r>
              <a:rPr lang="pt-BR" dirty="0"/>
              <a:t>sem especificar o valor inicial tem o valor </a:t>
            </a:r>
            <a:r>
              <a:rPr lang="pt-BR" dirty="0" err="1">
                <a:hlinkClick r:id="rId3"/>
              </a:rPr>
              <a:t>undefined</a:t>
            </a:r>
            <a:r>
              <a:rPr lang="pt-BR" dirty="0"/>
              <a:t>;</a:t>
            </a:r>
          </a:p>
          <a:p>
            <a:r>
              <a:rPr lang="pt-BR" dirty="0"/>
              <a:t>Variáveis globais são propriedades do objeto global – </a:t>
            </a:r>
            <a:r>
              <a:rPr lang="pt-BR" i="1" dirty="0" err="1"/>
              <a:t>window</a:t>
            </a:r>
            <a:r>
              <a:rPr lang="pt-BR" dirty="0"/>
              <a:t> - assim é possível acessar variáveis globais utilizando a sintaxe </a:t>
            </a:r>
            <a:r>
              <a:rPr lang="pt-BR" b="1" dirty="0" err="1">
                <a:solidFill>
                  <a:srgbClr val="FF0000"/>
                </a:solidFill>
              </a:rPr>
              <a:t>window.variavel</a:t>
            </a:r>
            <a:r>
              <a:rPr lang="pt-BR" dirty="0"/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70F870D-8538-4C2B-B1EB-6FE8F8F0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</p:spTree>
    <p:extLst>
      <p:ext uri="{BB962C8B-B14F-4D97-AF65-F5344CB8AC3E}">
        <p14:creationId xmlns:p14="http://schemas.microsoft.com/office/powerpoint/2010/main" val="377431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A58F947A-BE2B-456A-995A-DF6168752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mais recente padrão </a:t>
            </a:r>
            <a:r>
              <a:rPr lang="pt-BR" dirty="0" err="1"/>
              <a:t>ECMAScript</a:t>
            </a:r>
            <a:r>
              <a:rPr lang="pt-BR" dirty="0"/>
              <a:t> define sete tipos de dados: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7E7AE79-84C8-4471-98E6-AD2935E18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2BF6F703-3FB5-4076-B6DC-B0A1340D9FA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5556" y="2461609"/>
          <a:ext cx="7992888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Boolean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 False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null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0" dirty="0"/>
                        <a:t>Uma palavra-chave que indica valor nulo. </a:t>
                      </a:r>
                    </a:p>
                    <a:p>
                      <a:r>
                        <a:rPr lang="pt-BR" i="0" dirty="0"/>
                        <a:t>OBS: Devido ao </a:t>
                      </a:r>
                      <a:r>
                        <a:rPr lang="pt-BR" i="0" dirty="0" err="1"/>
                        <a:t>JavaScript</a:t>
                      </a:r>
                      <a:r>
                        <a:rPr lang="pt-BR" i="0" dirty="0"/>
                        <a:t> ser case-</a:t>
                      </a:r>
                      <a:r>
                        <a:rPr lang="pt-BR" i="0" dirty="0" err="1"/>
                        <a:t>sensitive</a:t>
                      </a:r>
                      <a:r>
                        <a:rPr lang="pt-BR" i="0" dirty="0"/>
                        <a:t>, </a:t>
                      </a:r>
                      <a:r>
                        <a:rPr lang="pt-BR" i="0" dirty="0" err="1"/>
                        <a:t>null</a:t>
                      </a:r>
                      <a:r>
                        <a:rPr lang="pt-BR" i="0" dirty="0"/>
                        <a:t> não é o mesmo que </a:t>
                      </a:r>
                      <a:r>
                        <a:rPr lang="pt-BR" i="0" dirty="0" err="1"/>
                        <a:t>Null</a:t>
                      </a:r>
                      <a:r>
                        <a:rPr lang="pt-BR" i="0" dirty="0"/>
                        <a:t>, NULL, ou ainda outra variação.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undefined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Uma propriedade superior cujo valor é indefinido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Number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 numérico - 42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ou </a:t>
                      </a:r>
                      <a:r>
                        <a:rPr lang="pt-BR" dirty="0"/>
                        <a:t>3.14159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11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String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Valor textual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1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Symbol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(novo em </a:t>
                      </a:r>
                      <a:r>
                        <a:rPr kumimoji="0" lang="pt-BR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ECMAScript</a:t>
                      </a:r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6). Um tipo de dado cuja as instâncias são únicas e imutáveis.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57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err="1"/>
                        <a:t>Object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Tipo </a:t>
                      </a:r>
                      <a:r>
                        <a:rPr lang="pt-BR" dirty="0">
                          <a:hlinkClick r:id="rId2"/>
                        </a:rPr>
                        <a:t>objeto</a:t>
                      </a:r>
                      <a:r>
                        <a:rPr lang="pt-BR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8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655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7FE2A29-8EE1-4897-946B-3B2CDDE9E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é uma linguagem dinamicamente </a:t>
            </a:r>
            <a:r>
              <a:rPr lang="pt-BR" dirty="0" err="1"/>
              <a:t>tipada</a:t>
            </a:r>
            <a:r>
              <a:rPr lang="pt-BR" dirty="0"/>
              <a:t>;</a:t>
            </a:r>
          </a:p>
          <a:p>
            <a:r>
              <a:rPr lang="pt-BR" dirty="0"/>
              <a:t>Isso significa que você não precisa especificar o tipo de dado de uma variável quando declará-la: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Numéricos &amp; </a:t>
            </a:r>
            <a:r>
              <a:rPr lang="pt-BR" dirty="0" err="1"/>
              <a:t>Strings</a:t>
            </a:r>
            <a:r>
              <a:rPr lang="pt-BR" dirty="0"/>
              <a:t>: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4F63DFD-069C-4A05-9F88-FDBCE105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442F754-2FCB-4892-A192-8C129607D568}"/>
              </a:ext>
            </a:extLst>
          </p:cNvPr>
          <p:cNvSpPr/>
          <p:nvPr/>
        </p:nvSpPr>
        <p:spPr>
          <a:xfrm>
            <a:off x="827584" y="364502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resposta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resposta =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"Quarenta e dois"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5F54379-2AE5-4788-96F4-4330309968B1}"/>
              </a:ext>
            </a:extLst>
          </p:cNvPr>
          <p:cNvSpPr/>
          <p:nvPr/>
        </p:nvSpPr>
        <p:spPr>
          <a:xfrm>
            <a:off x="827584" y="5085184"/>
            <a:ext cx="66247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x =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"A resposta é 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"A resposta é 42"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y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 é a resposta"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 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// "42 é a resposta"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30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83DA5F1-86EF-4F21-B265-A64FCAE96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Conversão de tipos:</a:t>
            </a:r>
          </a:p>
          <a:p>
            <a:pPr lvl="1"/>
            <a:r>
              <a:rPr lang="pt-BR" b="1" dirty="0" err="1"/>
              <a:t>parseInt</a:t>
            </a:r>
            <a:r>
              <a:rPr lang="pt-BR" b="1" dirty="0"/>
              <a:t>()</a:t>
            </a:r>
            <a:r>
              <a:rPr lang="pt-BR" dirty="0"/>
              <a:t> – retorna apenas números inteiros, então seu uso é restrito para a casa dos decimais;</a:t>
            </a:r>
          </a:p>
          <a:p>
            <a:pPr lvl="1"/>
            <a:endParaRPr lang="pt-BR" dirty="0"/>
          </a:p>
          <a:p>
            <a:pPr lvl="1"/>
            <a:r>
              <a:rPr lang="pt-BR" b="1" dirty="0" err="1"/>
              <a:t>parseFloat</a:t>
            </a:r>
            <a:r>
              <a:rPr lang="pt-BR" b="1" dirty="0"/>
              <a:t>()</a:t>
            </a:r>
            <a:r>
              <a:rPr lang="pt-BR" dirty="0"/>
              <a:t> - A função </a:t>
            </a:r>
            <a:r>
              <a:rPr lang="pt-BR" dirty="0" err="1"/>
              <a:t>parseFloat</a:t>
            </a:r>
            <a:r>
              <a:rPr lang="pt-BR" dirty="0"/>
              <a:t> analisa um argumento (convertendo-o para uma </a:t>
            </a:r>
            <a:r>
              <a:rPr lang="pt-BR" dirty="0" err="1"/>
              <a:t>string</a:t>
            </a:r>
            <a:r>
              <a:rPr lang="pt-BR" dirty="0"/>
              <a:t> primeiro caso necessário) e retorna um número de ponto flutuante (número decimal)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E54C329-BD55-4957-BB2A-8F4282DE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</p:spTree>
    <p:extLst>
      <p:ext uri="{BB962C8B-B14F-4D97-AF65-F5344CB8AC3E}">
        <p14:creationId xmlns:p14="http://schemas.microsoft.com/office/powerpoint/2010/main" val="244686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542F61E7-9DDD-4DED-B43A-9270E6948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Valores literais</a:t>
            </a:r>
            <a:r>
              <a:rPr lang="pt-BR" dirty="0"/>
              <a:t> podem ser atribuídos a variáveis de diversos tipos:</a:t>
            </a:r>
          </a:p>
          <a:p>
            <a:pPr lvl="1"/>
            <a:r>
              <a:rPr lang="pt-BR" dirty="0" err="1"/>
              <a:t>Array</a:t>
            </a:r>
            <a:r>
              <a:rPr lang="pt-BR" dirty="0"/>
              <a:t> - </a:t>
            </a:r>
            <a:r>
              <a:rPr lang="en-US" dirty="0"/>
              <a:t>var </a:t>
            </a:r>
            <a:r>
              <a:rPr lang="en-US" dirty="0" err="1"/>
              <a:t>carro</a:t>
            </a:r>
            <a:r>
              <a:rPr lang="en-US" dirty="0"/>
              <a:t> = [“Spin", “</a:t>
            </a:r>
            <a:r>
              <a:rPr lang="en-US" dirty="0" err="1"/>
              <a:t>Onix</a:t>
            </a:r>
            <a:r>
              <a:rPr lang="en-US" dirty="0"/>
              <a:t>", “Tracker"];</a:t>
            </a:r>
          </a:p>
          <a:p>
            <a:pPr lvl="1"/>
            <a:r>
              <a:rPr lang="en-US" dirty="0"/>
              <a:t>Boolean – true / false;</a:t>
            </a:r>
          </a:p>
          <a:p>
            <a:pPr lvl="1"/>
            <a:r>
              <a:rPr lang="en-US" dirty="0" err="1"/>
              <a:t>Inteiro</a:t>
            </a:r>
            <a:r>
              <a:rPr lang="en-US" dirty="0"/>
              <a:t> - </a:t>
            </a:r>
            <a:r>
              <a:rPr lang="pt-BR" dirty="0" err="1"/>
              <a:t>Integer</a:t>
            </a:r>
            <a:r>
              <a:rPr lang="pt-BR" dirty="0"/>
              <a:t> expressos em </a:t>
            </a:r>
            <a:r>
              <a:rPr lang="pt-BR" dirty="0" err="1"/>
              <a:t>decimal,hexa</a:t>
            </a:r>
            <a:r>
              <a:rPr lang="pt-BR" dirty="0"/>
              <a:t>, octal e binário;</a:t>
            </a:r>
          </a:p>
          <a:p>
            <a:pPr lvl="1"/>
            <a:r>
              <a:rPr lang="pt-BR" dirty="0"/>
              <a:t>Ponto Flutuante – </a:t>
            </a:r>
            <a:r>
              <a:rPr lang="pt-BR" dirty="0" err="1"/>
              <a:t>Float</a:t>
            </a:r>
            <a:r>
              <a:rPr lang="pt-BR" dirty="0"/>
              <a:t> - 3.1415926;</a:t>
            </a:r>
          </a:p>
          <a:p>
            <a:pPr lvl="1"/>
            <a:r>
              <a:rPr lang="pt-BR" dirty="0"/>
              <a:t>Objeto - Uma lista de zero ou mais pares de nomes de propriedades e valores associados de um objeto;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5228543-7154-43DE-BBEC-9B0B788A4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</p:spTree>
    <p:extLst>
      <p:ext uri="{BB962C8B-B14F-4D97-AF65-F5344CB8AC3E}">
        <p14:creationId xmlns:p14="http://schemas.microsoft.com/office/powerpoint/2010/main" val="333366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529233A-4E1D-4B4F-973A-A1D8258ED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Caracteres especiais em </a:t>
            </a:r>
            <a:r>
              <a:rPr lang="pt-BR" dirty="0" err="1"/>
              <a:t>String</a:t>
            </a:r>
            <a:r>
              <a:rPr lang="pt-BR" dirty="0"/>
              <a:t> (principais)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A7AB4AC-F1CB-4A31-9E77-F45988F1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BA4116CE-74DB-4021-BE3B-E9BDCD89799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5556" y="2194708"/>
          <a:ext cx="799288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46">
                  <a:extLst>
                    <a:ext uri="{9D8B030D-6E8A-4147-A177-3AD203B41FA5}">
                      <a16:colId xmlns:a16="http://schemas.microsoft.com/office/drawing/2014/main" val="2343999003"/>
                    </a:ext>
                  </a:extLst>
                </a:gridCol>
                <a:gridCol w="6175242">
                  <a:extLst>
                    <a:ext uri="{9D8B030D-6E8A-4147-A177-3AD203B41FA5}">
                      <a16:colId xmlns:a16="http://schemas.microsoft.com/office/drawing/2014/main" val="2509523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Byte nulo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27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0" dirty="0" err="1"/>
                        <a:t>Backspace</a:t>
                      </a:r>
                      <a:endParaRPr lang="pt-BR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955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Alimentador de formulário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09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Nova linha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115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16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Tabulação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576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Tabulação Vertical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08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Apóstrofo ou Aspa simples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26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Aspa dupla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491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\\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Caractere de Barra invertida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508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565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F939A9F-4BCF-4893-9330-448FEB9DA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Declarações condicionais:</a:t>
            </a:r>
          </a:p>
          <a:p>
            <a:r>
              <a:rPr lang="pt-BR" dirty="0" err="1"/>
              <a:t>If</a:t>
            </a:r>
            <a:r>
              <a:rPr lang="pt-BR" dirty="0"/>
              <a:t> (condição) {..} </a:t>
            </a:r>
            <a:r>
              <a:rPr lang="pt-BR" dirty="0" err="1"/>
              <a:t>else</a:t>
            </a:r>
            <a:r>
              <a:rPr lang="pt-BR" dirty="0"/>
              <a:t> {..}</a:t>
            </a:r>
          </a:p>
          <a:p>
            <a:r>
              <a:rPr lang="pt-BR" dirty="0" err="1"/>
              <a:t>If</a:t>
            </a:r>
            <a:r>
              <a:rPr lang="pt-BR" dirty="0"/>
              <a:t> (condição) {..}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(condição) {..} </a:t>
            </a:r>
            <a:r>
              <a:rPr lang="pt-BR" dirty="0" err="1"/>
              <a:t>else</a:t>
            </a:r>
            <a:r>
              <a:rPr lang="pt-BR" dirty="0"/>
              <a:t> {..}</a:t>
            </a:r>
          </a:p>
          <a:p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OBS: O operador de igualdade na condição é encarado como atribuição;</a:t>
            </a:r>
          </a:p>
          <a:p>
            <a:endParaRPr lang="pt-BR" dirty="0"/>
          </a:p>
          <a:p>
            <a:r>
              <a:rPr lang="pt-BR" dirty="0"/>
              <a:t>Os seguintes valores são avaliados como falsos:</a:t>
            </a:r>
          </a:p>
          <a:p>
            <a:pPr marL="393192" lvl="1" indent="0">
              <a:buNone/>
            </a:pPr>
            <a:r>
              <a:rPr lang="pt-BR" dirty="0"/>
              <a:t>false, </a:t>
            </a:r>
            <a:r>
              <a:rPr lang="pt-BR" dirty="0" err="1"/>
              <a:t>undefined</a:t>
            </a:r>
            <a:r>
              <a:rPr lang="pt-BR" dirty="0"/>
              <a:t>, </a:t>
            </a:r>
            <a:r>
              <a:rPr lang="pt-BR" dirty="0" err="1"/>
              <a:t>null</a:t>
            </a:r>
            <a:r>
              <a:rPr lang="pt-BR" dirty="0"/>
              <a:t>, 0, </a:t>
            </a:r>
            <a:r>
              <a:rPr lang="pt-BR" dirty="0" err="1"/>
              <a:t>NaN</a:t>
            </a:r>
            <a:r>
              <a:rPr lang="pt-BR" dirty="0"/>
              <a:t>, </a:t>
            </a:r>
            <a:r>
              <a:rPr lang="pt-BR" dirty="0" err="1"/>
              <a:t>string</a:t>
            </a:r>
            <a:r>
              <a:rPr lang="pt-BR" dirty="0"/>
              <a:t> vazia ("")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1FE974E-652F-44D4-B25B-4E7ED3C1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</p:spTree>
    <p:extLst>
      <p:ext uri="{BB962C8B-B14F-4D97-AF65-F5344CB8AC3E}">
        <p14:creationId xmlns:p14="http://schemas.microsoft.com/office/powerpoint/2010/main" val="337663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F939A9F-4BCF-4893-9330-448FEB9DA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8836"/>
            <a:ext cx="8229600" cy="5184526"/>
          </a:xfrm>
        </p:spPr>
        <p:txBody>
          <a:bodyPr>
            <a:normAutofit/>
          </a:bodyPr>
          <a:lstStyle/>
          <a:p>
            <a:r>
              <a:rPr lang="pt-BR" dirty="0"/>
              <a:t>Declarações Switch: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braek</a:t>
            </a:r>
            <a:r>
              <a:rPr lang="pt-BR" dirty="0"/>
              <a:t> garante que o programa encerra ao chegar no ponto;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1FE974E-652F-44D4-B25B-4E7ED3C1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83E13F3-39CC-44F0-A386-814C68B29855}"/>
              </a:ext>
            </a:extLst>
          </p:cNvPr>
          <p:cNvSpPr/>
          <p:nvPr/>
        </p:nvSpPr>
        <p:spPr>
          <a:xfrm>
            <a:off x="827584" y="1953658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diasemana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switch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diasemana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case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: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console.log(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"Domingo"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case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: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console.log(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"Segunda"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console.log(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"Não sei"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break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64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F939A9F-4BCF-4893-9330-448FEB9DA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8836"/>
            <a:ext cx="8229600" cy="5184526"/>
          </a:xfrm>
        </p:spPr>
        <p:txBody>
          <a:bodyPr>
            <a:normAutofit/>
          </a:bodyPr>
          <a:lstStyle/>
          <a:p>
            <a:r>
              <a:rPr lang="pt-BR" dirty="0"/>
              <a:t>Outros blocos de controle e declarações importantes: </a:t>
            </a:r>
          </a:p>
          <a:p>
            <a:pPr lvl="1"/>
            <a:r>
              <a:rPr lang="pt-BR" dirty="0" err="1"/>
              <a:t>Try</a:t>
            </a:r>
            <a:r>
              <a:rPr lang="pt-BR" dirty="0"/>
              <a:t> .. Catch... – Controlar uma exceção desconhecida;</a:t>
            </a:r>
          </a:p>
          <a:p>
            <a:pPr lvl="1"/>
            <a:r>
              <a:rPr lang="pt-BR" dirty="0" err="1"/>
              <a:t>Throw</a:t>
            </a:r>
            <a:r>
              <a:rPr lang="pt-BR" dirty="0"/>
              <a:t> – Lançar uma exceção;</a:t>
            </a:r>
          </a:p>
          <a:p>
            <a:pPr lvl="1"/>
            <a:r>
              <a:rPr lang="pt-BR" dirty="0" err="1"/>
              <a:t>Try</a:t>
            </a:r>
            <a:r>
              <a:rPr lang="pt-BR" dirty="0"/>
              <a:t> .. </a:t>
            </a:r>
            <a:r>
              <a:rPr lang="pt-BR" dirty="0" err="1"/>
              <a:t>Finally</a:t>
            </a:r>
            <a:r>
              <a:rPr lang="pt-BR" dirty="0"/>
              <a:t>... – Usado em conjunto com </a:t>
            </a:r>
            <a:r>
              <a:rPr lang="pt-BR" dirty="0" err="1"/>
              <a:t>Try</a:t>
            </a:r>
            <a:r>
              <a:rPr lang="pt-BR" dirty="0"/>
              <a:t> Catch, mas sempre é executado independente de dar exceção ou não.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1FE974E-652F-44D4-B25B-4E7ED3C1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– A Linguagem</a:t>
            </a:r>
          </a:p>
        </p:txBody>
      </p:sp>
    </p:spTree>
    <p:extLst>
      <p:ext uri="{BB962C8B-B14F-4D97-AF65-F5344CB8AC3E}">
        <p14:creationId xmlns:p14="http://schemas.microsoft.com/office/powerpoint/2010/main" val="313390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D364A48-33D0-439A-966C-D7182BC33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DOM (</a:t>
            </a:r>
            <a:r>
              <a:rPr lang="pt-BR" dirty="0" err="1"/>
              <a:t>Document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Model</a:t>
            </a:r>
            <a:r>
              <a:rPr lang="pt-BR" dirty="0"/>
              <a:t>) é uma representação da estrutura da página HTML;</a:t>
            </a:r>
          </a:p>
          <a:p>
            <a:r>
              <a:rPr lang="pt-BR" dirty="0"/>
              <a:t>Ele é carregado em memória e mantido pelo navegador a cada atualização de página;</a:t>
            </a:r>
          </a:p>
          <a:p>
            <a:r>
              <a:rPr lang="pt-BR" dirty="0"/>
              <a:t>Ele permite “navegar” entre os elementos;</a:t>
            </a:r>
          </a:p>
          <a:p>
            <a:r>
              <a:rPr lang="pt-BR" dirty="0"/>
              <a:t>Ele permite também manipular certos atributos dos elementos;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CCD45FB-7D11-48B1-A7DF-ED0FAA7A8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DOM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CDB765-DB24-45F5-8489-15C533755552}"/>
              </a:ext>
            </a:extLst>
          </p:cNvPr>
          <p:cNvSpPr/>
          <p:nvPr/>
        </p:nvSpPr>
        <p:spPr>
          <a:xfrm>
            <a:off x="827584" y="4725144"/>
            <a:ext cx="69847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pars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document.getElementsByTagName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"p"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console.log(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pars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sz="20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pt-BR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nodeName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51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FCE1A73-7B0C-4301-9EF8-15B2377B4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manipular o atributo de um elemento, utiliza-se a operação </a:t>
            </a:r>
            <a:r>
              <a:rPr lang="pt-BR" dirty="0" err="1"/>
              <a:t>setAttribute</a:t>
            </a:r>
            <a:r>
              <a:rPr lang="pt-BR" dirty="0"/>
              <a:t>(nome, valor);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Com isso é possível manipular elementos no front-</a:t>
            </a:r>
            <a:r>
              <a:rPr lang="pt-BR" dirty="0" err="1"/>
              <a:t>end</a:t>
            </a:r>
            <a:r>
              <a:rPr lang="pt-BR" dirty="0"/>
              <a:t>;</a:t>
            </a:r>
          </a:p>
          <a:p>
            <a:r>
              <a:rPr lang="pt-BR" dirty="0"/>
              <a:t>A documentação completa do que é possível fazer </a:t>
            </a:r>
            <a:r>
              <a:rPr lang="pt-BR" dirty="0">
                <a:hlinkClick r:id="rId2"/>
              </a:rPr>
              <a:t>está aqui</a:t>
            </a:r>
            <a:r>
              <a:rPr lang="pt-BR" dirty="0"/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F9C6834-0874-4A25-A15F-651ABBD5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DOM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7543945-7403-43E2-B61B-8019AA424B6F}"/>
              </a:ext>
            </a:extLst>
          </p:cNvPr>
          <p:cNvSpPr/>
          <p:nvPr/>
        </p:nvSpPr>
        <p:spPr>
          <a:xfrm>
            <a:off x="827584" y="2782669"/>
            <a:ext cx="61926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pars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pt-BR" dirty="0" err="1">
                <a:solidFill>
                  <a:srgbClr val="D4D4D4"/>
                </a:solidFill>
                <a:latin typeface="Consolas" panose="020B0609020204030204" pitchFamily="49" charset="0"/>
              </a:rPr>
              <a:t>setAttribute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minhaClass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24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FCE1A73-7B0C-4301-9EF8-15B2377B4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Prática:</a:t>
            </a:r>
          </a:p>
          <a:p>
            <a:pPr lvl="1"/>
            <a:r>
              <a:rPr lang="pt-BR" dirty="0" smtClean="0"/>
              <a:t>1 – Criar uma página HTML, contendo dois campos de entrada de dados: Usuário e Senha</a:t>
            </a:r>
          </a:p>
          <a:p>
            <a:pPr lvl="1"/>
            <a:r>
              <a:rPr lang="pt-BR" dirty="0" smtClean="0"/>
              <a:t>2 – Adicionar também um botão com o texto: </a:t>
            </a:r>
            <a:r>
              <a:rPr lang="pt-BR" dirty="0" err="1" smtClean="0"/>
              <a:t>Login</a:t>
            </a:r>
            <a:endParaRPr lang="pt-BR" dirty="0" smtClean="0"/>
          </a:p>
          <a:p>
            <a:pPr lvl="1"/>
            <a:r>
              <a:rPr lang="pt-BR" dirty="0" smtClean="0"/>
              <a:t>3 – No evento </a:t>
            </a:r>
            <a:r>
              <a:rPr lang="pt-BR" dirty="0" err="1" smtClean="0"/>
              <a:t>OnClick</a:t>
            </a:r>
            <a:r>
              <a:rPr lang="pt-BR" dirty="0" smtClean="0"/>
              <a:t> do botão, criar Script para obter os dados de usuário e senha</a:t>
            </a:r>
          </a:p>
          <a:p>
            <a:pPr lvl="1"/>
            <a:r>
              <a:rPr lang="pt-BR" dirty="0" smtClean="0"/>
              <a:t>4 – Caso o usuário digitado seja “</a:t>
            </a:r>
            <a:r>
              <a:rPr lang="pt-BR" dirty="0" err="1" smtClean="0"/>
              <a:t>user</a:t>
            </a:r>
            <a:r>
              <a:rPr lang="pt-BR" dirty="0" smtClean="0"/>
              <a:t>” e a senha seja “</a:t>
            </a:r>
            <a:r>
              <a:rPr lang="pt-BR" dirty="0" err="1" smtClean="0"/>
              <a:t>pass</a:t>
            </a:r>
            <a:r>
              <a:rPr lang="pt-BR" dirty="0" smtClean="0"/>
              <a:t>” então enviar alerta “</a:t>
            </a:r>
            <a:r>
              <a:rPr lang="pt-BR" dirty="0" err="1" smtClean="0"/>
              <a:t>Login</a:t>
            </a:r>
            <a:r>
              <a:rPr lang="pt-BR" dirty="0" smtClean="0"/>
              <a:t> Ok”. </a:t>
            </a:r>
          </a:p>
          <a:p>
            <a:pPr lvl="1"/>
            <a:r>
              <a:rPr lang="pt-BR" dirty="0" smtClean="0"/>
              <a:t>5 – Criar um estilo CSS chamado “</a:t>
            </a:r>
            <a:r>
              <a:rPr lang="pt-BR" i="1" dirty="0" err="1" smtClean="0"/>
              <a:t>user_pass_fail</a:t>
            </a:r>
            <a:r>
              <a:rPr lang="pt-BR" dirty="0" smtClean="0"/>
              <a:t>” e aplicar o estilo no campo </a:t>
            </a:r>
            <a:r>
              <a:rPr lang="pt-BR" dirty="0" err="1" smtClean="0"/>
              <a:t>login</a:t>
            </a:r>
            <a:r>
              <a:rPr lang="pt-BR" dirty="0" smtClean="0"/>
              <a:t> e senha, caso tenha falhado.</a:t>
            </a:r>
          </a:p>
          <a:p>
            <a:pPr lvl="1"/>
            <a:endParaRPr lang="pt-BR" dirty="0"/>
          </a:p>
          <a:p>
            <a:pPr marL="109728" indent="0">
              <a:buNone/>
            </a:pPr>
            <a:r>
              <a:rPr lang="pt-BR" dirty="0" smtClean="0"/>
              <a:t>Publicar no </a:t>
            </a:r>
            <a:r>
              <a:rPr lang="pt-BR" dirty="0" err="1" smtClean="0"/>
              <a:t>github</a:t>
            </a:r>
            <a:r>
              <a:rPr lang="pt-BR" dirty="0" smtClean="0"/>
              <a:t> (aula 4)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F9C6834-0874-4A25-A15F-651ABBD5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JavaScript</a:t>
            </a:r>
            <a:r>
              <a:rPr lang="pt-BR" dirty="0"/>
              <a:t> - </a:t>
            </a:r>
            <a:r>
              <a:rPr lang="pt-BR" dirty="0" smtClean="0"/>
              <a:t>Prática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5652120" y="384473"/>
            <a:ext cx="33123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Iniciar agora, finalizaremos em laboratório </a:t>
            </a:r>
          </a:p>
          <a:p>
            <a:pPr algn="ctr"/>
            <a:r>
              <a:rPr lang="pt-BR" dirty="0" smtClean="0">
                <a:solidFill>
                  <a:srgbClr val="FF0000"/>
                </a:solidFill>
              </a:rPr>
              <a:t>na semana que vem.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70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C8A75CE3-DB42-46C5-9FD4-7D16F250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pt-BR" dirty="0"/>
              <a:t>Aula 5</a:t>
            </a:r>
          </a:p>
          <a:p>
            <a:r>
              <a:rPr lang="pt-BR" dirty="0"/>
              <a:t>Introdução ao </a:t>
            </a:r>
            <a:r>
              <a:rPr lang="pt-BR" dirty="0" err="1" smtClean="0"/>
              <a:t>JavaScript</a:t>
            </a:r>
            <a:r>
              <a:rPr lang="pt-BR" dirty="0" smtClean="0"/>
              <a:t> – Parte 2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E70E99A-03F1-4148-B4A5-8F977CE5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Próxima Aula</a:t>
            </a:r>
          </a:p>
        </p:txBody>
      </p:sp>
    </p:spTree>
    <p:extLst>
      <p:ext uri="{BB962C8B-B14F-4D97-AF65-F5344CB8AC3E}">
        <p14:creationId xmlns:p14="http://schemas.microsoft.com/office/powerpoint/2010/main" val="99340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4835</TotalTime>
  <Words>2041</Words>
  <Application>Microsoft Office PowerPoint</Application>
  <PresentationFormat>Apresentação na tela (4:3)</PresentationFormat>
  <Paragraphs>390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1" baseType="lpstr">
      <vt:lpstr>Consolas</vt:lpstr>
      <vt:lpstr>Courier New</vt:lpstr>
      <vt:lpstr>Lucida Sans Unicode</vt:lpstr>
      <vt:lpstr>Menlo</vt:lpstr>
      <vt:lpstr>Verdana</vt:lpstr>
      <vt:lpstr>Wingdings 2</vt:lpstr>
      <vt:lpstr>Wingdings 3</vt:lpstr>
      <vt:lpstr>Concurso</vt:lpstr>
      <vt:lpstr>Programação Web 1 CSS Introdução ao JavaScript – Parte 1</vt:lpstr>
      <vt:lpstr>CSS – O Básico</vt:lpstr>
      <vt:lpstr>CSS – O Básico</vt:lpstr>
      <vt:lpstr>CSS – O Básico</vt:lpstr>
      <vt:lpstr>CSS – O Básico</vt:lpstr>
      <vt:lpstr>CSS – Por que?</vt:lpstr>
      <vt:lpstr>CSS – Sintaxe Básica</vt:lpstr>
      <vt:lpstr>CSS – Sintaxe Básica</vt:lpstr>
      <vt:lpstr>HTML – O elemento DIV</vt:lpstr>
      <vt:lpstr>HTML – O elemento DIV</vt:lpstr>
      <vt:lpstr>CSS - Seletores</vt:lpstr>
      <vt:lpstr>CSS - Seletores</vt:lpstr>
      <vt:lpstr>CSS - Seletores</vt:lpstr>
      <vt:lpstr>CSS - Seletores</vt:lpstr>
      <vt:lpstr>CSS - Prática</vt:lpstr>
      <vt:lpstr>CSS - Prática</vt:lpstr>
      <vt:lpstr>CSS - Prática</vt:lpstr>
      <vt:lpstr>JavaScript – Um pouco da história</vt:lpstr>
      <vt:lpstr>JavaScript – Um pouco da história</vt:lpstr>
      <vt:lpstr>JavaScript – Introdução</vt:lpstr>
      <vt:lpstr>JavaScript – Introdução</vt:lpstr>
      <vt:lpstr>JavaScript – Introdução</vt:lpstr>
      <vt:lpstr>JavaScript – Introdução</vt:lpstr>
      <vt:lpstr>JavaScript – Introdução</vt:lpstr>
      <vt:lpstr>JavaScript – Introdução</vt:lpstr>
      <vt:lpstr>JavaScript – Introdução</vt:lpstr>
      <vt:lpstr>JavaScript – O Básico</vt:lpstr>
      <vt:lpstr>JavaScript – O Básico</vt:lpstr>
      <vt:lpstr>JavaScript – O Básico</vt:lpstr>
      <vt:lpstr>JavaScript – A Linguagem</vt:lpstr>
      <vt:lpstr>JavaScript – A Linguagem</vt:lpstr>
      <vt:lpstr>JavaScript – A Linguagem</vt:lpstr>
      <vt:lpstr>JavaScript – A Linguagem</vt:lpstr>
      <vt:lpstr>JavaScript – A Linguagem</vt:lpstr>
      <vt:lpstr>JavaScript – A Linguagem</vt:lpstr>
      <vt:lpstr>JavaScript – A Linguagem</vt:lpstr>
      <vt:lpstr>JavaScript – A Linguagem</vt:lpstr>
      <vt:lpstr>JavaScript – A Linguagem</vt:lpstr>
      <vt:lpstr>JavaScript – A Linguagem</vt:lpstr>
      <vt:lpstr>JavaScript - DOM</vt:lpstr>
      <vt:lpstr>JavaScript - DOM</vt:lpstr>
      <vt:lpstr>JavaScript - Prática</vt:lpstr>
      <vt:lpstr>Próxima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</dc:title>
  <dc:creator>Cleber Nardelli</dc:creator>
  <cp:lastModifiedBy>User</cp:lastModifiedBy>
  <cp:revision>163</cp:revision>
  <dcterms:created xsi:type="dcterms:W3CDTF">2013-09-10T00:11:01Z</dcterms:created>
  <dcterms:modified xsi:type="dcterms:W3CDTF">2025-08-26T00:57:33Z</dcterms:modified>
</cp:coreProperties>
</file>