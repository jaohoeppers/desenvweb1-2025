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22" r:id="rId3"/>
    <p:sldId id="319" r:id="rId4"/>
    <p:sldId id="323" r:id="rId5"/>
    <p:sldId id="324" r:id="rId6"/>
    <p:sldId id="325" r:id="rId7"/>
    <p:sldId id="283" r:id="rId8"/>
    <p:sldId id="284" r:id="rId9"/>
    <p:sldId id="259" r:id="rId10"/>
    <p:sldId id="285" r:id="rId11"/>
    <p:sldId id="286" r:id="rId12"/>
    <p:sldId id="258" r:id="rId13"/>
    <p:sldId id="288" r:id="rId14"/>
    <p:sldId id="321" r:id="rId15"/>
    <p:sldId id="289" r:id="rId16"/>
    <p:sldId id="290" r:id="rId17"/>
    <p:sldId id="287" r:id="rId18"/>
    <p:sldId id="320" r:id="rId19"/>
    <p:sldId id="326" r:id="rId20"/>
    <p:sldId id="282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</p14:sldIdLst>
        </p14:section>
        <p14:section name="Infra Estrutura" id="{9F314A75-0E2D-4EB8-8133-82AF238C1C1D}">
          <p14:sldIdLst>
            <p14:sldId id="322"/>
            <p14:sldId id="319"/>
            <p14:sldId id="323"/>
            <p14:sldId id="324"/>
            <p14:sldId id="325"/>
            <p14:sldId id="283"/>
            <p14:sldId id="284"/>
            <p14:sldId id="259"/>
          </p14:sldIdLst>
        </p14:section>
        <p14:section name="XAMPP" id="{2774907E-04C0-4E64-930D-5292FC56BAF1}">
          <p14:sldIdLst>
            <p14:sldId id="285"/>
            <p14:sldId id="286"/>
          </p14:sldIdLst>
        </p14:section>
        <p14:section name="PHP Introdução" id="{6EA2802E-D8B5-4B71-A099-9858662AF32A}">
          <p14:sldIdLst>
            <p14:sldId id="258"/>
            <p14:sldId id="288"/>
            <p14:sldId id="321"/>
            <p14:sldId id="289"/>
            <p14:sldId id="290"/>
            <p14:sldId id="287"/>
            <p14:sldId id="320"/>
            <p14:sldId id="326"/>
          </p14:sldIdLst>
        </p14:section>
        <p14:section name="Próxima Aula" id="{66AAF6F1-D593-4073-912F-D8F5562F77B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w3schools.com/php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www.php.net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 dirty="0"/>
              <a:t>Introdução ao Back </a:t>
            </a:r>
            <a:r>
              <a:rPr lang="pt-BR" b="0" dirty="0" err="1"/>
              <a:t>End</a:t>
            </a:r>
            <a:r>
              <a:rPr lang="pt-BR" b="0" dirty="0"/>
              <a:t> com PHP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Cleber Nardelli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82BE9AC-2260-4F40-BD02-0C65C4FF9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5773"/>
            <a:ext cx="8229600" cy="5075555"/>
          </a:xfrm>
        </p:spPr>
        <p:txBody>
          <a:bodyPr>
            <a:normAutofit/>
          </a:bodyPr>
          <a:lstStyle/>
          <a:p>
            <a:r>
              <a:rPr lang="pt-BR" dirty="0"/>
              <a:t>Utiliza-se a arquitetura de sistemas Cliente-Servidor para operacionalizar aplicações WEB: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Esse modelo pode ser fornecido em 1, 2, 3 ou N camadas;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71817C2-7F23-4AD0-BD6A-065FB88F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Infra Estrutura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3B5C64-42CC-45CD-881A-8B4D7327F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132856"/>
            <a:ext cx="5897998" cy="284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6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82BE9AC-2260-4F40-BD02-0C65C4FF9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 </a:t>
            </a:r>
            <a:r>
              <a:rPr lang="pt-BR" b="1" dirty="0"/>
              <a:t>uma camada</a:t>
            </a:r>
            <a:r>
              <a:rPr lang="pt-BR" dirty="0"/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71817C2-7F23-4AD0-BD6A-065FB88F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Infra Estrutura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77C411-3C8B-41FF-B11B-ADD78F5F0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15546"/>
            <a:ext cx="7335432" cy="379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7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82BE9AC-2260-4F40-BD02-0C65C4FF9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 </a:t>
            </a:r>
            <a:r>
              <a:rPr lang="pt-BR" b="1" dirty="0"/>
              <a:t>duas camadas</a:t>
            </a:r>
            <a:r>
              <a:rPr lang="pt-BR" dirty="0"/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71817C2-7F23-4AD0-BD6A-065FB88F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Infra Estrutura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9F76DCD-E495-496B-91CD-3F3F4FC18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900237"/>
            <a:ext cx="7554585" cy="39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8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82BE9AC-2260-4F40-BD02-0C65C4FF9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 </a:t>
            </a:r>
            <a:r>
              <a:rPr lang="pt-BR" b="1" dirty="0"/>
              <a:t>três camadas</a:t>
            </a:r>
            <a:r>
              <a:rPr lang="pt-BR" dirty="0"/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71817C2-7F23-4AD0-BD6A-065FB88F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Infra Estrutura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E7F02D-3B86-4A2B-B2C8-9BA0EE3B9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80" y="2132856"/>
            <a:ext cx="809809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6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82BE9AC-2260-4F40-BD02-0C65C4FF9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pt-BR" dirty="0"/>
              <a:t>Modelo de </a:t>
            </a:r>
            <a:r>
              <a:rPr lang="pt-BR" b="1" dirty="0"/>
              <a:t>n camadas</a:t>
            </a:r>
            <a:r>
              <a:rPr lang="pt-BR" dirty="0"/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71817C2-7F23-4AD0-BD6A-065FB88F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Infra Estrutura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7F1453E-2B84-4490-9A9B-B12FB39D2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7" y="1772816"/>
            <a:ext cx="7885339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Infra Estrutura - </a:t>
            </a:r>
            <a:r>
              <a:rPr lang="pt-BR" dirty="0" err="1"/>
              <a:t>WebServer</a:t>
            </a:r>
            <a:endParaRPr lang="pt-BR" dirty="0"/>
          </a:p>
        </p:txBody>
      </p:sp>
      <p:sp>
        <p:nvSpPr>
          <p:cNvPr id="4" name="Espaço Reservado para Conteúdo 1">
            <a:extLst>
              <a:ext uri="{FF2B5EF4-FFF2-40B4-BE49-F238E27FC236}">
                <a16:creationId xmlns:a16="http://schemas.microsoft.com/office/drawing/2014/main" id="{07C3E650-8832-4BA3-BE57-DEB679EC3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9524"/>
            <a:ext cx="8229600" cy="4525963"/>
          </a:xfrm>
        </p:spPr>
        <p:txBody>
          <a:bodyPr/>
          <a:lstStyle/>
          <a:p>
            <a:r>
              <a:rPr lang="pt-BR" dirty="0"/>
              <a:t>Na máquina servidor devem estar instalados:</a:t>
            </a:r>
          </a:p>
          <a:p>
            <a:pPr lvl="1"/>
            <a:r>
              <a:rPr lang="pt-BR" dirty="0"/>
              <a:t>O sistema operacional básico (Windows, Linux, </a:t>
            </a:r>
            <a:r>
              <a:rPr lang="pt-BR" dirty="0" err="1"/>
              <a:t>mac</a:t>
            </a:r>
            <a:r>
              <a:rPr lang="pt-BR" dirty="0"/>
              <a:t>);</a:t>
            </a:r>
          </a:p>
          <a:p>
            <a:pPr lvl="1"/>
            <a:r>
              <a:rPr lang="pt-BR" dirty="0"/>
              <a:t>O servidor Web (</a:t>
            </a:r>
            <a:r>
              <a:rPr lang="pt-BR" dirty="0" err="1"/>
              <a:t>webserver</a:t>
            </a:r>
            <a:r>
              <a:rPr lang="pt-BR" dirty="0"/>
              <a:t>) como Apache ou IIS</a:t>
            </a:r>
          </a:p>
          <a:p>
            <a:pPr lvl="2"/>
            <a:r>
              <a:rPr lang="pt-BR" dirty="0"/>
              <a:t>Incluir a extensão PHP</a:t>
            </a:r>
          </a:p>
          <a:p>
            <a:pPr lvl="1"/>
            <a:r>
              <a:rPr lang="pt-BR" dirty="0"/>
              <a:t>O servidor de banco de dados,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331A93-92F2-414F-9E28-46E61EE04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861" y="4072128"/>
            <a:ext cx="3420278" cy="251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68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PHP</a:t>
            </a:r>
          </a:p>
        </p:txBody>
      </p:sp>
      <p:sp>
        <p:nvSpPr>
          <p:cNvPr id="4" name="Espaço Reservado para Conteúdo 1">
            <a:extLst>
              <a:ext uri="{FF2B5EF4-FFF2-40B4-BE49-F238E27FC236}">
                <a16:creationId xmlns:a16="http://schemas.microsoft.com/office/drawing/2014/main" id="{3269533C-C87F-4495-B5CE-8F23C0507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pt-BR" dirty="0"/>
              <a:t>Quando o Apache identifica que o arquivo solicitado é um PHP ou que o arquivo possui um bloco de comandos PHP, ele solicita à extensão PHP que “interprete” eles.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8199534-BFF3-47BD-B0FE-F5418B765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140968"/>
            <a:ext cx="68199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34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3A9E9F6-853E-4C84-BEBB-1BA643E6A1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25"/>
          <a:stretch/>
        </p:blipFill>
        <p:spPr bwMode="auto">
          <a:xfrm>
            <a:off x="773350" y="1196752"/>
            <a:ext cx="7597300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Básico</a:t>
            </a:r>
          </a:p>
        </p:txBody>
      </p:sp>
    </p:spTree>
    <p:extLst>
      <p:ext uri="{BB962C8B-B14F-4D97-AF65-F5344CB8AC3E}">
        <p14:creationId xmlns:p14="http://schemas.microsoft.com/office/powerpoint/2010/main" val="6787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Local</a:t>
            </a:r>
          </a:p>
        </p:txBody>
      </p:sp>
      <p:sp>
        <p:nvSpPr>
          <p:cNvPr id="4" name="Espaço Reservado para Conteúdo 1">
            <a:extLst>
              <a:ext uri="{FF2B5EF4-FFF2-40B4-BE49-F238E27FC236}">
                <a16:creationId xmlns:a16="http://schemas.microsoft.com/office/drawing/2014/main" id="{3269533C-C87F-4495-B5CE-8F23C0507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pt-BR" dirty="0"/>
              <a:t>Todos esses recursos serão executados localmente;</a:t>
            </a:r>
          </a:p>
          <a:p>
            <a:r>
              <a:rPr lang="pt-BR" dirty="0"/>
              <a:t>A navegação Web é realizada pelo HTTP:</a:t>
            </a:r>
          </a:p>
          <a:p>
            <a:pPr lvl="1"/>
            <a:r>
              <a:rPr lang="pt-BR" dirty="0"/>
              <a:t>URL: </a:t>
            </a:r>
            <a:r>
              <a:rPr lang="pt-BR" u="sng" dirty="0">
                <a:solidFill>
                  <a:schemeClr val="hlink"/>
                </a:solidFill>
                <a:hlinkClick r:id="rId2"/>
              </a:rPr>
              <a:t>http://</a:t>
            </a:r>
            <a:endParaRPr lang="pt-BR" dirty="0"/>
          </a:p>
          <a:p>
            <a:r>
              <a:rPr lang="pt-BR" dirty="0"/>
              <a:t>O host para a máquina local é o </a:t>
            </a:r>
            <a:r>
              <a:rPr lang="pt-BR" dirty="0" err="1"/>
              <a:t>localhost</a:t>
            </a:r>
            <a:r>
              <a:rPr lang="pt-BR" dirty="0"/>
              <a:t> ou então 127.0.0.1:</a:t>
            </a:r>
          </a:p>
          <a:p>
            <a:pPr lvl="1"/>
            <a:r>
              <a:rPr lang="pt-BR" dirty="0"/>
              <a:t>URL: </a:t>
            </a:r>
            <a:r>
              <a:rPr lang="pt-BR" u="sng" dirty="0">
                <a:solidFill>
                  <a:schemeClr val="hlink"/>
                </a:solidFill>
                <a:hlinkClick r:id="rId2"/>
              </a:rPr>
              <a:t>http://localhost</a:t>
            </a:r>
            <a:endParaRPr lang="pt-BR" u="sng" dirty="0">
              <a:solidFill>
                <a:schemeClr val="hlink"/>
              </a:solidFill>
            </a:endParaRPr>
          </a:p>
          <a:p>
            <a:r>
              <a:rPr lang="pt-BR" dirty="0"/>
              <a:t>O </a:t>
            </a:r>
            <a:r>
              <a:rPr lang="pt-BR" dirty="0" err="1"/>
              <a:t>Webserver</a:t>
            </a:r>
            <a:r>
              <a:rPr lang="pt-BR" dirty="0"/>
              <a:t> apache, por padrão “escuta” requisições na porta 80:</a:t>
            </a:r>
          </a:p>
          <a:p>
            <a:pPr lvl="1"/>
            <a:r>
              <a:rPr lang="pt-BR" dirty="0"/>
              <a:t>URL: </a:t>
            </a:r>
            <a:r>
              <a:rPr lang="pt-BR" u="sng" dirty="0">
                <a:solidFill>
                  <a:schemeClr val="hlink"/>
                </a:solidFill>
                <a:hlinkClick r:id="rId2"/>
              </a:rPr>
              <a:t>http://</a:t>
            </a:r>
            <a:r>
              <a:rPr lang="pt-BR" u="sng" dirty="0">
                <a:solidFill>
                  <a:schemeClr val="hlink"/>
                </a:solidFill>
              </a:rPr>
              <a:t>localhos:80</a:t>
            </a:r>
          </a:p>
        </p:txBody>
      </p:sp>
    </p:spTree>
    <p:extLst>
      <p:ext uri="{BB962C8B-B14F-4D97-AF65-F5344CB8AC3E}">
        <p14:creationId xmlns:p14="http://schemas.microsoft.com/office/powerpoint/2010/main" val="205086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Lab1 – Verificar sistema</a:t>
            </a:r>
          </a:p>
        </p:txBody>
      </p:sp>
      <p:sp>
        <p:nvSpPr>
          <p:cNvPr id="4" name="Espaço Reservado para Conteúdo 1">
            <a:extLst>
              <a:ext uri="{FF2B5EF4-FFF2-40B4-BE49-F238E27FC236}">
                <a16:creationId xmlns:a16="http://schemas.microsoft.com/office/drawing/2014/main" id="{3269533C-C87F-4495-B5CE-8F23C0507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pt-BR" dirty="0"/>
              <a:t>Para facilitar as coisas, utilizaremos um pacote chamado </a:t>
            </a:r>
            <a:r>
              <a:rPr lang="pt-BR" b="1" dirty="0"/>
              <a:t>XAMP</a:t>
            </a:r>
            <a:r>
              <a:rPr lang="pt-BR" dirty="0"/>
              <a:t>;</a:t>
            </a:r>
          </a:p>
          <a:p>
            <a:r>
              <a:rPr lang="pt-BR" dirty="0">
                <a:solidFill>
                  <a:srgbClr val="FF0000"/>
                </a:solidFill>
              </a:rPr>
              <a:t>Onde está “apontando” o </a:t>
            </a:r>
            <a:r>
              <a:rPr lang="pt-BR" dirty="0" err="1">
                <a:solidFill>
                  <a:srgbClr val="FF0000"/>
                </a:solidFill>
              </a:rPr>
              <a:t>DocumentRoot</a:t>
            </a:r>
            <a:r>
              <a:rPr lang="pt-BR" dirty="0">
                <a:solidFill>
                  <a:srgbClr val="FF0000"/>
                </a:solidFill>
              </a:rPr>
              <a:t> do servidor?</a:t>
            </a:r>
          </a:p>
          <a:p>
            <a:r>
              <a:rPr lang="pt-BR" dirty="0">
                <a:solidFill>
                  <a:srgbClr val="FF0000"/>
                </a:solidFill>
              </a:rPr>
              <a:t>Como configurar o XDEBUG?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654653C-EF67-4BF9-A2CF-F4C9B696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3573016"/>
            <a:ext cx="2958852" cy="26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3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Características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Linguagem de </a:t>
            </a:r>
            <a:r>
              <a:rPr lang="pt-BR" dirty="0" err="1"/>
              <a:t>scripting</a:t>
            </a:r>
            <a:endParaRPr lang="pt-BR" dirty="0"/>
          </a:p>
          <a:p>
            <a:pPr lvl="1"/>
            <a:r>
              <a:rPr lang="pt-BR" dirty="0"/>
              <a:t>Linguagem </a:t>
            </a:r>
            <a:r>
              <a:rPr lang="pt-BR" dirty="0" err="1"/>
              <a:t>não</a:t>
            </a:r>
            <a:r>
              <a:rPr lang="pt-BR" dirty="0"/>
              <a:t> </a:t>
            </a:r>
            <a:r>
              <a:rPr lang="pt-BR" dirty="0" err="1"/>
              <a:t>tipada</a:t>
            </a:r>
            <a:r>
              <a:rPr lang="pt-BR" dirty="0"/>
              <a:t> (</a:t>
            </a:r>
            <a:r>
              <a:rPr lang="pt-BR" dirty="0" err="1"/>
              <a:t>indiferença</a:t>
            </a:r>
            <a:r>
              <a:rPr lang="pt-BR" dirty="0"/>
              <a:t> de tipos de </a:t>
            </a:r>
            <a:r>
              <a:rPr lang="pt-BR" dirty="0" err="1"/>
              <a:t>variáveis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Possibilita a </a:t>
            </a:r>
            <a:r>
              <a:rPr lang="pt-BR" dirty="0" err="1"/>
              <a:t>implementação</a:t>
            </a:r>
            <a:r>
              <a:rPr lang="pt-BR" dirty="0"/>
              <a:t> orientada a objeto</a:t>
            </a:r>
          </a:p>
          <a:p>
            <a:pPr lvl="1"/>
            <a:r>
              <a:rPr lang="pt-BR" dirty="0"/>
              <a:t>Pode </a:t>
            </a:r>
            <a:r>
              <a:rPr lang="pt-BR" dirty="0" err="1"/>
              <a:t>também</a:t>
            </a:r>
            <a:r>
              <a:rPr lang="pt-BR" dirty="0"/>
              <a:t> ser utilizada como scripts do tipo BAT</a:t>
            </a:r>
          </a:p>
          <a:p>
            <a:r>
              <a:rPr lang="pt-BR" dirty="0"/>
              <a:t>O PHP é implementado junto ao HTML usando o sinal de abertura &lt;?</a:t>
            </a:r>
            <a:r>
              <a:rPr lang="pt-BR" dirty="0" err="1"/>
              <a:t>php</a:t>
            </a:r>
            <a:r>
              <a:rPr lang="pt-BR" dirty="0"/>
              <a:t> e de fechamento ?&gt; ou &lt;? ?&gt; ()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EA5AD299-08A8-4EEC-AD72-3D2C14BE13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7092280" y="300601"/>
            <a:ext cx="1440160" cy="1368152"/>
          </a:xfrm>
          <a:prstGeom prst="rect">
            <a:avLst/>
          </a:prstGeom>
        </p:spPr>
      </p:pic>
      <p:pic>
        <p:nvPicPr>
          <p:cNvPr id="6" name="Imagem 5">
            <a:hlinkClick r:id="rId4"/>
            <a:extLst>
              <a:ext uri="{FF2B5EF4-FFF2-40B4-BE49-F238E27FC236}">
                <a16:creationId xmlns:a16="http://schemas.microsoft.com/office/drawing/2014/main" id="{F56439A4-8994-48C0-B772-52FD4ECAEF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728" y="222103"/>
            <a:ext cx="2186192" cy="118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70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Funcionamento Básico:</a:t>
            </a:r>
          </a:p>
          <a:p>
            <a:pPr lvl="1"/>
            <a:r>
              <a:rPr lang="pt-BR" dirty="0"/>
              <a:t>O PHP é um programa, este programa recebe como parâmetro o arquivo a ser processado ou script.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b="1" dirty="0"/>
              <a:t>c:\&gt;php.exe </a:t>
            </a:r>
            <a:r>
              <a:rPr lang="pt-BR" b="1" dirty="0" err="1"/>
              <a:t>teste.php</a:t>
            </a:r>
            <a:endParaRPr lang="pt-BR" b="1" dirty="0"/>
          </a:p>
          <a:p>
            <a:pPr lvl="2"/>
            <a:r>
              <a:rPr lang="pt-BR" b="1" dirty="0" err="1"/>
              <a:t>Ex</a:t>
            </a:r>
            <a:r>
              <a:rPr lang="pt-BR" b="1" dirty="0"/>
              <a:t>: c:\&gt;php.exe -r "</a:t>
            </a:r>
            <a:r>
              <a:rPr lang="pt-BR" b="1" dirty="0" err="1"/>
              <a:t>echo</a:t>
            </a:r>
            <a:r>
              <a:rPr lang="pt-BR" b="1" dirty="0"/>
              <a:t> 'Cleber’;”</a:t>
            </a:r>
          </a:p>
          <a:p>
            <a:pPr lvl="2"/>
            <a:endParaRPr lang="pt-BR" b="1" dirty="0"/>
          </a:p>
          <a:p>
            <a:pPr lvl="1"/>
            <a:r>
              <a:rPr lang="pt-BR" dirty="0"/>
              <a:t>O retorno dos comandos acima será a interpretação da entrada;</a:t>
            </a:r>
          </a:p>
          <a:p>
            <a:pPr lvl="1"/>
            <a:r>
              <a:rPr lang="pt-BR" dirty="0"/>
              <a:t>No caso do </a:t>
            </a:r>
            <a:r>
              <a:rPr lang="pt-BR" dirty="0" err="1"/>
              <a:t>WebServer</a:t>
            </a:r>
            <a:r>
              <a:rPr lang="pt-BR" dirty="0"/>
              <a:t>, existe um módulo que é carregado ao iniciar o servidor. </a:t>
            </a:r>
          </a:p>
          <a:p>
            <a:pPr lvl="1"/>
            <a:r>
              <a:rPr lang="pt-BR" dirty="0"/>
              <a:t>Este módulo interpreta arquivos *.</a:t>
            </a:r>
            <a:r>
              <a:rPr lang="pt-BR" dirty="0" err="1"/>
              <a:t>php</a:t>
            </a:r>
            <a:r>
              <a:rPr lang="pt-BR" dirty="0"/>
              <a:t> que sejam requisitados ao servidor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</a:t>
            </a:r>
          </a:p>
        </p:txBody>
      </p:sp>
    </p:spTree>
    <p:extLst>
      <p:ext uri="{BB962C8B-B14F-4D97-AF65-F5344CB8AC3E}">
        <p14:creationId xmlns:p14="http://schemas.microsoft.com/office/powerpoint/2010/main" val="2644165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9D1B8ED-53AB-4F60-8C18-3EA945845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organização do código é fundamental para a </a:t>
            </a:r>
            <a:r>
              <a:rPr lang="pt-BR" b="1" dirty="0">
                <a:solidFill>
                  <a:srgbClr val="FF0000"/>
                </a:solidFill>
              </a:rPr>
              <a:t>manutenção e escalabilidade do projeto;</a:t>
            </a:r>
            <a:endParaRPr lang="pt-BR" dirty="0"/>
          </a:p>
          <a:p>
            <a:r>
              <a:rPr lang="pt-BR" dirty="0"/>
              <a:t>Quanto a estrutura de pastas normalmente utilizada para projetos em PHP;</a:t>
            </a:r>
          </a:p>
          <a:p>
            <a:r>
              <a:rPr lang="pt-BR" dirty="0" err="1"/>
              <a:t>Recomendada-se</a:t>
            </a:r>
            <a:r>
              <a:rPr lang="pt-BR" dirty="0"/>
              <a:t> (ao menos):</a:t>
            </a:r>
          </a:p>
          <a:p>
            <a:pPr lvl="1"/>
            <a:r>
              <a:rPr lang="pt-BR" dirty="0" err="1"/>
              <a:t>html</a:t>
            </a:r>
            <a:endParaRPr lang="pt-BR" dirty="0"/>
          </a:p>
          <a:p>
            <a:pPr lvl="1"/>
            <a:r>
              <a:rPr lang="pt-BR" dirty="0" err="1"/>
              <a:t>css</a:t>
            </a:r>
            <a:endParaRPr lang="pt-BR" dirty="0"/>
          </a:p>
          <a:p>
            <a:pPr lvl="1"/>
            <a:r>
              <a:rPr lang="pt-BR" dirty="0" err="1"/>
              <a:t>Js</a:t>
            </a:r>
            <a:endParaRPr lang="pt-BR" dirty="0"/>
          </a:p>
          <a:p>
            <a:pPr lvl="1"/>
            <a:r>
              <a:rPr lang="pt-BR" dirty="0" err="1"/>
              <a:t>src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0219D8E-4E61-4C98-926A-2ADA39D5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</a:t>
            </a:r>
          </a:p>
        </p:txBody>
      </p:sp>
    </p:spTree>
    <p:extLst>
      <p:ext uri="{BB962C8B-B14F-4D97-AF65-F5344CB8AC3E}">
        <p14:creationId xmlns:p14="http://schemas.microsoft.com/office/powerpoint/2010/main" val="23126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Crie um arquivo na sua máquina denominado </a:t>
            </a:r>
            <a:r>
              <a:rPr lang="pt-BR" b="1" dirty="0"/>
              <a:t>lab2.php</a:t>
            </a:r>
          </a:p>
          <a:p>
            <a:r>
              <a:rPr lang="pt-BR" dirty="0"/>
              <a:t>Nele coloque o seguinte conteúdo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Após criado execute: </a:t>
            </a:r>
          </a:p>
          <a:p>
            <a:pPr lvl="1"/>
            <a:r>
              <a:rPr lang="pt-BR" b="1" dirty="0"/>
              <a:t>c:\xampp\php\php.exe lab2.php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Lab2 – Executar script PHP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F385069-2931-43AC-A2AD-6C754D39D907}"/>
              </a:ext>
            </a:extLst>
          </p:cNvPr>
          <p:cNvSpPr/>
          <p:nvPr/>
        </p:nvSpPr>
        <p:spPr>
          <a:xfrm>
            <a:off x="899592" y="2836368"/>
            <a:ext cx="73448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800" dirty="0">
                <a:solidFill>
                  <a:srgbClr val="569CD6"/>
                </a:solidFill>
                <a:latin typeface="Consolas" panose="020B0609020204030204" pitchFamily="49" charset="0"/>
              </a:rPr>
              <a:t>&lt;?</a:t>
            </a:r>
            <a:r>
              <a:rPr lang="pt-BR" sz="2800" dirty="0" err="1">
                <a:solidFill>
                  <a:srgbClr val="569CD6"/>
                </a:solidFill>
                <a:latin typeface="Consolas" panose="020B0609020204030204" pitchFamily="49" charset="0"/>
              </a:rPr>
              <a:t>php</a:t>
            </a:r>
            <a:endParaRPr lang="pt-BR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$</a:t>
            </a:r>
            <a:r>
              <a:rPr lang="pt-BR" sz="2800" dirty="0" err="1">
                <a:solidFill>
                  <a:srgbClr val="D4D4D4"/>
                </a:solidFill>
                <a:latin typeface="Consolas" panose="020B0609020204030204" pitchFamily="49" charset="0"/>
              </a:rPr>
              <a:t>txt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"Cleber"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pt-BR" sz="2800" dirty="0" err="1">
                <a:solidFill>
                  <a:srgbClr val="D4D4D4"/>
                </a:solidFill>
                <a:latin typeface="Consolas" panose="020B0609020204030204" pitchFamily="49" charset="0"/>
              </a:rPr>
              <a:t>echo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"Meu nome é $</a:t>
            </a:r>
            <a:r>
              <a:rPr lang="pt-BR" sz="2800" dirty="0" err="1">
                <a:solidFill>
                  <a:srgbClr val="CE9178"/>
                </a:solidFill>
                <a:latin typeface="Consolas" panose="020B0609020204030204" pitchFamily="49" charset="0"/>
              </a:rPr>
              <a:t>txt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!"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800" dirty="0">
                <a:solidFill>
                  <a:srgbClr val="569CD6"/>
                </a:solidFill>
                <a:latin typeface="Consolas" panose="020B0609020204030204" pitchFamily="49" charset="0"/>
              </a:rPr>
              <a:t>?&gt;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037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PHP em sua forma mais inicial, pode ser utilizado mesclando-se com o HTML, como por exemplo:</a:t>
            </a:r>
          </a:p>
          <a:p>
            <a:pPr lvl="1"/>
            <a:r>
              <a:rPr lang="pt-BR" dirty="0"/>
              <a:t>&lt;h1&gt;</a:t>
            </a:r>
          </a:p>
          <a:p>
            <a:pPr marL="630936" lvl="2" indent="0">
              <a:buNone/>
            </a:pPr>
            <a:r>
              <a:rPr lang="pt-BR" dirty="0"/>
              <a:t>	&lt;?</a:t>
            </a:r>
            <a:r>
              <a:rPr lang="pt-BR" dirty="0" err="1"/>
              <a:t>php</a:t>
            </a:r>
            <a:r>
              <a:rPr lang="pt-BR" dirty="0"/>
              <a:t> </a:t>
            </a:r>
            <a:r>
              <a:rPr lang="pt-BR" dirty="0" err="1"/>
              <a:t>echo</a:t>
            </a:r>
            <a:r>
              <a:rPr lang="pt-BR" dirty="0"/>
              <a:t> "Meu nome é XXX"; ?&gt;</a:t>
            </a:r>
          </a:p>
          <a:p>
            <a:pPr marL="630936" lvl="2" indent="0">
              <a:buNone/>
            </a:pPr>
            <a:r>
              <a:rPr lang="pt-BR" dirty="0"/>
              <a:t>&lt;/h1&gt;</a:t>
            </a:r>
          </a:p>
          <a:p>
            <a:pPr marL="630936" lvl="2" indent="0">
              <a:buNone/>
            </a:pPr>
            <a:endParaRPr lang="pt-BR" dirty="0"/>
          </a:p>
          <a:p>
            <a:r>
              <a:rPr lang="pt-BR" dirty="0"/>
              <a:t>Assim que esse código for processado pelo interpretador, topo o código entre &lt;?</a:t>
            </a:r>
            <a:r>
              <a:rPr lang="pt-BR" dirty="0" err="1"/>
              <a:t>php</a:t>
            </a:r>
            <a:r>
              <a:rPr lang="pt-BR" dirty="0"/>
              <a:t> ?&gt; é interpretado, substituindo-o pelo resultado da interpretação.</a:t>
            </a:r>
          </a:p>
          <a:p>
            <a:r>
              <a:rPr lang="pt-BR" dirty="0"/>
              <a:t>&lt;h1&gt;Meu nome é XXX&lt;/h1&gt;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</a:t>
            </a:r>
          </a:p>
        </p:txBody>
      </p:sp>
    </p:spTree>
    <p:extLst>
      <p:ext uri="{BB962C8B-B14F-4D97-AF65-F5344CB8AC3E}">
        <p14:creationId xmlns:p14="http://schemas.microsoft.com/office/powerpoint/2010/main" val="4241875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Criar um arquivo denominado </a:t>
            </a:r>
            <a:r>
              <a:rPr lang="pt-BR" b="1" dirty="0"/>
              <a:t>lab3.html</a:t>
            </a:r>
            <a:r>
              <a:rPr lang="pt-BR" dirty="0"/>
              <a:t> no </a:t>
            </a:r>
            <a:r>
              <a:rPr lang="pt-BR" dirty="0" err="1"/>
              <a:t>DocumentRoot</a:t>
            </a:r>
            <a:r>
              <a:rPr lang="pt-BR" dirty="0"/>
              <a:t> contendo o código: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Lab3 – Executar via </a:t>
            </a:r>
            <a:r>
              <a:rPr lang="pt-BR" dirty="0" err="1"/>
              <a:t>WebServer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40CC25-F67D-49B9-80AD-79F51CC1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92" y="2348880"/>
            <a:ext cx="7828408" cy="3876446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10CC17BF-BFFD-42D5-A79E-74DCB87FC2BA}"/>
              </a:ext>
            </a:extLst>
          </p:cNvPr>
          <p:cNvSpPr/>
          <p:nvPr/>
        </p:nvSpPr>
        <p:spPr>
          <a:xfrm rot="10800000">
            <a:off x="4355976" y="5013176"/>
            <a:ext cx="1368152" cy="57607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488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48D7A00-FE63-4F82-9B51-09EA7B306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Passo 1 – Criar um arquivo lab_4.php, contendo o seguinte texto: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Passo 2 - Entendendo os dados retornados do servidor;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04EF223-26BD-4A35-B87A-0E9AD7E0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Lab4 - </a:t>
            </a:r>
            <a:r>
              <a:rPr lang="pt-BR" dirty="0" err="1"/>
              <a:t>phpinfo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B8FCD07-185E-4B4D-8C3B-685CA22A66E5}"/>
              </a:ext>
            </a:extLst>
          </p:cNvPr>
          <p:cNvSpPr/>
          <p:nvPr/>
        </p:nvSpPr>
        <p:spPr>
          <a:xfrm>
            <a:off x="1907704" y="2780928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3200" dirty="0">
                <a:solidFill>
                  <a:srgbClr val="569CD6"/>
                </a:solidFill>
                <a:latin typeface="Consolas" panose="020B0609020204030204" pitchFamily="49" charset="0"/>
              </a:rPr>
              <a:t>&lt;?</a:t>
            </a:r>
            <a:r>
              <a:rPr lang="pt-BR" sz="3200" dirty="0" err="1">
                <a:solidFill>
                  <a:srgbClr val="569CD6"/>
                </a:solidFill>
                <a:latin typeface="Consolas" panose="020B0609020204030204" pitchFamily="49" charset="0"/>
              </a:rPr>
              <a:t>php</a:t>
            </a:r>
            <a:endParaRPr lang="pt-BR" sz="3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3200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pt-BR" sz="3200" dirty="0" err="1">
                <a:solidFill>
                  <a:srgbClr val="D4D4D4"/>
                </a:solidFill>
                <a:latin typeface="Consolas" panose="020B0609020204030204" pitchFamily="49" charset="0"/>
              </a:rPr>
              <a:t>phpinfo</a:t>
            </a:r>
            <a:r>
              <a:rPr lang="pt-BR" sz="32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  <a:br>
              <a:rPr lang="pt-BR" sz="32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sz="3200" dirty="0">
                <a:solidFill>
                  <a:srgbClr val="569CD6"/>
                </a:solidFill>
                <a:latin typeface="Consolas" panose="020B0609020204030204" pitchFamily="49" charset="0"/>
              </a:rPr>
              <a:t>?&gt;</a:t>
            </a:r>
            <a:endParaRPr lang="pt-BR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229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5EED8B9-D2F2-4B25-9289-1303080E0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Execute o passo a passo descrito no documento </a:t>
            </a:r>
            <a:r>
              <a:rPr lang="pt-BR" i="1" dirty="0"/>
              <a:t>Aula 7 - Configurando </a:t>
            </a:r>
            <a:r>
              <a:rPr lang="pt-BR" i="1" dirty="0" smtClean="0"/>
              <a:t>PHP+XDEBUG+VSCODE_com_XAMPP.pdf</a:t>
            </a:r>
            <a:r>
              <a:rPr lang="pt-BR" dirty="0" smtClean="0"/>
              <a:t>;</a:t>
            </a:r>
          </a:p>
          <a:p>
            <a:endParaRPr lang="pt-BR" dirty="0"/>
          </a:p>
          <a:p>
            <a:r>
              <a:rPr lang="pt-BR" dirty="0"/>
              <a:t>Prepare o ambiente básico para poder trabalhar com </a:t>
            </a:r>
            <a:r>
              <a:rPr lang="pt-BR" dirty="0" smtClean="0"/>
              <a:t>PHP</a:t>
            </a:r>
            <a:r>
              <a:rPr lang="pt-BR" dirty="0"/>
              <a:t> </a:t>
            </a:r>
            <a:r>
              <a:rPr lang="pt-BR" dirty="0" smtClean="0"/>
              <a:t>(vamos usar nas aulas seguintes).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Repita os procedimentos no </a:t>
            </a:r>
            <a:r>
              <a:rPr lang="pt-BR" dirty="0"/>
              <a:t>seu computador de </a:t>
            </a:r>
            <a:r>
              <a:rPr lang="pt-BR" dirty="0" smtClean="0"/>
              <a:t>casa.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DEE8158-0E30-441A-86C5-6EC6A9D0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Configurando o XDEBUG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6570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Aula 8 – PHP - Parte 1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669</TotalTime>
  <Words>549</Words>
  <Application>Microsoft Office PowerPoint</Application>
  <PresentationFormat>Apresentação na tela (4:3)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Consolas</vt:lpstr>
      <vt:lpstr>Lucida Sans Unicode</vt:lpstr>
      <vt:lpstr>Verdana</vt:lpstr>
      <vt:lpstr>Wingdings 2</vt:lpstr>
      <vt:lpstr>Wingdings 3</vt:lpstr>
      <vt:lpstr>Concurso</vt:lpstr>
      <vt:lpstr>Programação Web 1 Introdução ao Back End com PHP</vt:lpstr>
      <vt:lpstr>Infra Estrutura</vt:lpstr>
      <vt:lpstr>Infra Estrutura</vt:lpstr>
      <vt:lpstr>Infra Estrutura</vt:lpstr>
      <vt:lpstr>Infra Estrutura</vt:lpstr>
      <vt:lpstr>Infra Estrutura</vt:lpstr>
      <vt:lpstr>Infra Estrutura - WebServer</vt:lpstr>
      <vt:lpstr>Entendendo PHP</vt:lpstr>
      <vt:lpstr>Funcionamento Básico</vt:lpstr>
      <vt:lpstr>Funcionamento Local</vt:lpstr>
      <vt:lpstr>Lab1 – Verificar sistema</vt:lpstr>
      <vt:lpstr>PHP Introdução</vt:lpstr>
      <vt:lpstr>PHP Introdução</vt:lpstr>
      <vt:lpstr>PHP Introdução</vt:lpstr>
      <vt:lpstr>Lab2 – Executar script PHP</vt:lpstr>
      <vt:lpstr>PHP Introdução</vt:lpstr>
      <vt:lpstr>Lab3 – Executar via WebServer</vt:lpstr>
      <vt:lpstr>Lab4 - phpinfo</vt:lpstr>
      <vt:lpstr>Configurando o XDEBUG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User</cp:lastModifiedBy>
  <cp:revision>88</cp:revision>
  <dcterms:created xsi:type="dcterms:W3CDTF">2013-09-10T00:11:01Z</dcterms:created>
  <dcterms:modified xsi:type="dcterms:W3CDTF">2025-09-14T12:56:24Z</dcterms:modified>
</cp:coreProperties>
</file>