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3" r:id="rId3"/>
    <p:sldId id="306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3" r:id="rId13"/>
    <p:sldId id="292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7" r:id="rId26"/>
    <p:sldId id="305" r:id="rId27"/>
    <p:sldId id="282" r:id="rId2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A1D4CEC-13E9-481F-86CA-30C6F37FFFCE}">
          <p14:sldIdLst>
            <p14:sldId id="256"/>
          </p14:sldIdLst>
        </p14:section>
        <p14:section name="HTML - O Básico" id="{4D3D37F0-B17B-4678-B5CB-A6A74F353AF3}">
          <p14:sldIdLst>
            <p14:sldId id="283"/>
            <p14:sldId id="306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HTML - Principais Elementos" id="{09157F9B-F7D1-4447-93EC-73EC60D9C5A9}">
          <p14:sldIdLst>
            <p14:sldId id="293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7"/>
            <p14:sldId id="305"/>
          </p14:sldIdLst>
        </p14:section>
        <p14:section name="Próxima Aula" id="{66AAF6F1-D593-4073-912F-D8F5562F77B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188640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54" y="5993904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3c.br/web-para-todos/cartilhas-de-acessibilidade-na-web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html/html_entities.a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te.com.br/img/image.png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vmedia.com.br/html-semantico-conheca-os-elementos-semanticos-da-html5/38065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5300" dirty="0"/>
              <a:t>Programação Web 1</a:t>
            </a:r>
            <a:br>
              <a:rPr lang="pt-BR" sz="5300" dirty="0"/>
            </a:br>
            <a:r>
              <a:rPr lang="pt-BR" b="0" dirty="0"/>
              <a:t>Revisitando – HTML Parte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292080" y="3611607"/>
            <a:ext cx="3096344" cy="537473"/>
          </a:xfrm>
        </p:spPr>
        <p:txBody>
          <a:bodyPr/>
          <a:lstStyle/>
          <a:p>
            <a:r>
              <a:rPr lang="pt-BR" dirty="0"/>
              <a:t>Cleber Nardelli</a:t>
            </a:r>
          </a:p>
        </p:txBody>
      </p:sp>
    </p:spTree>
    <p:extLst>
      <p:ext uri="{BB962C8B-B14F-4D97-AF65-F5344CB8AC3E}">
        <p14:creationId xmlns:p14="http://schemas.microsoft.com/office/powerpoint/2010/main" val="35752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F0106E8-53F7-4E6C-AE6A-8FC440071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b="1" dirty="0" err="1"/>
              <a:t>Hyper</a:t>
            </a:r>
            <a:r>
              <a:rPr lang="pt-BR" sz="2800" b="1" dirty="0"/>
              <a:t> </a:t>
            </a:r>
            <a:r>
              <a:rPr lang="pt-BR" sz="2800" b="1" dirty="0" err="1"/>
              <a:t>Text</a:t>
            </a:r>
            <a:r>
              <a:rPr lang="pt-BR" sz="2800" b="1" dirty="0"/>
              <a:t> Markup </a:t>
            </a:r>
            <a:r>
              <a:rPr lang="pt-BR" sz="2800" b="1" dirty="0" err="1"/>
              <a:t>Language</a:t>
            </a:r>
            <a:r>
              <a:rPr lang="pt-BR" sz="2800" b="1" dirty="0"/>
              <a:t>.</a:t>
            </a:r>
          </a:p>
          <a:p>
            <a:r>
              <a:rPr lang="pt-BR" sz="2800" dirty="0"/>
              <a:t>Um arquivo </a:t>
            </a:r>
            <a:r>
              <a:rPr lang="pt-BR" sz="2800" dirty="0" err="1"/>
              <a:t>html</a:t>
            </a:r>
            <a:r>
              <a:rPr lang="pt-BR" sz="2800" dirty="0"/>
              <a:t> é um arquivo texto contendo marcações.</a:t>
            </a:r>
          </a:p>
          <a:p>
            <a:r>
              <a:rPr lang="pt-BR" sz="2800" dirty="0"/>
              <a:t>As marcações definem como o browser deve dispor das informações.</a:t>
            </a:r>
          </a:p>
          <a:p>
            <a:r>
              <a:rPr lang="pt-BR" sz="2800" dirty="0"/>
              <a:t>As extensões comuns para HTML são arquivo .</a:t>
            </a:r>
            <a:r>
              <a:rPr lang="pt-BR" sz="2800" dirty="0" err="1"/>
              <a:t>html</a:t>
            </a:r>
            <a:r>
              <a:rPr lang="pt-BR" sz="2800" dirty="0"/>
              <a:t> e .</a:t>
            </a:r>
            <a:r>
              <a:rPr lang="pt-BR" sz="2800" dirty="0" err="1"/>
              <a:t>htm</a:t>
            </a:r>
            <a:r>
              <a:rPr lang="pt-BR" sz="2800" dirty="0"/>
              <a:t> (isso pode ser configurado no servidor para identificar o Mime </a:t>
            </a:r>
            <a:r>
              <a:rPr lang="pt-BR" sz="2800" dirty="0" err="1"/>
              <a:t>Type</a:t>
            </a:r>
            <a:r>
              <a:rPr lang="pt-BR" sz="2800" dirty="0"/>
              <a:t>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D68A294-1E73-40A7-8936-AFFB2B3C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</p:spTree>
    <p:extLst>
      <p:ext uri="{BB962C8B-B14F-4D97-AF65-F5344CB8AC3E}">
        <p14:creationId xmlns:p14="http://schemas.microsoft.com/office/powerpoint/2010/main" val="3856596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E6D750F-09C4-4292-8FA7-03A47F135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r>
              <a:rPr lang="pt-BR" dirty="0"/>
              <a:t>A partir do HTML5 concentrou-se o conteúdo HTML na </a:t>
            </a:r>
            <a:r>
              <a:rPr lang="pt-BR" b="1" dirty="0">
                <a:solidFill>
                  <a:srgbClr val="FF0000"/>
                </a:solidFill>
              </a:rPr>
              <a:t>semântica</a:t>
            </a:r>
            <a:r>
              <a:rPr lang="pt-BR" dirty="0"/>
              <a:t>, deixando toda a parte de apresentação para o CSS.</a:t>
            </a:r>
          </a:p>
          <a:p>
            <a:pPr lvl="1"/>
            <a:r>
              <a:rPr lang="pt-BR" dirty="0"/>
              <a:t>Deve-se focar na estrutura de elementos que melhor descrevem o objeto desejado.</a:t>
            </a:r>
          </a:p>
          <a:p>
            <a:pPr lvl="1"/>
            <a:r>
              <a:rPr lang="pt-BR" dirty="0"/>
              <a:t>Toda questão visão deve ficar a cargo do CSS.</a:t>
            </a:r>
          </a:p>
          <a:p>
            <a:r>
              <a:rPr lang="pt-BR" dirty="0"/>
              <a:t>Motivos:</a:t>
            </a:r>
          </a:p>
          <a:p>
            <a:pPr lvl="1"/>
            <a:r>
              <a:rPr lang="pt-BR" dirty="0">
                <a:hlinkClick r:id="rId2"/>
              </a:rPr>
              <a:t>Acessibilidade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Otimização SEO (</a:t>
            </a:r>
            <a:r>
              <a:rPr lang="pt-BR" dirty="0" err="1"/>
              <a:t>Search</a:t>
            </a:r>
            <a:r>
              <a:rPr lang="pt-BR" dirty="0"/>
              <a:t> </a:t>
            </a:r>
            <a:r>
              <a:rPr lang="pt-BR" dirty="0" err="1"/>
              <a:t>Engine</a:t>
            </a:r>
            <a:r>
              <a:rPr lang="pt-BR" dirty="0"/>
              <a:t> </a:t>
            </a:r>
            <a:r>
              <a:rPr lang="pt-BR" dirty="0" err="1"/>
              <a:t>Optmization</a:t>
            </a:r>
            <a:r>
              <a:rPr lang="pt-BR" dirty="0"/>
              <a:t>);</a:t>
            </a:r>
          </a:p>
          <a:p>
            <a:pPr lvl="1"/>
            <a:r>
              <a:rPr lang="pt-BR" dirty="0"/>
              <a:t>Código mais leve;</a:t>
            </a:r>
          </a:p>
          <a:p>
            <a:pPr lvl="1"/>
            <a:r>
              <a:rPr lang="pt-BR" dirty="0"/>
              <a:t>Manutenção e estilização mais rápidas;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2305E9D-2518-404C-93F2-7D506D29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</p:spTree>
    <p:extLst>
      <p:ext uri="{BB962C8B-B14F-4D97-AF65-F5344CB8AC3E}">
        <p14:creationId xmlns:p14="http://schemas.microsoft.com/office/powerpoint/2010/main" val="116017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EC4106B-30F0-466B-8938-547E60992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Existem vários editores alguns visuais que são nomeados de </a:t>
            </a:r>
            <a:r>
              <a:rPr lang="pt-BR" b="1" dirty="0"/>
              <a:t>WYSIWYG</a:t>
            </a:r>
            <a:r>
              <a:rPr lang="pt-BR" dirty="0"/>
              <a:t> (</a:t>
            </a:r>
            <a:r>
              <a:rPr lang="pt-BR" i="1" dirty="0" err="1"/>
              <a:t>what</a:t>
            </a:r>
            <a:r>
              <a:rPr lang="pt-BR" i="1" dirty="0"/>
              <a:t> </a:t>
            </a:r>
            <a:r>
              <a:rPr lang="pt-BR" i="1" dirty="0" err="1"/>
              <a:t>you</a:t>
            </a:r>
            <a:r>
              <a:rPr lang="pt-BR" i="1" dirty="0"/>
              <a:t> </a:t>
            </a:r>
            <a:r>
              <a:rPr lang="pt-BR" i="1" dirty="0" err="1"/>
              <a:t>see</a:t>
            </a:r>
            <a:r>
              <a:rPr lang="pt-BR" i="1" dirty="0"/>
              <a:t> </a:t>
            </a:r>
            <a:r>
              <a:rPr lang="pt-BR" i="1" dirty="0" err="1"/>
              <a:t>is</a:t>
            </a:r>
            <a:r>
              <a:rPr lang="pt-BR" i="1" dirty="0"/>
              <a:t> </a:t>
            </a:r>
            <a:r>
              <a:rPr lang="pt-BR" i="1" dirty="0" err="1"/>
              <a:t>what</a:t>
            </a:r>
            <a:r>
              <a:rPr lang="pt-BR" i="1" dirty="0"/>
              <a:t> </a:t>
            </a:r>
            <a:r>
              <a:rPr lang="pt-BR" i="1" dirty="0" err="1"/>
              <a:t>you</a:t>
            </a:r>
            <a:r>
              <a:rPr lang="pt-BR" i="1" dirty="0"/>
              <a:t> </a:t>
            </a:r>
            <a:r>
              <a:rPr lang="pt-BR" i="1" dirty="0" err="1"/>
              <a:t>get</a:t>
            </a:r>
            <a:r>
              <a:rPr lang="pt-BR" dirty="0"/>
              <a:t>) e outros somente texto.</a:t>
            </a:r>
          </a:p>
          <a:p>
            <a:endParaRPr lang="pt-BR" dirty="0"/>
          </a:p>
          <a:p>
            <a:r>
              <a:rPr lang="pt-BR" dirty="0"/>
              <a:t>Exemplos:</a:t>
            </a:r>
          </a:p>
          <a:p>
            <a:pPr lvl="1"/>
            <a:r>
              <a:rPr lang="pt-BR" dirty="0"/>
              <a:t>Eclipse/</a:t>
            </a:r>
            <a:r>
              <a:rPr lang="pt-BR" dirty="0" err="1"/>
              <a:t>Aptana</a:t>
            </a:r>
            <a:endParaRPr lang="pt-BR" dirty="0"/>
          </a:p>
          <a:p>
            <a:pPr lvl="1"/>
            <a:r>
              <a:rPr lang="pt-BR" dirty="0"/>
              <a:t>NetBeans</a:t>
            </a:r>
          </a:p>
          <a:p>
            <a:pPr lvl="1"/>
            <a:r>
              <a:rPr lang="pt-BR" dirty="0"/>
              <a:t>Bloco de Notas</a:t>
            </a:r>
          </a:p>
          <a:p>
            <a:pPr lvl="1"/>
            <a:r>
              <a:rPr lang="pt-BR" dirty="0"/>
              <a:t>VS </a:t>
            </a:r>
            <a:r>
              <a:rPr lang="pt-BR" dirty="0" err="1"/>
              <a:t>Code</a:t>
            </a:r>
            <a:endParaRPr lang="pt-BR" dirty="0"/>
          </a:p>
          <a:p>
            <a:pPr lvl="1"/>
            <a:r>
              <a:rPr lang="pt-BR" dirty="0" err="1"/>
              <a:t>InteliJ</a:t>
            </a:r>
            <a:endParaRPr lang="pt-BR" dirty="0"/>
          </a:p>
          <a:p>
            <a:pPr lvl="1"/>
            <a:r>
              <a:rPr lang="pt-BR" dirty="0" err="1"/>
              <a:t>Notepad</a:t>
            </a:r>
            <a:r>
              <a:rPr lang="pt-BR" dirty="0"/>
              <a:t>++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F5FE495-D30A-43FA-8672-88B9779F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</p:spTree>
    <p:extLst>
      <p:ext uri="{BB962C8B-B14F-4D97-AF65-F5344CB8AC3E}">
        <p14:creationId xmlns:p14="http://schemas.microsoft.com/office/powerpoint/2010/main" val="264815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0277F68-5636-4D4E-B6C5-862BC4740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DOCTYPE</a:t>
            </a:r>
            <a:r>
              <a:rPr lang="pt-BR" dirty="0"/>
              <a:t> – Define a forma como o </a:t>
            </a:r>
            <a:r>
              <a:rPr lang="pt-BR" dirty="0" err="1"/>
              <a:t>User</a:t>
            </a:r>
            <a:r>
              <a:rPr lang="pt-BR" dirty="0"/>
              <a:t>-Agent vai lidar com o conteúdo: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META - </a:t>
            </a:r>
            <a:r>
              <a:rPr lang="pt-BR" dirty="0"/>
              <a:t>Usadas por navegadores, motores de busca e outros serviços para entender melhor o conteúdo e o contexto da página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C9D8F8C-EDC4-4DD3-826A-F595A1EF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00FF970-5961-46E9-BE96-B0C3C5B4E2D1}"/>
              </a:ext>
            </a:extLst>
          </p:cNvPr>
          <p:cNvSpPr/>
          <p:nvPr/>
        </p:nvSpPr>
        <p:spPr>
          <a:xfrm>
            <a:off x="1115616" y="2590971"/>
            <a:ext cx="62464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&lt;!DOCTYPE 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 </a:t>
            </a:r>
            <a:r>
              <a:rPr lang="pt-BR" dirty="0" err="1"/>
              <a:t>lang</a:t>
            </a:r>
            <a:r>
              <a:rPr lang="pt-BR" dirty="0"/>
              <a:t>="</a:t>
            </a:r>
            <a:r>
              <a:rPr lang="pt-BR" dirty="0" err="1"/>
              <a:t>en</a:t>
            </a:r>
            <a:r>
              <a:rPr lang="pt-BR" dirty="0"/>
              <a:t>"&gt;</a:t>
            </a:r>
          </a:p>
          <a:p>
            <a:r>
              <a:rPr lang="pt-BR" dirty="0"/>
              <a:t>.......</a:t>
            </a:r>
          </a:p>
          <a:p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12501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5FEF910-8E97-436E-8A1C-D94016A45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Template</a:t>
            </a:r>
            <a:r>
              <a:rPr lang="pt-BR" dirty="0"/>
              <a:t> Básico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0FD8A0F-C5CE-48C8-BE09-37222210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441FD6-CEF6-44EE-B97B-866E39C98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309" y="2348880"/>
            <a:ext cx="7455381" cy="333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49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67B0289-3F12-4054-91DB-9EB534CF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Elementos HTML</a:t>
            </a:r>
          </a:p>
          <a:p>
            <a:pPr lvl="1"/>
            <a:r>
              <a:rPr lang="pt-BR" dirty="0"/>
              <a:t>Documentos </a:t>
            </a:r>
            <a:r>
              <a:rPr lang="pt-BR" dirty="0" err="1"/>
              <a:t>html</a:t>
            </a:r>
            <a:r>
              <a:rPr lang="pt-BR" dirty="0"/>
              <a:t> </a:t>
            </a:r>
            <a:r>
              <a:rPr lang="pt-BR" b="1" dirty="0"/>
              <a:t>devem ser </a:t>
            </a:r>
            <a:r>
              <a:rPr lang="pt-BR" dirty="0"/>
              <a:t>só documentos com elementos </a:t>
            </a:r>
            <a:r>
              <a:rPr lang="pt-BR" dirty="0" err="1"/>
              <a:t>html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E elementos </a:t>
            </a:r>
            <a:r>
              <a:rPr lang="pt-BR" dirty="0" err="1"/>
              <a:t>html</a:t>
            </a:r>
            <a:r>
              <a:rPr lang="pt-BR" dirty="0"/>
              <a:t> são definidos usando marcações.</a:t>
            </a:r>
          </a:p>
          <a:p>
            <a:pPr lvl="1"/>
            <a:r>
              <a:rPr lang="pt-BR" dirty="0"/>
              <a:t>Exemplo: &lt;b&gt;Exemplo&lt;/b&gt;</a:t>
            </a:r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3C67DEB-C847-4479-B668-EC3CBBAA2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  <p:pic>
        <p:nvPicPr>
          <p:cNvPr id="4" name="Google Shape;199;p19" descr="Sintaxe de um elemento HTML">
            <a:extLst>
              <a:ext uri="{FF2B5EF4-FFF2-40B4-BE49-F238E27FC236}">
                <a16:creationId xmlns:a16="http://schemas.microsoft.com/office/drawing/2014/main" id="{DA85B8F8-7051-4736-A39A-1518B1F08B2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99692" y="3645024"/>
            <a:ext cx="5544616" cy="25922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775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AB4A2F8-D52C-4364-8871-A967609A5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Atributos de </a:t>
            </a:r>
            <a:r>
              <a:rPr lang="pt-BR" dirty="0" err="1"/>
              <a:t>Tags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Tags</a:t>
            </a:r>
            <a:r>
              <a:rPr lang="pt-BR" dirty="0"/>
              <a:t> podem ter atributos, que fornecem informações adicionais de como exibir o conteúdo.</a:t>
            </a:r>
          </a:p>
          <a:p>
            <a:pPr lvl="1"/>
            <a:r>
              <a:rPr lang="pt-BR" dirty="0"/>
              <a:t>Exemplo: 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/>
              <a:t>&lt;</a:t>
            </a:r>
            <a:r>
              <a:rPr lang="pt-BR" b="1" dirty="0" err="1"/>
              <a:t>body</a:t>
            </a:r>
            <a:r>
              <a:rPr lang="pt-BR" b="1" dirty="0"/>
              <a:t>&gt;</a:t>
            </a:r>
            <a:r>
              <a:rPr lang="pt-BR" dirty="0"/>
              <a:t> define o corpo do documento </a:t>
            </a:r>
            <a:r>
              <a:rPr lang="pt-BR" dirty="0" err="1"/>
              <a:t>html</a:t>
            </a:r>
            <a:r>
              <a:rPr lang="pt-BR" dirty="0"/>
              <a:t>. Adicionando o atributo </a:t>
            </a:r>
            <a:r>
              <a:rPr lang="pt-BR" dirty="0" err="1"/>
              <a:t>bgcolor</a:t>
            </a:r>
            <a:r>
              <a:rPr lang="pt-BR" dirty="0"/>
              <a:t> podemos definir a cor de fundo do conteúdo para verde como segue:</a:t>
            </a:r>
          </a:p>
          <a:p>
            <a:pPr lvl="1"/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...&lt;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bgcolor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=“</a:t>
            </a:r>
            <a:r>
              <a:rPr lang="pt-B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”&gt;...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73802DB-D255-4FB0-B60C-866404E0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</p:spTree>
    <p:extLst>
      <p:ext uri="{BB962C8B-B14F-4D97-AF65-F5344CB8AC3E}">
        <p14:creationId xmlns:p14="http://schemas.microsoft.com/office/powerpoint/2010/main" val="3056201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CB94CFE-14A6-4631-9800-709A9D566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4056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Sintaxe Genérica: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Atenção: usar sempre minúsculas na escrita das marcas (</a:t>
            </a:r>
            <a:r>
              <a:rPr lang="pt-BR" dirty="0" err="1"/>
              <a:t>xhtml</a:t>
            </a:r>
            <a:r>
              <a:rPr lang="pt-BR" dirty="0"/>
              <a:t>).</a:t>
            </a:r>
          </a:p>
          <a:p>
            <a:r>
              <a:rPr lang="pt-BR" dirty="0"/>
              <a:t>Os atributos podem ser opcionais ou obrigatórios.</a:t>
            </a:r>
          </a:p>
          <a:p>
            <a:r>
              <a:rPr lang="pt-BR" dirty="0"/>
              <a:t>Exemplos:</a:t>
            </a:r>
          </a:p>
          <a:p>
            <a:pPr lvl="1"/>
            <a:r>
              <a:rPr lang="pt-BR" dirty="0">
                <a:solidFill>
                  <a:srgbClr val="00B0F0"/>
                </a:solidFill>
              </a:rPr>
              <a:t>&lt;</a:t>
            </a:r>
            <a:r>
              <a:rPr lang="pt-BR" dirty="0" err="1">
                <a:solidFill>
                  <a:srgbClr val="00B0F0"/>
                </a:solidFill>
              </a:rPr>
              <a:t>title</a:t>
            </a:r>
            <a:r>
              <a:rPr lang="pt-BR" dirty="0">
                <a:solidFill>
                  <a:srgbClr val="00B0F0"/>
                </a:solidFill>
              </a:rPr>
              <a:t>&gt;</a:t>
            </a:r>
            <a:r>
              <a:rPr lang="pt-BR" dirty="0"/>
              <a:t>texto do título</a:t>
            </a:r>
            <a:r>
              <a:rPr lang="pt-BR" dirty="0">
                <a:solidFill>
                  <a:srgbClr val="00B0F0"/>
                </a:solidFill>
              </a:rPr>
              <a:t>&lt;/</a:t>
            </a:r>
            <a:r>
              <a:rPr lang="pt-BR" dirty="0" err="1">
                <a:solidFill>
                  <a:srgbClr val="00B0F0"/>
                </a:solidFill>
              </a:rPr>
              <a:t>title</a:t>
            </a:r>
            <a:r>
              <a:rPr lang="pt-BR" dirty="0">
                <a:solidFill>
                  <a:srgbClr val="00B0F0"/>
                </a:solidFill>
              </a:rPr>
              <a:t>&gt;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&lt;p </a:t>
            </a:r>
            <a:r>
              <a:rPr lang="pt-BR" dirty="0" err="1">
                <a:solidFill>
                  <a:srgbClr val="FF0000"/>
                </a:solidFill>
              </a:rPr>
              <a:t>align</a:t>
            </a:r>
            <a:r>
              <a:rPr lang="pt-BR" dirty="0">
                <a:solidFill>
                  <a:srgbClr val="FF0000"/>
                </a:solidFill>
              </a:rPr>
              <a:t>="</a:t>
            </a:r>
            <a:r>
              <a:rPr lang="pt-BR" dirty="0" err="1">
                <a:solidFill>
                  <a:srgbClr val="FF0000"/>
                </a:solidFill>
              </a:rPr>
              <a:t>right</a:t>
            </a:r>
            <a:r>
              <a:rPr lang="pt-BR" dirty="0">
                <a:solidFill>
                  <a:srgbClr val="FF0000"/>
                </a:solidFill>
              </a:rPr>
              <a:t>"&gt;</a:t>
            </a:r>
            <a:r>
              <a:rPr lang="pt-BR" dirty="0"/>
              <a:t>texto do parágrafo</a:t>
            </a:r>
            <a:r>
              <a:rPr lang="pt-BR" dirty="0">
                <a:solidFill>
                  <a:srgbClr val="FF0000"/>
                </a:solidFill>
              </a:rPr>
              <a:t>&lt;/p&gt;</a:t>
            </a:r>
          </a:p>
          <a:p>
            <a:pPr lvl="1"/>
            <a:r>
              <a:rPr lang="pt-BR" dirty="0">
                <a:solidFill>
                  <a:srgbClr val="00B0F0"/>
                </a:solidFill>
              </a:rPr>
              <a:t>&lt;</a:t>
            </a:r>
            <a:r>
              <a:rPr lang="pt-BR" dirty="0" err="1">
                <a:solidFill>
                  <a:srgbClr val="00B0F0"/>
                </a:solidFill>
              </a:rPr>
              <a:t>br</a:t>
            </a:r>
            <a:r>
              <a:rPr lang="pt-BR" dirty="0">
                <a:solidFill>
                  <a:srgbClr val="00B0F0"/>
                </a:solidFill>
              </a:rPr>
              <a:t>&gt; </a:t>
            </a:r>
            <a:r>
              <a:rPr lang="pt-BR" dirty="0"/>
              <a:t>- quebra de linha, </a:t>
            </a:r>
            <a:r>
              <a:rPr lang="pt-BR" b="1" i="1" u="sng" dirty="0"/>
              <a:t>elemento vazio</a:t>
            </a:r>
            <a:r>
              <a:rPr lang="pt-BR" dirty="0"/>
              <a:t>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&lt;p </a:t>
            </a:r>
            <a:r>
              <a:rPr lang="pt-BR" dirty="0" err="1">
                <a:solidFill>
                  <a:srgbClr val="FF0000"/>
                </a:solidFill>
              </a:rPr>
              <a:t>lang</a:t>
            </a:r>
            <a:r>
              <a:rPr lang="pt-BR" dirty="0">
                <a:solidFill>
                  <a:srgbClr val="FF0000"/>
                </a:solidFill>
              </a:rPr>
              <a:t>="</a:t>
            </a:r>
            <a:r>
              <a:rPr lang="pt-BR" dirty="0" err="1">
                <a:solidFill>
                  <a:srgbClr val="FF0000"/>
                </a:solidFill>
              </a:rPr>
              <a:t>pt</a:t>
            </a:r>
            <a:r>
              <a:rPr lang="pt-BR" dirty="0">
                <a:solidFill>
                  <a:srgbClr val="FF0000"/>
                </a:solidFill>
              </a:rPr>
              <a:t>" </a:t>
            </a:r>
            <a:r>
              <a:rPr lang="pt-BR" dirty="0" err="1">
                <a:solidFill>
                  <a:srgbClr val="FF0000"/>
                </a:solidFill>
              </a:rPr>
              <a:t>align</a:t>
            </a:r>
            <a:r>
              <a:rPr lang="pt-BR" dirty="0">
                <a:solidFill>
                  <a:srgbClr val="FF0000"/>
                </a:solidFill>
              </a:rPr>
              <a:t>="</a:t>
            </a:r>
            <a:r>
              <a:rPr lang="pt-BR" dirty="0" err="1">
                <a:solidFill>
                  <a:srgbClr val="FF0000"/>
                </a:solidFill>
              </a:rPr>
              <a:t>left</a:t>
            </a:r>
            <a:r>
              <a:rPr lang="pt-BR" dirty="0">
                <a:solidFill>
                  <a:srgbClr val="FF0000"/>
                </a:solidFill>
              </a:rPr>
              <a:t>"&gt;</a:t>
            </a:r>
            <a:r>
              <a:rPr lang="pt-BR" dirty="0"/>
              <a:t>parágrafo em português alinhado à esquerda</a:t>
            </a:r>
            <a:r>
              <a:rPr lang="pt-BR" dirty="0">
                <a:solidFill>
                  <a:srgbClr val="FF0000"/>
                </a:solidFill>
              </a:rPr>
              <a:t>&lt;/p&gt;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A594632-82F5-4BA8-BEF2-A76C7A64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686981-7E48-4A5A-80E3-13F6D51FBF2D}"/>
              </a:ext>
            </a:extLst>
          </p:cNvPr>
          <p:cNvSpPr/>
          <p:nvPr/>
        </p:nvSpPr>
        <p:spPr>
          <a:xfrm>
            <a:off x="1187624" y="1916832"/>
            <a:ext cx="72728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pt-BR" sz="2400" b="1" dirty="0">
                <a:solidFill>
                  <a:srgbClr val="38761D"/>
                </a:solidFill>
              </a:rPr>
              <a:t>&lt;</a:t>
            </a:r>
            <a:r>
              <a:rPr lang="pt-BR" sz="2400" dirty="0">
                <a:solidFill>
                  <a:srgbClr val="0000FF"/>
                </a:solidFill>
              </a:rPr>
              <a:t>elemento</a:t>
            </a:r>
            <a:r>
              <a:rPr lang="pt-BR" sz="2400" dirty="0"/>
              <a:t> </a:t>
            </a:r>
            <a:r>
              <a:rPr lang="pt-BR" sz="2400" dirty="0">
                <a:solidFill>
                  <a:srgbClr val="FF0000"/>
                </a:solidFill>
              </a:rPr>
              <a:t>atributo1="valor1" data-valor=”10” atributo2="valor2"</a:t>
            </a:r>
            <a:r>
              <a:rPr lang="pt-BR" sz="2400" b="1" dirty="0">
                <a:solidFill>
                  <a:srgbClr val="38761D"/>
                </a:solidFill>
              </a:rPr>
              <a:t>&gt;</a:t>
            </a:r>
            <a:r>
              <a:rPr lang="pt-BR" sz="2400" dirty="0">
                <a:solidFill>
                  <a:srgbClr val="F1C232"/>
                </a:solidFill>
              </a:rPr>
              <a:t>...conteúdo...</a:t>
            </a:r>
            <a:r>
              <a:rPr lang="pt-BR" sz="2400" b="1" dirty="0">
                <a:solidFill>
                  <a:srgbClr val="38761D"/>
                </a:solidFill>
              </a:rPr>
              <a:t>&lt;/</a:t>
            </a:r>
            <a:r>
              <a:rPr lang="pt-BR" sz="2400" dirty="0">
                <a:solidFill>
                  <a:srgbClr val="0000FF"/>
                </a:solidFill>
              </a:rPr>
              <a:t>elemento</a:t>
            </a:r>
            <a:r>
              <a:rPr lang="pt-BR" sz="2400" b="1" dirty="0">
                <a:solidFill>
                  <a:srgbClr val="38761D"/>
                </a:solidFill>
              </a:rPr>
              <a:t>&gt;</a:t>
            </a:r>
            <a:endParaRPr lang="pt-BR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97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84031A7-ABB8-453E-A00E-35E6AB35A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686800" cy="4525963"/>
          </a:xfrm>
        </p:spPr>
        <p:txBody>
          <a:bodyPr>
            <a:normAutofit/>
          </a:bodyPr>
          <a:lstStyle/>
          <a:p>
            <a:r>
              <a:rPr lang="pt-BR" sz="2800" dirty="0"/>
              <a:t>Hierarquia de Elementos:</a:t>
            </a:r>
          </a:p>
          <a:p>
            <a:pPr lvl="1"/>
            <a:r>
              <a:rPr lang="pt-BR" sz="2400" dirty="0"/>
              <a:t>Os elementos podem ser encaixados hierarquicamente, mas não intercalados.</a:t>
            </a:r>
          </a:p>
          <a:p>
            <a:pPr lvl="1"/>
            <a:r>
              <a:rPr lang="pt-BR" sz="2400" b="1" dirty="0">
                <a:solidFill>
                  <a:srgbClr val="00B0F0"/>
                </a:solidFill>
              </a:rPr>
              <a:t>Correto:</a:t>
            </a:r>
          </a:p>
          <a:p>
            <a:pPr lvl="2"/>
            <a:r>
              <a:rPr lang="pt-BR" sz="2400" dirty="0">
                <a:solidFill>
                  <a:srgbClr val="00B0F0"/>
                </a:solidFill>
              </a:rPr>
              <a:t>&lt;p&gt;</a:t>
            </a:r>
            <a:r>
              <a:rPr lang="pt-BR" sz="2400" dirty="0"/>
              <a:t>Parágrafo com texto </a:t>
            </a:r>
            <a:r>
              <a:rPr lang="pt-BR" sz="2400" dirty="0">
                <a:solidFill>
                  <a:srgbClr val="00B0F0"/>
                </a:solidFill>
              </a:rPr>
              <a:t>&lt;</a:t>
            </a:r>
            <a:r>
              <a:rPr lang="pt-BR" sz="2400" dirty="0" err="1">
                <a:solidFill>
                  <a:srgbClr val="00B0F0"/>
                </a:solidFill>
              </a:rPr>
              <a:t>strong</a:t>
            </a:r>
            <a:r>
              <a:rPr lang="pt-BR" sz="2400" dirty="0">
                <a:solidFill>
                  <a:srgbClr val="00B0F0"/>
                </a:solidFill>
              </a:rPr>
              <a:t>&gt;</a:t>
            </a:r>
            <a:r>
              <a:rPr lang="pt-BR" sz="2400" dirty="0"/>
              <a:t>destacado</a:t>
            </a:r>
            <a:r>
              <a:rPr lang="pt-BR" sz="2400" dirty="0">
                <a:solidFill>
                  <a:srgbClr val="00B0F0"/>
                </a:solidFill>
              </a:rPr>
              <a:t>&lt;/</a:t>
            </a:r>
            <a:r>
              <a:rPr lang="pt-BR" sz="2400" dirty="0" err="1">
                <a:solidFill>
                  <a:srgbClr val="00B0F0"/>
                </a:solidFill>
              </a:rPr>
              <a:t>strong</a:t>
            </a:r>
            <a:r>
              <a:rPr lang="pt-BR" sz="2400" dirty="0">
                <a:solidFill>
                  <a:srgbClr val="00B0F0"/>
                </a:solidFill>
              </a:rPr>
              <a:t>&gt;</a:t>
            </a:r>
            <a:r>
              <a:rPr lang="pt-BR" sz="2400" dirty="0"/>
              <a:t> e texto normal.</a:t>
            </a:r>
            <a:r>
              <a:rPr lang="pt-BR" sz="2400" dirty="0">
                <a:solidFill>
                  <a:srgbClr val="00B0F0"/>
                </a:solidFill>
              </a:rPr>
              <a:t>&lt;/p&gt;</a:t>
            </a:r>
          </a:p>
          <a:p>
            <a:pPr lvl="1"/>
            <a:r>
              <a:rPr lang="pt-BR" sz="2400" b="1" dirty="0">
                <a:solidFill>
                  <a:srgbClr val="FF0000"/>
                </a:solidFill>
              </a:rPr>
              <a:t>Errado:</a:t>
            </a:r>
          </a:p>
          <a:p>
            <a:pPr lvl="2"/>
            <a:r>
              <a:rPr lang="pt-BR" sz="2400" strike="sngStrike" dirty="0"/>
              <a:t>&lt;p&gt;Parágrafo com texto &lt;</a:t>
            </a:r>
            <a:r>
              <a:rPr lang="pt-BR" sz="2400" strike="sngStrike" dirty="0" err="1"/>
              <a:t>strong</a:t>
            </a:r>
            <a:r>
              <a:rPr lang="pt-BR" sz="2400" strike="sngStrike" dirty="0"/>
              <a:t>&gt;destacado&lt;/p&gt; e texto normal.&lt;/</a:t>
            </a:r>
            <a:r>
              <a:rPr lang="pt-BR" sz="2400" strike="sngStrike" dirty="0" err="1"/>
              <a:t>strong</a:t>
            </a:r>
            <a:r>
              <a:rPr lang="pt-BR" sz="2400" strike="sngStrike" dirty="0"/>
              <a:t>&gt;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DE33D5E-3735-4A25-BB32-73749E09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</p:spTree>
    <p:extLst>
      <p:ext uri="{BB962C8B-B14F-4D97-AF65-F5344CB8AC3E}">
        <p14:creationId xmlns:p14="http://schemas.microsoft.com/office/powerpoint/2010/main" val="242116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4D8964C-EFE6-41CE-BEBA-4DB39FF88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Prática 1</a:t>
            </a:r>
            <a:r>
              <a:rPr lang="pt-BR" dirty="0"/>
              <a:t>: Crie um arquivo HTML contendo:</a:t>
            </a:r>
          </a:p>
          <a:p>
            <a:pPr lvl="1"/>
            <a:r>
              <a:rPr lang="pt-BR" dirty="0"/>
              <a:t>A estrutura básica (</a:t>
            </a:r>
            <a:r>
              <a:rPr lang="pt-BR" dirty="0" err="1"/>
              <a:t>template</a:t>
            </a:r>
            <a:r>
              <a:rPr lang="pt-BR" dirty="0"/>
              <a:t>) (incluindo DOCTYPE e META)</a:t>
            </a:r>
          </a:p>
          <a:p>
            <a:pPr lvl="1"/>
            <a:r>
              <a:rPr lang="pt-BR" dirty="0"/>
              <a:t>Incluir 3 elementos em uma estrutura hierárquica individual;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5A6E32E-2048-4A41-B363-E423F760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básico</a:t>
            </a:r>
          </a:p>
        </p:txBody>
      </p:sp>
    </p:spTree>
    <p:extLst>
      <p:ext uri="{BB962C8B-B14F-4D97-AF65-F5344CB8AC3E}">
        <p14:creationId xmlns:p14="http://schemas.microsoft.com/office/powerpoint/2010/main" val="3378394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FD73202-A85D-4F29-89EF-1EBCC0F1D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Comentários</a:t>
            </a:r>
            <a:r>
              <a:rPr lang="pt-BR" dirty="0"/>
              <a:t>: Os comentários são importantes pois ajudam a documentar o código/script;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 err="1"/>
              <a:t>Identação</a:t>
            </a:r>
            <a:r>
              <a:rPr lang="pt-BR" dirty="0"/>
              <a:t>: Ajuda na manutenção do código escrito.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FF333BF-AAE3-4E4B-83C7-63B6E36CF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A1955D-C824-41F6-950A-F7B01FE853A4}"/>
              </a:ext>
            </a:extLst>
          </p:cNvPr>
          <p:cNvSpPr/>
          <p:nvPr/>
        </p:nvSpPr>
        <p:spPr>
          <a:xfrm>
            <a:off x="1907704" y="292494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&lt;!-- ESTE É UM BLOCO DE COMENTÁRIO DENTRO DE UM CONTEÚDO HTML --&gt;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4C6F16-3536-4002-B899-AD70569D7941}"/>
              </a:ext>
            </a:extLst>
          </p:cNvPr>
          <p:cNvSpPr/>
          <p:nvPr/>
        </p:nvSpPr>
        <p:spPr>
          <a:xfrm>
            <a:off x="1907704" y="4653136"/>
            <a:ext cx="54726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&lt;!-- OBS: Mais detalhes sobre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identação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e comentários podem ser obtidos em: https://studio.code.org/docs/concepts/html/formatting-html/ --&gt;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148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075E549-CE2C-4533-B23C-538FFA8FE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pt-BR" dirty="0" err="1"/>
              <a:t>Tags</a:t>
            </a:r>
            <a:r>
              <a:rPr lang="pt-BR" dirty="0"/>
              <a:t> de Textos</a:t>
            </a:r>
          </a:p>
          <a:p>
            <a:pPr marL="393192" lvl="1" indent="0">
              <a:buNone/>
            </a:pP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2C75501-AAAC-4014-92B9-6FCDD1B7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BD2A471-587C-48BE-B9BD-1F8540F90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157120"/>
              </p:ext>
            </p:extLst>
          </p:nvPr>
        </p:nvGraphicFramePr>
        <p:xfrm>
          <a:off x="672005" y="1916832"/>
          <a:ext cx="7992888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Tag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&lt;h1&gt;-&lt;h6&gt;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(Header) Tem a função de níveis de título para o texto (</a:t>
                      </a:r>
                      <a:r>
                        <a:rPr lang="pt-BR" i="1" dirty="0"/>
                        <a:t>H1 mais importante</a:t>
                      </a:r>
                      <a:r>
                        <a:rPr lang="pt-B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&lt;p&gt;&lt;/p&gt;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(</a:t>
                      </a:r>
                      <a:r>
                        <a:rPr lang="pt-BR" dirty="0" err="1"/>
                        <a:t>Paragraph</a:t>
                      </a:r>
                      <a:r>
                        <a:rPr lang="pt-BR" dirty="0"/>
                        <a:t>) São usadas para determinar parágrafos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br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(Break) Quebra de Linha. Não possui fechamento.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&lt;b&gt;&lt;/b&gt;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(</a:t>
                      </a:r>
                      <a:r>
                        <a:rPr lang="pt-BR" dirty="0" err="1"/>
                        <a:t>Bold</a:t>
                      </a:r>
                      <a:r>
                        <a:rPr lang="pt-BR" dirty="0"/>
                        <a:t>) Aplica o estilo negrito no conteúdo.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2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strong</a:t>
                      </a:r>
                      <a:r>
                        <a:rPr lang="pt-BR" dirty="0"/>
                        <a:t>&gt;&lt;/</a:t>
                      </a:r>
                      <a:r>
                        <a:rPr lang="pt-BR" dirty="0" err="1"/>
                        <a:t>strong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Também exibe o texto e negrito.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1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&lt;i&gt;&lt;/i&gt;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(</a:t>
                      </a:r>
                      <a:r>
                        <a:rPr lang="pt-BR" dirty="0" err="1"/>
                        <a:t>Italic</a:t>
                      </a:r>
                      <a:r>
                        <a:rPr lang="pt-BR" dirty="0"/>
                        <a:t>) Exibe o texto em itálico.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67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font</a:t>
                      </a:r>
                      <a:r>
                        <a:rPr lang="pt-BR" dirty="0"/>
                        <a:t>&gt;&lt;/</a:t>
                      </a:r>
                      <a:r>
                        <a:rPr lang="pt-BR" dirty="0" err="1"/>
                        <a:t>font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Usada para porções de texto. Possui diversos atributos, como: Lista de Fontes Alternativas.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94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&lt;em&gt;&lt;/em&gt;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Ênfase no texto em destaque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33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369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A18088B8-3331-4C53-BBD3-BF7C5C778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Outras </a:t>
            </a:r>
            <a:r>
              <a:rPr lang="pt-BR" b="1" dirty="0" err="1"/>
              <a:t>tags</a:t>
            </a:r>
            <a:r>
              <a:rPr lang="pt-BR" dirty="0"/>
              <a:t> para formatação de textos: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D5AD569-6FF1-4849-9427-314117C3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3FBB4A4B-8B0F-4A99-97F2-8F090618B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116229"/>
              </p:ext>
            </p:extLst>
          </p:nvPr>
        </p:nvGraphicFramePr>
        <p:xfrm>
          <a:off x="611560" y="2060848"/>
          <a:ext cx="7992888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Tag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&lt;big&gt;&lt;/big&gt;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Aplica um tamanho de letra Maior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small</a:t>
                      </a:r>
                      <a:r>
                        <a:rPr lang="pt-BR" dirty="0"/>
                        <a:t>&gt;&lt;/</a:t>
                      </a:r>
                      <a:r>
                        <a:rPr lang="pt-BR" dirty="0" err="1"/>
                        <a:t>small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Aplica um tamanho de letra Menor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&lt;sub&gt;&lt;/sub&gt;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Subscrito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sup</a:t>
                      </a:r>
                      <a:r>
                        <a:rPr lang="pt-BR" dirty="0"/>
                        <a:t>&gt;&lt;/</a:t>
                      </a:r>
                      <a:r>
                        <a:rPr lang="pt-BR" dirty="0" err="1"/>
                        <a:t>sup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Superscrito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2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pre</a:t>
                      </a:r>
                      <a:r>
                        <a:rPr lang="pt-BR" dirty="0"/>
                        <a:t>&gt;&lt;/</a:t>
                      </a:r>
                      <a:r>
                        <a:rPr lang="pt-BR" dirty="0" err="1"/>
                        <a:t>pre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Texto pré-formatado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1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blockquote</a:t>
                      </a:r>
                      <a:r>
                        <a:rPr lang="pt-BR" dirty="0"/>
                        <a:t>&gt;&lt;/</a:t>
                      </a:r>
                      <a:r>
                        <a:rPr lang="pt-BR" dirty="0" err="1"/>
                        <a:t>blockquote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Recuo Textual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67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ins</a:t>
                      </a:r>
                      <a:r>
                        <a:rPr lang="pt-BR" dirty="0"/>
                        <a:t>&gt;&lt;/</a:t>
                      </a:r>
                      <a:r>
                        <a:rPr lang="pt-BR" dirty="0" err="1"/>
                        <a:t>ins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Texto Inserido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94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  <a:r>
                        <a:rPr lang="pt-BR" dirty="0" err="1"/>
                        <a:t>del</a:t>
                      </a:r>
                      <a:r>
                        <a:rPr lang="pt-BR" dirty="0"/>
                        <a:t>&gt;&lt;/</a:t>
                      </a:r>
                      <a:r>
                        <a:rPr lang="pt-BR" dirty="0" err="1"/>
                        <a:t>del</a:t>
                      </a:r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Texto Excluído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985239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4E2FD30C-FEC6-4BA0-828B-133280EC972C}"/>
              </a:ext>
            </a:extLst>
          </p:cNvPr>
          <p:cNvSpPr/>
          <p:nvPr/>
        </p:nvSpPr>
        <p:spPr>
          <a:xfrm>
            <a:off x="2123728" y="5924002"/>
            <a:ext cx="5904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rgbClr val="FF0000"/>
                </a:solidFill>
              </a:rPr>
              <a:t>Essas </a:t>
            </a:r>
            <a:r>
              <a:rPr lang="pt-BR" dirty="0" err="1">
                <a:solidFill>
                  <a:srgbClr val="FF0000"/>
                </a:solidFill>
              </a:rPr>
              <a:t>TAGs</a:t>
            </a:r>
            <a:r>
              <a:rPr lang="pt-BR" dirty="0">
                <a:solidFill>
                  <a:srgbClr val="FF0000"/>
                </a:solidFill>
              </a:rPr>
              <a:t> são importantes e usadas por leitores de tela, sites de busca, etc. </a:t>
            </a:r>
          </a:p>
        </p:txBody>
      </p:sp>
    </p:spTree>
    <p:extLst>
      <p:ext uri="{BB962C8B-B14F-4D97-AF65-F5344CB8AC3E}">
        <p14:creationId xmlns:p14="http://schemas.microsoft.com/office/powerpoint/2010/main" val="3866403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DD96B51-A6AC-49DE-A350-FF06DBD3F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Representação de Caracteres Especiais</a:t>
            </a:r>
            <a:r>
              <a:rPr lang="pt-BR" dirty="0"/>
              <a:t>: Também conhecidos como </a:t>
            </a:r>
            <a:r>
              <a:rPr lang="pt-BR" b="1" dirty="0"/>
              <a:t>HTML </a:t>
            </a:r>
            <a:r>
              <a:rPr lang="pt-BR" b="1" dirty="0" err="1"/>
              <a:t>Entityes</a:t>
            </a:r>
            <a:endParaRPr lang="pt-BR" b="1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26D5AAB-57C9-42DA-9C69-E7A3B683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75B5FDFD-4E89-4A80-BFA5-20CE7534B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989765"/>
              </p:ext>
            </p:extLst>
          </p:nvPr>
        </p:nvGraphicFramePr>
        <p:xfrm>
          <a:off x="691276" y="2492896"/>
          <a:ext cx="799288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Catactere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Representação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@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&amp;#64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&amp;#43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&amp;#175; </a:t>
                      </a:r>
                      <a:r>
                        <a:rPr lang="en-US" dirty="0" err="1"/>
                        <a:t>ou</a:t>
                      </a:r>
                      <a:r>
                        <a:rPr lang="en-US" dirty="0"/>
                        <a:t> &amp;reg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&amp;#60; </a:t>
                      </a:r>
                      <a:r>
                        <a:rPr lang="en-US" dirty="0" err="1"/>
                        <a:t>ou</a:t>
                      </a:r>
                      <a:r>
                        <a:rPr lang="en-US" dirty="0"/>
                        <a:t> &amp;</a:t>
                      </a:r>
                      <a:r>
                        <a:rPr lang="en-US" dirty="0" err="1"/>
                        <a:t>lt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2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&amp;#61; </a:t>
                      </a:r>
                      <a:r>
                        <a:rPr lang="en-US" dirty="0" err="1"/>
                        <a:t>ou</a:t>
                      </a:r>
                      <a:r>
                        <a:rPr lang="en-US" dirty="0"/>
                        <a:t> &amp;eq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1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&amp;#62; </a:t>
                      </a:r>
                      <a:r>
                        <a:rPr lang="en-US" dirty="0" err="1"/>
                        <a:t>ou</a:t>
                      </a:r>
                      <a:r>
                        <a:rPr lang="en-US" dirty="0"/>
                        <a:t> &amp;</a:t>
                      </a:r>
                      <a:r>
                        <a:rPr lang="en-US" dirty="0" err="1"/>
                        <a:t>gt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67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Espaço Branco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</a:t>
                      </a:r>
                      <a:r>
                        <a:rPr lang="en-US" dirty="0" err="1"/>
                        <a:t>nbsp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94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Ç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</a:t>
                      </a:r>
                      <a:r>
                        <a:rPr lang="en-US" dirty="0" err="1"/>
                        <a:t>ccedil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98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</a:t>
                      </a:r>
                      <a:r>
                        <a:rPr lang="en-US" dirty="0" err="1"/>
                        <a:t>atilde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899273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0A2BBD49-D125-4581-B0F6-3724A5CD0B09}"/>
              </a:ext>
            </a:extLst>
          </p:cNvPr>
          <p:cNvSpPr/>
          <p:nvPr/>
        </p:nvSpPr>
        <p:spPr>
          <a:xfrm>
            <a:off x="1979712" y="6343725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chemeClr val="hlink"/>
                </a:solidFill>
                <a:hlinkClick r:id="rId2"/>
              </a:rPr>
              <a:t>http://www.w3schools.com/html/html_entities.asp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5279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E7AA003-C6DC-48FD-AA8E-423C47A9C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Hyperlinks</a:t>
            </a:r>
            <a:r>
              <a:rPr lang="pt-BR" dirty="0"/>
              <a:t>: </a:t>
            </a:r>
            <a:r>
              <a:rPr lang="en-US" dirty="0" err="1"/>
              <a:t>Usado</a:t>
            </a:r>
            <a:r>
              <a:rPr lang="en-US" dirty="0"/>
              <a:t> para </a:t>
            </a:r>
            <a:r>
              <a:rPr lang="en-US" dirty="0" err="1"/>
              <a:t>referenciar</a:t>
            </a:r>
            <a:r>
              <a:rPr lang="en-US" dirty="0"/>
              <a:t> a outros </a:t>
            </a:r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páginas</a:t>
            </a:r>
            <a:r>
              <a:rPr lang="en-US" dirty="0"/>
              <a:t> HTML;</a:t>
            </a:r>
          </a:p>
          <a:p>
            <a:endParaRPr lang="en-US" dirty="0"/>
          </a:p>
          <a:p>
            <a:pPr lvl="1"/>
            <a:r>
              <a:rPr lang="en-US" dirty="0"/>
              <a:t>TAG - </a:t>
            </a:r>
            <a:r>
              <a:rPr lang="en-US" b="1" dirty="0"/>
              <a:t>&lt;a </a:t>
            </a:r>
            <a:r>
              <a:rPr lang="en-US" b="1" dirty="0" err="1"/>
              <a:t>href</a:t>
            </a:r>
            <a:r>
              <a:rPr lang="en-US" b="1" dirty="0"/>
              <a:t>=</a:t>
            </a:r>
            <a:r>
              <a:rPr lang="pt-BR" b="1" dirty="0"/>
              <a:t>“” </a:t>
            </a:r>
            <a:r>
              <a:rPr lang="pt-BR" dirty="0"/>
              <a:t>target=“”</a:t>
            </a:r>
            <a:r>
              <a:rPr lang="en-US" b="1" dirty="0"/>
              <a:t>&gt; &lt;/a&gt;</a:t>
            </a:r>
            <a:r>
              <a:rPr lang="en-US" dirty="0"/>
              <a:t> (Anchor)</a:t>
            </a:r>
          </a:p>
          <a:p>
            <a:pPr lvl="1"/>
            <a:r>
              <a:rPr lang="pt-BR" dirty="0"/>
              <a:t>O atributo </a:t>
            </a:r>
            <a:r>
              <a:rPr lang="pt-BR" b="1" dirty="0" err="1"/>
              <a:t>href</a:t>
            </a:r>
            <a:r>
              <a:rPr lang="pt-BR" b="1" dirty="0"/>
              <a:t>=“</a:t>
            </a:r>
            <a:r>
              <a:rPr lang="pt-BR" b="1" dirty="0" err="1"/>
              <a:t>url</a:t>
            </a:r>
            <a:r>
              <a:rPr lang="pt-BR" b="1" dirty="0"/>
              <a:t>”</a:t>
            </a:r>
            <a:r>
              <a:rPr lang="pt-BR" dirty="0"/>
              <a:t> serve para apontar qual o endereço que deve ser acessado quando o link for pressionado;</a:t>
            </a:r>
          </a:p>
          <a:p>
            <a:pPr lvl="1"/>
            <a:r>
              <a:rPr lang="en-US" dirty="0"/>
              <a:t>Com o </a:t>
            </a:r>
            <a:r>
              <a:rPr lang="en-US" dirty="0" err="1"/>
              <a:t>uso</a:t>
            </a:r>
            <a:r>
              <a:rPr lang="en-US" dirty="0"/>
              <a:t> do </a:t>
            </a:r>
            <a:r>
              <a:rPr lang="en-US" dirty="0" err="1"/>
              <a:t>atributo</a:t>
            </a:r>
            <a:r>
              <a:rPr lang="en-US" dirty="0"/>
              <a:t> </a:t>
            </a:r>
            <a:r>
              <a:rPr lang="en-US" b="1" dirty="0"/>
              <a:t>target</a:t>
            </a:r>
            <a:r>
              <a:rPr lang="en-US" dirty="0"/>
              <a:t>,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definir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aberto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recurso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Vários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Páginas</a:t>
            </a:r>
            <a:r>
              <a:rPr lang="en-US" dirty="0"/>
              <a:t>, </a:t>
            </a:r>
            <a:r>
              <a:rPr lang="en-US" dirty="0" err="1"/>
              <a:t>Documentos</a:t>
            </a:r>
            <a:r>
              <a:rPr lang="en-US" dirty="0"/>
              <a:t>, </a:t>
            </a:r>
            <a:r>
              <a:rPr lang="en-US" dirty="0" err="1"/>
              <a:t>Músicas</a:t>
            </a:r>
            <a:r>
              <a:rPr lang="en-US" dirty="0"/>
              <a:t>, </a:t>
            </a:r>
            <a:r>
              <a:rPr lang="en-US" dirty="0" err="1"/>
              <a:t>Vídeos</a:t>
            </a:r>
            <a:r>
              <a:rPr lang="en-US" dirty="0"/>
              <a:t>, </a:t>
            </a:r>
            <a:r>
              <a:rPr lang="en-US" dirty="0" err="1"/>
              <a:t>Animações</a:t>
            </a:r>
            <a:r>
              <a:rPr lang="en-US" dirty="0"/>
              <a:t>…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7E99CDD-6DB2-4F4F-9BA0-E4B27627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</p:spTree>
    <p:extLst>
      <p:ext uri="{BB962C8B-B14F-4D97-AF65-F5344CB8AC3E}">
        <p14:creationId xmlns:p14="http://schemas.microsoft.com/office/powerpoint/2010/main" val="888213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FEF4224-F4D8-4D78-A3D1-D2C811E71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pt-BR" b="1" dirty="0"/>
              <a:t>Exemplo 1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=“documento.doc”&gt;Abrir o documento .</a:t>
            </a:r>
            <a:r>
              <a:rPr lang="pt-BR" dirty="0" err="1"/>
              <a:t>doc</a:t>
            </a:r>
            <a:r>
              <a:rPr lang="pt-BR" dirty="0"/>
              <a:t>&lt;/a&gt;</a:t>
            </a:r>
          </a:p>
          <a:p>
            <a:r>
              <a:rPr lang="pt-BR" b="1" dirty="0"/>
              <a:t>Exemplo 2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=“http://www.unidavi.edu.br”&gt;UNIDAVI&lt;/a&gt;</a:t>
            </a:r>
          </a:p>
          <a:p>
            <a:r>
              <a:rPr lang="pt-BR" b="1" dirty="0"/>
              <a:t>Exemplo 3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=“http://www.unidavi.edu.br” target=“_</a:t>
            </a:r>
            <a:r>
              <a:rPr lang="pt-BR" dirty="0" err="1"/>
              <a:t>blank</a:t>
            </a:r>
            <a:r>
              <a:rPr lang="pt-BR" dirty="0"/>
              <a:t>”&gt;UNIDAVI&lt;/a&gt;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73F1B92-5BB6-4DD2-A65C-4C39D9E5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</p:spTree>
    <p:extLst>
      <p:ext uri="{BB962C8B-B14F-4D97-AF65-F5344CB8AC3E}">
        <p14:creationId xmlns:p14="http://schemas.microsoft.com/office/powerpoint/2010/main" val="3570585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E6585EA-10AE-48A2-8E50-B0F894C04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Atributo Target:</a:t>
            </a:r>
          </a:p>
          <a:p>
            <a:pPr lvl="1"/>
            <a:r>
              <a:rPr lang="pt-BR" b="1" dirty="0"/>
              <a:t>_</a:t>
            </a:r>
            <a:r>
              <a:rPr lang="pt-BR" b="1" dirty="0" err="1"/>
              <a:t>blank</a:t>
            </a:r>
            <a:r>
              <a:rPr lang="pt-BR" dirty="0"/>
              <a:t>: abre o link em uma nova janela</a:t>
            </a:r>
          </a:p>
          <a:p>
            <a:pPr lvl="1"/>
            <a:r>
              <a:rPr lang="pt-BR" b="1" dirty="0"/>
              <a:t>_</a:t>
            </a:r>
            <a:r>
              <a:rPr lang="pt-BR" b="1" dirty="0" err="1"/>
              <a:t>parent</a:t>
            </a:r>
            <a:r>
              <a:rPr lang="pt-BR" dirty="0"/>
              <a:t>: abre o link na página ou frame</a:t>
            </a:r>
          </a:p>
          <a:p>
            <a:pPr lvl="1"/>
            <a:r>
              <a:rPr lang="pt-BR" b="1" dirty="0"/>
              <a:t>_self</a:t>
            </a:r>
            <a:r>
              <a:rPr lang="pt-BR" dirty="0"/>
              <a:t>: força a abertura na janela que foi ativado</a:t>
            </a:r>
          </a:p>
          <a:p>
            <a:pPr lvl="1"/>
            <a:r>
              <a:rPr lang="pt-BR" b="1" dirty="0"/>
              <a:t>_top</a:t>
            </a:r>
            <a:r>
              <a:rPr lang="pt-BR" dirty="0"/>
              <a:t>: independentemente de frames, o link é aberto sobre toda a página.</a:t>
            </a:r>
          </a:p>
          <a:p>
            <a:pPr lvl="1"/>
            <a:r>
              <a:rPr lang="pt-BR" b="1" dirty="0" err="1"/>
              <a:t>name</a:t>
            </a:r>
            <a:r>
              <a:rPr lang="pt-BR" dirty="0"/>
              <a:t>: usado para abrir o link em um frame específico</a:t>
            </a:r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DED1375-0685-404A-BA13-CA1E378D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</p:spTree>
    <p:extLst>
      <p:ext uri="{BB962C8B-B14F-4D97-AF65-F5344CB8AC3E}">
        <p14:creationId xmlns:p14="http://schemas.microsoft.com/office/powerpoint/2010/main" val="326180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F742BBA-56FC-4AEA-895B-157ED316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Links âncoras</a:t>
            </a:r>
            <a:r>
              <a:rPr lang="pt-BR" dirty="0"/>
              <a:t>: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usamos</a:t>
            </a:r>
            <a:r>
              <a:rPr lang="en-US" dirty="0"/>
              <a:t> o </a:t>
            </a:r>
            <a:r>
              <a:rPr lang="en-US" dirty="0" err="1"/>
              <a:t>atributo</a:t>
            </a:r>
            <a:r>
              <a:rPr lang="en-US" dirty="0"/>
              <a:t> “name” </a:t>
            </a:r>
            <a:r>
              <a:rPr lang="en-US" dirty="0" err="1"/>
              <a:t>na</a:t>
            </a:r>
            <a:r>
              <a:rPr lang="en-US" dirty="0"/>
              <a:t> tag &lt;a&gt; é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fazer</a:t>
            </a:r>
            <a:r>
              <a:rPr lang="en-US" dirty="0"/>
              <a:t> com que se </a:t>
            </a:r>
            <a:r>
              <a:rPr lang="en-US" dirty="0" err="1"/>
              <a:t>navegue</a:t>
            </a:r>
            <a:r>
              <a:rPr lang="en-US" dirty="0"/>
              <a:t> </a:t>
            </a:r>
            <a:r>
              <a:rPr lang="en-US" dirty="0" err="1"/>
              <a:t>direto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conteúdo</a:t>
            </a:r>
            <a:r>
              <a:rPr lang="en-US" dirty="0"/>
              <a:t> </a:t>
            </a:r>
            <a:r>
              <a:rPr lang="en-US" dirty="0" err="1"/>
              <a:t>desejado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 </a:t>
            </a:r>
            <a:r>
              <a:rPr lang="en-US" dirty="0" err="1"/>
              <a:t>rolar</a:t>
            </a:r>
            <a:r>
              <a:rPr lang="en-US" dirty="0"/>
              <a:t> a </a:t>
            </a:r>
            <a:r>
              <a:rPr lang="en-US" dirty="0" err="1"/>
              <a:t>página</a:t>
            </a:r>
            <a:r>
              <a:rPr lang="en-US" dirty="0"/>
              <a:t>;</a:t>
            </a:r>
          </a:p>
          <a:p>
            <a:endParaRPr lang="en-US" dirty="0"/>
          </a:p>
          <a:p>
            <a:pPr marL="0" lvl="0" indent="457200">
              <a:spcBef>
                <a:spcPts val="600"/>
              </a:spcBef>
              <a:buNone/>
            </a:pPr>
            <a:r>
              <a:rPr lang="pt-BR" dirty="0"/>
              <a:t>&lt;a </a:t>
            </a:r>
            <a:r>
              <a:rPr lang="pt-BR" b="1" dirty="0" err="1">
                <a:solidFill>
                  <a:srgbClr val="FF0000"/>
                </a:solidFill>
              </a:rPr>
              <a:t>name</a:t>
            </a:r>
            <a:r>
              <a:rPr lang="pt-BR" b="1" dirty="0">
                <a:solidFill>
                  <a:srgbClr val="FF0000"/>
                </a:solidFill>
              </a:rPr>
              <a:t>=“dicas”</a:t>
            </a:r>
            <a:r>
              <a:rPr lang="pt-BR" dirty="0"/>
              <a:t>&gt;Dicas&lt;/a&gt;</a:t>
            </a:r>
          </a:p>
          <a:p>
            <a:pPr marL="0" lvl="0" indent="457200">
              <a:spcBef>
                <a:spcPts val="600"/>
              </a:spcBef>
              <a:buNone/>
            </a:pPr>
            <a:r>
              <a:rPr lang="pt-BR" dirty="0"/>
              <a:t>Um link para esta parte da página é:</a:t>
            </a:r>
          </a:p>
          <a:p>
            <a:pPr marL="457200" lvl="0" indent="457200">
              <a:spcBef>
                <a:spcPts val="600"/>
              </a:spcBef>
              <a:buNone/>
            </a:pPr>
            <a:r>
              <a:rPr lang="pt-BR" dirty="0"/>
              <a:t>&lt;a </a:t>
            </a:r>
            <a:r>
              <a:rPr lang="pt-BR" dirty="0" err="1"/>
              <a:t>href</a:t>
            </a:r>
            <a:r>
              <a:rPr lang="pt-BR" dirty="0"/>
              <a:t>=“</a:t>
            </a:r>
            <a:r>
              <a:rPr lang="pt-BR" b="1" dirty="0">
                <a:solidFill>
                  <a:srgbClr val="FF0000"/>
                </a:solidFill>
              </a:rPr>
              <a:t>#dicas</a:t>
            </a:r>
            <a:r>
              <a:rPr lang="pt-BR" dirty="0"/>
              <a:t>”&gt;Vá para Dicas&lt;/a&gt;</a:t>
            </a:r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88DF1FD-80C0-47F8-B11C-F2CBCD23C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</p:spTree>
    <p:extLst>
      <p:ext uri="{BB962C8B-B14F-4D97-AF65-F5344CB8AC3E}">
        <p14:creationId xmlns:p14="http://schemas.microsoft.com/office/powerpoint/2010/main" val="2740103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93542AB-F7CB-42C5-A0F4-B6A4DF783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99999"/>
          </a:xfrm>
        </p:spPr>
        <p:txBody>
          <a:bodyPr>
            <a:normAutofit/>
          </a:bodyPr>
          <a:lstStyle/>
          <a:p>
            <a:r>
              <a:rPr lang="pt-BR" b="1" dirty="0"/>
              <a:t>Imagens</a:t>
            </a:r>
            <a:r>
              <a:rPr lang="pt-BR" dirty="0"/>
              <a:t>: É possível embarcar imagens nas páginas HTML;</a:t>
            </a:r>
          </a:p>
          <a:p>
            <a:pPr lvl="1"/>
            <a:r>
              <a:rPr lang="pt-BR" dirty="0"/>
              <a:t>A </a:t>
            </a:r>
            <a:r>
              <a:rPr lang="pt-BR" dirty="0" err="1"/>
              <a:t>tag</a:t>
            </a:r>
            <a:r>
              <a:rPr lang="pt-BR" dirty="0"/>
              <a:t> responsável é </a:t>
            </a:r>
            <a:r>
              <a:rPr lang="pt-BR" b="1" dirty="0"/>
              <a:t>“</a:t>
            </a:r>
            <a:r>
              <a:rPr lang="pt-BR" b="1" dirty="0" err="1"/>
              <a:t>img</a:t>
            </a:r>
            <a:r>
              <a:rPr lang="pt-BR" b="1" dirty="0"/>
              <a:t>”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Para informar qual o arquivo de imagem basta informar o caminho desta na propriedade </a:t>
            </a:r>
            <a:r>
              <a:rPr lang="pt-BR" b="1" dirty="0" err="1"/>
              <a:t>src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A maioria dos navegadores aceita imagens no formato JPG, GIF e PNG.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OBS</a:t>
            </a:r>
            <a:r>
              <a:rPr lang="pt-BR" i="1" dirty="0"/>
              <a:t>: O conteúdo em SRC deve ser “visível” para o navegador</a:t>
            </a:r>
            <a:r>
              <a:rPr lang="pt-BR" dirty="0"/>
              <a:t>;</a:t>
            </a:r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CB18EB8-726A-4D89-91ED-F7D039E9C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7E904D-9A16-49D0-9F61-44AB46F50068}"/>
              </a:ext>
            </a:extLst>
          </p:cNvPr>
          <p:cNvSpPr/>
          <p:nvPr/>
        </p:nvSpPr>
        <p:spPr>
          <a:xfrm>
            <a:off x="1979712" y="4341979"/>
            <a:ext cx="42883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>
              <a:spcBef>
                <a:spcPts val="600"/>
              </a:spcBef>
              <a:buClr>
                <a:srgbClr val="000000"/>
              </a:buClr>
              <a:buSzPts val="750"/>
            </a:pPr>
            <a:r>
              <a:rPr lang="en-US" sz="2400" dirty="0"/>
              <a:t>&lt;</a:t>
            </a:r>
            <a:r>
              <a:rPr lang="en-US" sz="2400" dirty="0" err="1"/>
              <a:t>img</a:t>
            </a:r>
            <a:r>
              <a:rPr lang="en-US" sz="2400" dirty="0"/>
              <a:t> </a:t>
            </a:r>
            <a:r>
              <a:rPr lang="en-US" sz="2400" dirty="0" err="1"/>
              <a:t>src</a:t>
            </a:r>
            <a:r>
              <a:rPr lang="en-US" sz="2400" dirty="0"/>
              <a:t>=“teste.jpg” /&gt;</a:t>
            </a:r>
          </a:p>
        </p:txBody>
      </p:sp>
    </p:spTree>
    <p:extLst>
      <p:ext uri="{BB962C8B-B14F-4D97-AF65-F5344CB8AC3E}">
        <p14:creationId xmlns:p14="http://schemas.microsoft.com/office/powerpoint/2010/main" val="3609914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E51B3F7-E911-400A-97F5-5BA90604F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Atributos da IMG: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529B556-7F19-4A3C-9100-58A0D500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5DCA3BA8-FAA2-433C-9DFC-7A903B15B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775897"/>
              </p:ext>
            </p:extLst>
          </p:nvPr>
        </p:nvGraphicFramePr>
        <p:xfrm>
          <a:off x="670585" y="2067242"/>
          <a:ext cx="7992888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35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611753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Src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Atributo o obrigatório onde se especifica um caminho ou </a:t>
                      </a:r>
                      <a:r>
                        <a:rPr lang="pt-BR" dirty="0" err="1"/>
                        <a:t>url</a:t>
                      </a:r>
                      <a:r>
                        <a:rPr lang="pt-BR" dirty="0"/>
                        <a:t> para uma imagem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Alt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Exibe</a:t>
                      </a:r>
                      <a:r>
                        <a:rPr lang="en-US" sz="1800" dirty="0"/>
                        <a:t> um </a:t>
                      </a:r>
                      <a:r>
                        <a:rPr lang="en-US" sz="1800" dirty="0" err="1"/>
                        <a:t>texto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quando</a:t>
                      </a:r>
                      <a:r>
                        <a:rPr lang="en-US" sz="1800" dirty="0"/>
                        <a:t> a </a:t>
                      </a:r>
                      <a:r>
                        <a:rPr lang="en-US" sz="1800" dirty="0" err="1"/>
                        <a:t>imagem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estiver</a:t>
                      </a:r>
                      <a:r>
                        <a:rPr lang="en-US" sz="1800" dirty="0"/>
                        <a:t> off-line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Height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a </a:t>
                      </a:r>
                      <a:r>
                        <a:rPr lang="en-US" sz="1800" dirty="0" err="1"/>
                        <a:t>altura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imagem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Width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Define a </a:t>
                      </a:r>
                      <a:r>
                        <a:rPr lang="en-US" sz="1800" dirty="0" err="1"/>
                        <a:t>largura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imagem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2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Align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Alinhamentos</a:t>
                      </a:r>
                      <a:r>
                        <a:rPr lang="en-US" sz="1800" dirty="0"/>
                        <a:t>: </a:t>
                      </a:r>
                      <a:r>
                        <a:rPr lang="en-US" sz="1800" dirty="0" err="1"/>
                        <a:t>absmiddle</a:t>
                      </a:r>
                      <a:r>
                        <a:rPr lang="en-US" sz="1800" dirty="0"/>
                        <a:t> (</a:t>
                      </a:r>
                      <a:r>
                        <a:rPr lang="en-US" sz="1800" dirty="0" err="1"/>
                        <a:t>centro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linha</a:t>
                      </a:r>
                      <a:r>
                        <a:rPr lang="en-US" sz="1800" dirty="0"/>
                        <a:t>), </a:t>
                      </a:r>
                      <a:r>
                        <a:rPr lang="en-US" sz="1800" dirty="0" err="1"/>
                        <a:t>absbottom</a:t>
                      </a:r>
                      <a:r>
                        <a:rPr lang="en-US" sz="1800" dirty="0"/>
                        <a:t> (com a </a:t>
                      </a:r>
                      <a:r>
                        <a:rPr lang="en-US" sz="1800" dirty="0" err="1"/>
                        <a:t>parte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baixo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linha</a:t>
                      </a:r>
                      <a:r>
                        <a:rPr lang="en-US" sz="1800" dirty="0"/>
                        <a:t>), top, left, right, bottom, baseline, middle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1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Border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borda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imagem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67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Hspace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espaçamento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em</a:t>
                      </a:r>
                      <a:r>
                        <a:rPr lang="en-US" sz="1800" dirty="0"/>
                        <a:t> pixel à </a:t>
                      </a:r>
                      <a:r>
                        <a:rPr lang="en-US" sz="1800" dirty="0" err="1"/>
                        <a:t>direita</a:t>
                      </a:r>
                      <a:r>
                        <a:rPr lang="en-US" sz="1800" dirty="0"/>
                        <a:t> e </a:t>
                      </a:r>
                      <a:r>
                        <a:rPr lang="en-US" sz="1800" dirty="0" err="1"/>
                        <a:t>esquerda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imagem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94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/>
                        <a:t>Vspace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espaçamento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em</a:t>
                      </a:r>
                      <a:r>
                        <a:rPr lang="en-US" sz="1800" dirty="0"/>
                        <a:t> pixel </a:t>
                      </a:r>
                      <a:r>
                        <a:rPr lang="en-US" sz="1800" dirty="0" err="1"/>
                        <a:t>acima</a:t>
                      </a:r>
                      <a:r>
                        <a:rPr lang="en-US" sz="1800" dirty="0"/>
                        <a:t> e </a:t>
                      </a:r>
                      <a:r>
                        <a:rPr lang="en-US" sz="1800" dirty="0" err="1"/>
                        <a:t>abaixo</a:t>
                      </a:r>
                      <a:r>
                        <a:rPr lang="en-US" sz="1800" dirty="0"/>
                        <a:t> da </a:t>
                      </a:r>
                      <a:r>
                        <a:rPr lang="en-US" sz="1800" dirty="0" err="1"/>
                        <a:t>imagem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985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429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104FE27-C626-4128-9793-AD7D27761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Link + Imagem: Para criar uma imagem como link basta colocar um elemento “</a:t>
            </a:r>
            <a:r>
              <a:rPr lang="pt-BR" dirty="0" err="1"/>
              <a:t>img</a:t>
            </a:r>
            <a:r>
              <a:rPr lang="pt-BR" dirty="0"/>
              <a:t>” como conteúdo de um elemento “a”.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ED5FFC4-5237-4BF2-871A-5C065536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BED29A-82A4-41C7-B93D-7CFD62E315C2}"/>
              </a:ext>
            </a:extLst>
          </p:cNvPr>
          <p:cNvSpPr/>
          <p:nvPr/>
        </p:nvSpPr>
        <p:spPr>
          <a:xfrm>
            <a:off x="611560" y="3005645"/>
            <a:ext cx="77768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"http://www.unidavi.edu.br"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img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alt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"logo de acesso"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src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"https://siteunidavi.s3.sa-east-1.amazonaws.com/2021/9/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cau_img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/logo-unidavi.png"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height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"15px"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DBB4E21-FB54-47BE-8F6B-DF303F598887}"/>
              </a:ext>
            </a:extLst>
          </p:cNvPr>
          <p:cNvSpPr/>
          <p:nvPr/>
        </p:nvSpPr>
        <p:spPr>
          <a:xfrm>
            <a:off x="1658382" y="4778319"/>
            <a:ext cx="5827236" cy="129266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>
            <a:spAutoFit/>
          </a:bodyPr>
          <a:lstStyle/>
          <a:p>
            <a:pPr algn="ctr"/>
            <a:r>
              <a:rPr lang="pt-BR" sz="2400" b="1" dirty="0"/>
              <a:t>URL Relativa x Absoluta:</a:t>
            </a:r>
          </a:p>
          <a:p>
            <a:pPr algn="ctr"/>
            <a:r>
              <a:rPr lang="pt-BR" dirty="0" err="1"/>
              <a:t>Ex</a:t>
            </a:r>
            <a:r>
              <a:rPr lang="pt-BR" dirty="0"/>
              <a:t>: Image.png</a:t>
            </a:r>
          </a:p>
          <a:p>
            <a:pPr algn="ctr"/>
            <a:r>
              <a:rPr lang="pt-BR" dirty="0"/>
              <a:t>Absoluta: </a:t>
            </a:r>
            <a:r>
              <a:rPr lang="pt-BR" dirty="0">
                <a:hlinkClick r:id="rId2"/>
              </a:rPr>
              <a:t>http://www.site.com.br/img/image.png</a:t>
            </a:r>
            <a:endParaRPr lang="pt-BR" dirty="0"/>
          </a:p>
          <a:p>
            <a:pPr algn="ctr"/>
            <a:r>
              <a:rPr lang="pt-BR" dirty="0"/>
              <a:t>Relativa: /</a:t>
            </a:r>
            <a:r>
              <a:rPr lang="pt-BR" dirty="0" err="1"/>
              <a:t>img</a:t>
            </a:r>
            <a:r>
              <a:rPr lang="pt-BR" dirty="0"/>
              <a:t>/image.png</a:t>
            </a:r>
          </a:p>
        </p:txBody>
      </p:sp>
    </p:spTree>
    <p:extLst>
      <p:ext uri="{BB962C8B-B14F-4D97-AF65-F5344CB8AC3E}">
        <p14:creationId xmlns:p14="http://schemas.microsoft.com/office/powerpoint/2010/main" val="246772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BBF3307-0C58-439B-9AAA-638B28AB0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pt-BR" b="1" dirty="0" err="1"/>
              <a:t>Audio</a:t>
            </a:r>
            <a:r>
              <a:rPr lang="pt-BR" dirty="0"/>
              <a:t>: Utiliza-se a </a:t>
            </a:r>
            <a:r>
              <a:rPr lang="pt-BR" dirty="0" err="1"/>
              <a:t>tag</a:t>
            </a:r>
            <a:r>
              <a:rPr lang="pt-BR" dirty="0"/>
              <a:t> “</a:t>
            </a:r>
            <a:r>
              <a:rPr lang="pt-BR" b="1" dirty="0"/>
              <a:t>&lt;</a:t>
            </a:r>
            <a:r>
              <a:rPr lang="pt-BR" b="1" dirty="0" err="1"/>
              <a:t>audio</a:t>
            </a:r>
            <a:r>
              <a:rPr lang="pt-BR" b="1" dirty="0"/>
              <a:t>&gt;</a:t>
            </a:r>
            <a:r>
              <a:rPr lang="pt-BR" dirty="0"/>
              <a:t>”. Atributos:</a:t>
            </a:r>
          </a:p>
          <a:p>
            <a:pPr lvl="1"/>
            <a:r>
              <a:rPr lang="pt-BR" b="1" dirty="0" err="1"/>
              <a:t>Source</a:t>
            </a:r>
            <a:r>
              <a:rPr lang="pt-BR" dirty="0"/>
              <a:t>: Permite definir uma ou várias origens de </a:t>
            </a:r>
            <a:r>
              <a:rPr lang="pt-BR" dirty="0" err="1"/>
              <a:t>audio</a:t>
            </a:r>
            <a:r>
              <a:rPr lang="pt-BR" dirty="0"/>
              <a:t>;</a:t>
            </a:r>
          </a:p>
          <a:p>
            <a:pPr lvl="1"/>
            <a:r>
              <a:rPr lang="pt-BR" b="1" dirty="0" err="1"/>
              <a:t>Controls</a:t>
            </a:r>
            <a:r>
              <a:rPr lang="pt-BR" dirty="0"/>
              <a:t>: Adiciona controles de reprodução, como play, pause e volume;</a:t>
            </a:r>
          </a:p>
          <a:p>
            <a:pPr lvl="1"/>
            <a:r>
              <a:rPr lang="pt-BR" b="1" dirty="0" err="1"/>
              <a:t>Autoplay</a:t>
            </a:r>
            <a:r>
              <a:rPr lang="pt-BR" dirty="0"/>
              <a:t>: Inicia a tocar automaticamente quando a página é carregada;</a:t>
            </a:r>
          </a:p>
          <a:p>
            <a:pPr lvl="1"/>
            <a:r>
              <a:rPr lang="pt-BR" b="1" dirty="0"/>
              <a:t>Loop</a:t>
            </a:r>
            <a:r>
              <a:rPr lang="pt-BR" dirty="0"/>
              <a:t>: Repetição do áudio indefinidamente;</a:t>
            </a:r>
          </a:p>
          <a:p>
            <a:pPr lvl="1"/>
            <a:r>
              <a:rPr lang="pt-BR" b="1" dirty="0" err="1"/>
              <a:t>Muted</a:t>
            </a:r>
            <a:r>
              <a:rPr lang="pt-BR" dirty="0"/>
              <a:t>: O áudio começa silenciado;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0313780-542E-41BC-B3E0-17AED0FE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A3395D8-02C7-4E8E-B105-76FFD787E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17" y="5089774"/>
            <a:ext cx="5125165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92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BBF3307-0C58-439B-9AAA-638B28AB0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40560"/>
          </a:xfrm>
        </p:spPr>
        <p:txBody>
          <a:bodyPr>
            <a:normAutofit/>
          </a:bodyPr>
          <a:lstStyle/>
          <a:p>
            <a:r>
              <a:rPr lang="pt-BR" b="1" dirty="0"/>
              <a:t>Vídeo</a:t>
            </a:r>
            <a:r>
              <a:rPr lang="pt-BR" dirty="0"/>
              <a:t>: Utiliza-se a </a:t>
            </a:r>
            <a:r>
              <a:rPr lang="pt-BR" dirty="0" err="1"/>
              <a:t>tag</a:t>
            </a:r>
            <a:r>
              <a:rPr lang="pt-BR" dirty="0"/>
              <a:t> “</a:t>
            </a:r>
            <a:r>
              <a:rPr lang="pt-BR" b="1" dirty="0"/>
              <a:t>&lt;</a:t>
            </a:r>
            <a:r>
              <a:rPr lang="pt-BR" b="1" dirty="0" err="1"/>
              <a:t>video</a:t>
            </a:r>
            <a:r>
              <a:rPr lang="pt-BR" b="1" dirty="0"/>
              <a:t>&gt;</a:t>
            </a:r>
            <a:r>
              <a:rPr lang="pt-BR" dirty="0"/>
              <a:t>”. Atributos:</a:t>
            </a:r>
          </a:p>
          <a:p>
            <a:pPr lvl="1"/>
            <a:r>
              <a:rPr lang="pt-BR" b="1" dirty="0" err="1"/>
              <a:t>Source</a:t>
            </a:r>
            <a:r>
              <a:rPr lang="pt-BR" dirty="0"/>
              <a:t>: Permite definir uma ou várias origens de </a:t>
            </a:r>
            <a:r>
              <a:rPr lang="pt-BR" dirty="0" err="1"/>
              <a:t>audio</a:t>
            </a:r>
            <a:r>
              <a:rPr lang="pt-BR" dirty="0"/>
              <a:t>;</a:t>
            </a:r>
          </a:p>
          <a:p>
            <a:pPr lvl="1"/>
            <a:r>
              <a:rPr lang="pt-BR" b="1" dirty="0" err="1"/>
              <a:t>Width</a:t>
            </a:r>
            <a:r>
              <a:rPr lang="pt-BR" b="1" dirty="0"/>
              <a:t> e </a:t>
            </a:r>
            <a:r>
              <a:rPr lang="pt-BR" b="1" dirty="0" err="1"/>
              <a:t>Weigth</a:t>
            </a:r>
            <a:r>
              <a:rPr lang="pt-BR" dirty="0"/>
              <a:t>: Dimensões do vídeo</a:t>
            </a:r>
          </a:p>
          <a:p>
            <a:pPr lvl="1"/>
            <a:r>
              <a:rPr lang="pt-BR" b="1" dirty="0" err="1"/>
              <a:t>Controls</a:t>
            </a:r>
            <a:r>
              <a:rPr lang="pt-BR" dirty="0"/>
              <a:t>: Adiciona controles de reprodução, como play, pause e volume;</a:t>
            </a:r>
          </a:p>
          <a:p>
            <a:pPr lvl="1"/>
            <a:r>
              <a:rPr lang="pt-BR" b="1" dirty="0" err="1"/>
              <a:t>Autoplay</a:t>
            </a:r>
            <a:r>
              <a:rPr lang="pt-BR" dirty="0"/>
              <a:t>: Inicia a tocar automaticamente quando a página é carregada;</a:t>
            </a:r>
          </a:p>
          <a:p>
            <a:pPr lvl="1"/>
            <a:r>
              <a:rPr lang="pt-BR" b="1" dirty="0"/>
              <a:t>Loop</a:t>
            </a:r>
            <a:r>
              <a:rPr lang="pt-BR" dirty="0"/>
              <a:t>: Repetição do áudio indefinidamente;</a:t>
            </a:r>
          </a:p>
          <a:p>
            <a:pPr lvl="1"/>
            <a:r>
              <a:rPr lang="pt-BR" b="1" dirty="0" err="1"/>
              <a:t>Muted</a:t>
            </a:r>
            <a:r>
              <a:rPr lang="pt-BR" dirty="0"/>
              <a:t>: O áudio começa silenciado;</a:t>
            </a:r>
          </a:p>
          <a:p>
            <a:pPr lvl="1"/>
            <a:r>
              <a:rPr lang="pt-BR" b="1" dirty="0"/>
              <a:t>Poster</a:t>
            </a:r>
            <a:r>
              <a:rPr lang="pt-BR" dirty="0"/>
              <a:t>: Define uma imagem a ser mostrada quando o vídeo não começar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0313780-542E-41BC-B3E0-17AED0FE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Principais Elementos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0BC2E5-63EB-446F-9BDC-2D5F74C5A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5106781"/>
            <a:ext cx="5287113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02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FC2CB38-1548-49A9-A96B-72D089781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9301"/>
            <a:ext cx="8229600" cy="4525963"/>
          </a:xfrm>
        </p:spPr>
        <p:txBody>
          <a:bodyPr/>
          <a:lstStyle/>
          <a:p>
            <a:r>
              <a:rPr lang="pt-BR" dirty="0"/>
              <a:t>Lembre-se: Semântica = Significado;</a:t>
            </a:r>
          </a:p>
          <a:p>
            <a:r>
              <a:rPr lang="pt-BR" dirty="0"/>
              <a:t>O HTML5 adicionou </a:t>
            </a:r>
            <a:r>
              <a:rPr lang="pt-BR" dirty="0">
                <a:hlinkClick r:id="rId2"/>
              </a:rPr>
              <a:t>elementos de semântica</a:t>
            </a:r>
            <a:r>
              <a:rPr lang="pt-BR" dirty="0"/>
              <a:t> novos: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535EE0A-4350-4FE5-B2C5-9B4A07A7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HTML – Adicionando “Semântica”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640D0C5C-2318-45C8-8384-F1FE3CAF5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52192"/>
              </p:ext>
            </p:extLst>
          </p:nvPr>
        </p:nvGraphicFramePr>
        <p:xfrm>
          <a:off x="575556" y="2838325"/>
          <a:ext cx="7992888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35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611753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Representa o cabeçalho do documento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Section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Representa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uma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seção</a:t>
                      </a:r>
                      <a:r>
                        <a:rPr lang="en-US" sz="1800" dirty="0"/>
                        <a:t>/</a:t>
                      </a:r>
                      <a:r>
                        <a:rPr lang="en-US" sz="1800" dirty="0" err="1"/>
                        <a:t>tópico</a:t>
                      </a:r>
                      <a:r>
                        <a:rPr lang="en-US" sz="1800" dirty="0"/>
                        <a:t> no document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Article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Representa</a:t>
                      </a:r>
                      <a:r>
                        <a:rPr lang="en-US" sz="1800" dirty="0"/>
                        <a:t> um </a:t>
                      </a:r>
                      <a:r>
                        <a:rPr lang="en-US" sz="1800" dirty="0" err="1"/>
                        <a:t>conteúdo</a:t>
                      </a:r>
                      <a:r>
                        <a:rPr lang="en-US" sz="1800" dirty="0"/>
                        <a:t> que </a:t>
                      </a:r>
                      <a:r>
                        <a:rPr lang="en-US" sz="1800" dirty="0" err="1"/>
                        <a:t>não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depende</a:t>
                      </a:r>
                      <a:r>
                        <a:rPr lang="en-US" sz="1800" dirty="0"/>
                        <a:t> de outro para </a:t>
                      </a:r>
                      <a:r>
                        <a:rPr lang="en-US" sz="1800" dirty="0" err="1"/>
                        <a:t>existir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como</a:t>
                      </a:r>
                      <a:r>
                        <a:rPr lang="en-US" sz="1800" dirty="0"/>
                        <a:t> um </a:t>
                      </a:r>
                      <a:r>
                        <a:rPr lang="en-US" sz="1800" dirty="0" err="1"/>
                        <a:t>artigo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em</a:t>
                      </a:r>
                      <a:r>
                        <a:rPr lang="en-US" sz="1800" dirty="0"/>
                        <a:t> um blog.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Nav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Agrupamento</a:t>
                      </a:r>
                      <a:r>
                        <a:rPr lang="en-US" sz="1800" dirty="0"/>
                        <a:t> de links de </a:t>
                      </a:r>
                      <a:r>
                        <a:rPr lang="en-US" sz="1800" dirty="0" err="1"/>
                        <a:t>navegação</a:t>
                      </a:r>
                      <a:r>
                        <a:rPr lang="en-US" sz="1800" dirty="0"/>
                        <a:t> (com UL e LI)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2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Aside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Conteúdo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dirty="0" err="1"/>
                        <a:t>apoio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conteúdo</a:t>
                      </a:r>
                      <a:r>
                        <a:rPr lang="en-US" sz="1800" dirty="0"/>
                        <a:t> principal.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1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Main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Representa</a:t>
                      </a:r>
                      <a:r>
                        <a:rPr lang="en-US" sz="1800" dirty="0"/>
                        <a:t> o </a:t>
                      </a:r>
                      <a:r>
                        <a:rPr lang="en-US" sz="1800" dirty="0" err="1"/>
                        <a:t>conteúdo</a:t>
                      </a:r>
                      <a:r>
                        <a:rPr lang="en-US" sz="1800" dirty="0"/>
                        <a:t> principal, de </a:t>
                      </a:r>
                      <a:r>
                        <a:rPr lang="en-US" sz="1800" dirty="0" err="1"/>
                        <a:t>maior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relevância</a:t>
                      </a:r>
                      <a:r>
                        <a:rPr lang="en-US" sz="1800" dirty="0"/>
                        <a:t>. </a:t>
                      </a:r>
                      <a:r>
                        <a:rPr lang="en-US" sz="1800" dirty="0" err="1"/>
                        <a:t>Usar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apenas</a:t>
                      </a:r>
                      <a:r>
                        <a:rPr lang="en-US" sz="1800" dirty="0"/>
                        <a:t> um </a:t>
                      </a:r>
                      <a:r>
                        <a:rPr lang="en-US" sz="1800" dirty="0" err="1"/>
                        <a:t>conteúdo</a:t>
                      </a:r>
                      <a:r>
                        <a:rPr lang="en-US" sz="1800" dirty="0"/>
                        <a:t> principal por </a:t>
                      </a:r>
                      <a:r>
                        <a:rPr lang="en-US" sz="1800" dirty="0" err="1"/>
                        <a:t>página</a:t>
                      </a:r>
                      <a:r>
                        <a:rPr lang="en-US" sz="1800" dirty="0"/>
                        <a:t>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67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Footer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Representa o Rodapé do documento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731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802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E1D9EA3-807A-4659-831D-053C7D798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Prática 2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Crie uma página HTML que contenha sua biografia ou Currículo (pode optar um dos dois);</a:t>
            </a:r>
          </a:p>
          <a:p>
            <a:pPr lvl="1"/>
            <a:r>
              <a:rPr lang="pt-BR" dirty="0"/>
              <a:t>Deverá conter todos os elementos demonstrados durante a aula;</a:t>
            </a:r>
          </a:p>
          <a:p>
            <a:pPr lvl="1"/>
            <a:r>
              <a:rPr lang="pt-BR" dirty="0"/>
              <a:t>Foto, ao menos um Vídeo ou Áudio, textos com formatação básica, etc.</a:t>
            </a:r>
          </a:p>
          <a:p>
            <a:pPr lvl="1"/>
            <a:r>
              <a:rPr lang="pt-BR" i="1" dirty="0"/>
              <a:t>OBS: Não estamos aplicando ainda nenhum estilo visual, apenas a estrutura da página.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Postar no GITHUB.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E2D212E-ED79-465C-BA07-316C3CD2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</a:t>
            </a:r>
          </a:p>
        </p:txBody>
      </p:sp>
    </p:spTree>
    <p:extLst>
      <p:ext uri="{BB962C8B-B14F-4D97-AF65-F5344CB8AC3E}">
        <p14:creationId xmlns:p14="http://schemas.microsoft.com/office/powerpoint/2010/main" val="1036611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Aula 3</a:t>
            </a:r>
          </a:p>
          <a:p>
            <a:r>
              <a:rPr lang="pt-BR" dirty="0"/>
              <a:t>Revisitando a programação WEB – HTML Parte 2 (Tabelas, Inputs, Listas, Formulários, etc.)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Próxima Aula</a:t>
            </a:r>
          </a:p>
        </p:txBody>
      </p:sp>
    </p:spTree>
    <p:extLst>
      <p:ext uri="{BB962C8B-B14F-4D97-AF65-F5344CB8AC3E}">
        <p14:creationId xmlns:p14="http://schemas.microsoft.com/office/powerpoint/2010/main" val="993406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4275</TotalTime>
  <Words>1762</Words>
  <Application>Microsoft Office PowerPoint</Application>
  <PresentationFormat>Apresentação na tela (4:3)</PresentationFormat>
  <Paragraphs>260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Consolas</vt:lpstr>
      <vt:lpstr>Courier New</vt:lpstr>
      <vt:lpstr>Lucida Sans Unicode</vt:lpstr>
      <vt:lpstr>Verdana</vt:lpstr>
      <vt:lpstr>Wingdings 2</vt:lpstr>
      <vt:lpstr>Wingdings 3</vt:lpstr>
      <vt:lpstr>Concurso</vt:lpstr>
      <vt:lpstr>Programação Web 1 Revisitando – HTML Parte 1</vt:lpstr>
      <vt:lpstr>HTML – O básico</vt:lpstr>
      <vt:lpstr>HTML – O básico</vt:lpstr>
      <vt:lpstr>HTML – O básico</vt:lpstr>
      <vt:lpstr>HTML – O básico</vt:lpstr>
      <vt:lpstr>HTML – O básico</vt:lpstr>
      <vt:lpstr>HTML – O básico</vt:lpstr>
      <vt:lpstr>HTML – O básico</vt:lpstr>
      <vt:lpstr>HTML – O básico</vt:lpstr>
      <vt:lpstr>HTML – O básico</vt:lpstr>
      <vt:lpstr>HTML – O básico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Principais Elementos</vt:lpstr>
      <vt:lpstr>HTML – Adicionando “Semântica”</vt:lpstr>
      <vt:lpstr>Prática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Cleber Nardelli</dc:creator>
  <cp:lastModifiedBy>Cleber Nardelli</cp:lastModifiedBy>
  <cp:revision>118</cp:revision>
  <dcterms:created xsi:type="dcterms:W3CDTF">2013-09-10T00:11:01Z</dcterms:created>
  <dcterms:modified xsi:type="dcterms:W3CDTF">2024-07-28T23:44:19Z</dcterms:modified>
</cp:coreProperties>
</file>