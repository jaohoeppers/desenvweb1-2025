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5" r:id="rId3"/>
    <p:sldId id="290" r:id="rId4"/>
    <p:sldId id="292" r:id="rId5"/>
    <p:sldId id="293" r:id="rId6"/>
    <p:sldId id="294" r:id="rId7"/>
    <p:sldId id="291" r:id="rId8"/>
    <p:sldId id="295" r:id="rId9"/>
    <p:sldId id="297" r:id="rId10"/>
    <p:sldId id="298" r:id="rId11"/>
    <p:sldId id="288" r:id="rId12"/>
    <p:sldId id="287" r:id="rId13"/>
    <p:sldId id="289" r:id="rId14"/>
    <p:sldId id="302" r:id="rId15"/>
    <p:sldId id="303" r:id="rId16"/>
    <p:sldId id="299" r:id="rId17"/>
    <p:sldId id="300" r:id="rId18"/>
    <p:sldId id="301" r:id="rId19"/>
    <p:sldId id="304" r:id="rId20"/>
    <p:sldId id="282" r:id="rId2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4A1D4CEC-13E9-481F-86CA-30C6F37FFFCE}">
          <p14:sldIdLst>
            <p14:sldId id="256"/>
          </p14:sldIdLst>
        </p14:section>
        <p14:section name="Functions" id="{B7D68907-8F36-4447-8144-8891B6B9FF80}">
          <p14:sldIdLst>
            <p14:sldId id="285"/>
            <p14:sldId id="290"/>
            <p14:sldId id="292"/>
            <p14:sldId id="293"/>
            <p14:sldId id="294"/>
            <p14:sldId id="291"/>
            <p14:sldId id="295"/>
            <p14:sldId id="297"/>
            <p14:sldId id="298"/>
          </p14:sldIdLst>
        </p14:section>
        <p14:section name="Organização e Dependência de Arquivos PHP" id="{1F149CA0-4BC4-4EB9-844A-9327AB50BC63}">
          <p14:sldIdLst>
            <p14:sldId id="288"/>
            <p14:sldId id="287"/>
            <p14:sldId id="289"/>
          </p14:sldIdLst>
        </p14:section>
        <p14:section name="Tratamentos de Exceção" id="{09DD7DE0-0C8A-4257-930F-A763BB2AFCD3}">
          <p14:sldIdLst>
            <p14:sldId id="302"/>
            <p14:sldId id="303"/>
          </p14:sldIdLst>
        </p14:section>
        <p14:section name="SuperGlobals" id="{877444B0-5F19-42A3-A510-5990397CEB8B}">
          <p14:sldIdLst>
            <p14:sldId id="299"/>
            <p14:sldId id="300"/>
            <p14:sldId id="301"/>
          </p14:sldIdLst>
        </p14:section>
        <p14:section name="Próxima Aula" id="{66AAF6F1-D593-4073-912F-D8F5562F77B2}">
          <p14:sldIdLst>
            <p14:sldId id="304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pic>
        <p:nvPicPr>
          <p:cNvPr id="13" name="Picture 2" descr="http://www.minha.unidavi.edu.br/media/meuespaco_2011/logo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188640"/>
            <a:ext cx="118464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Divisa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pt-BR"/>
              <a:t>Engenharia de Software I</a:t>
            </a:r>
            <a:endParaRPr lang="pt-BR" dirty="0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pic>
        <p:nvPicPr>
          <p:cNvPr id="11" name="Picture 2" descr="http://www.minha.unidavi.edu.br/media/meuespaco_2011/logo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354" y="5993904"/>
            <a:ext cx="118464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hp/php_ref_overview.as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file:///C:\Desenvolvimento\bsn\web\php\labs\06_functions.php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file:///C:\Desenvolvimento\bsn\web\php\labs\06_functions.php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file:///C:\Desenvolvimento\bsn\web\php\labs\07_functions_recurs.php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5300" dirty="0"/>
              <a:t>Programação Web 1</a:t>
            </a:r>
            <a:br>
              <a:rPr lang="pt-BR" sz="5300" dirty="0"/>
            </a:br>
            <a:r>
              <a:rPr lang="pt-BR" b="0" dirty="0"/>
              <a:t>Parte 2 – </a:t>
            </a:r>
            <a:r>
              <a:rPr lang="pt-BR" b="0" dirty="0" err="1"/>
              <a:t>Functions</a:t>
            </a:r>
            <a:endParaRPr lang="pt-BR" b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Cleber Nardelli</a:t>
            </a:r>
          </a:p>
        </p:txBody>
      </p:sp>
      <p:sp>
        <p:nvSpPr>
          <p:cNvPr id="4" name="Retângulo 3"/>
          <p:cNvSpPr/>
          <p:nvPr/>
        </p:nvSpPr>
        <p:spPr>
          <a:xfrm>
            <a:off x="1141703" y="5013176"/>
            <a:ext cx="6860593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pt-BR" dirty="0" smtClean="0"/>
              <a:t>Organizar ambiente de trabalho: XAMPP (Apache – </a:t>
            </a:r>
            <a:r>
              <a:rPr lang="pt-BR" dirty="0" err="1" smtClean="0"/>
              <a:t>localhost</a:t>
            </a:r>
            <a:r>
              <a:rPr lang="pt-BR" dirty="0" smtClean="0"/>
              <a:t>), Clone do </a:t>
            </a:r>
            <a:r>
              <a:rPr lang="pt-BR" dirty="0" err="1" smtClean="0"/>
              <a:t>Github</a:t>
            </a:r>
            <a:r>
              <a:rPr lang="pt-BR" dirty="0" smtClean="0"/>
              <a:t> no c:\xampp\htdocs, abrir VSCODE...</a:t>
            </a:r>
          </a:p>
        </p:txBody>
      </p:sp>
    </p:spTree>
    <p:extLst>
      <p:ext uri="{BB962C8B-B14F-4D97-AF65-F5344CB8AC3E}">
        <p14:creationId xmlns:p14="http://schemas.microsoft.com/office/powerpoint/2010/main" val="357523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CA3ED81-9EAE-4E48-B70F-1BDA61DF9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Permitem a </a:t>
            </a:r>
            <a:r>
              <a:rPr lang="pt-BR" dirty="0">
                <a:solidFill>
                  <a:srgbClr val="FF0000"/>
                </a:solidFill>
              </a:rPr>
              <a:t>reutilização</a:t>
            </a:r>
            <a:r>
              <a:rPr lang="pt-BR" dirty="0"/>
              <a:t> de código e tornam a programação mais </a:t>
            </a:r>
            <a:r>
              <a:rPr lang="pt-BR" dirty="0">
                <a:solidFill>
                  <a:srgbClr val="FF0000"/>
                </a:solidFill>
              </a:rPr>
              <a:t>organizada e modular;</a:t>
            </a:r>
          </a:p>
          <a:p>
            <a:r>
              <a:rPr lang="pt-BR" dirty="0"/>
              <a:t>O PHP tem mais de </a:t>
            </a:r>
            <a:r>
              <a:rPr lang="pt-BR" dirty="0">
                <a:hlinkClick r:id="rId2"/>
              </a:rPr>
              <a:t>1000 funções integradas</a:t>
            </a:r>
            <a:r>
              <a:rPr lang="pt-BR" dirty="0"/>
              <a:t> – nativas;</a:t>
            </a:r>
          </a:p>
          <a:p>
            <a:r>
              <a:rPr lang="pt-BR" dirty="0"/>
              <a:t>A maneira mais simples de se declarar uma </a:t>
            </a:r>
            <a:r>
              <a:rPr lang="pt-BR" dirty="0" err="1"/>
              <a:t>function</a:t>
            </a:r>
            <a:r>
              <a:rPr lang="pt-BR" dirty="0"/>
              <a:t> é: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Para chamar: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87C3A99-67CE-4BB8-A535-665BB16F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Functions</a:t>
            </a: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FFBE5C3-50CD-41CD-8F55-2654E5AFFA4A}"/>
              </a:ext>
            </a:extLst>
          </p:cNvPr>
          <p:cNvSpPr/>
          <p:nvPr/>
        </p:nvSpPr>
        <p:spPr>
          <a:xfrm>
            <a:off x="2483768" y="3861048"/>
            <a:ext cx="604867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function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lang="pt-BR" sz="2400" dirty="0" err="1">
                <a:latin typeface="Consolas" panose="020B0609020204030204" pitchFamily="49" charset="0"/>
              </a:rPr>
              <a:t>exibeMensagem</a:t>
            </a:r>
            <a:r>
              <a:rPr lang="pt-BR" sz="2400" dirty="0">
                <a:latin typeface="Consolas" panose="020B0609020204030204" pitchFamily="49" charset="0"/>
              </a:rPr>
              <a:t>() {</a:t>
            </a:r>
          </a:p>
          <a:p>
            <a:r>
              <a:rPr lang="pt-BR" sz="2400" dirty="0">
                <a:latin typeface="Consolas" panose="020B0609020204030204" pitchFamily="49" charset="0"/>
              </a:rPr>
              <a:t>        </a:t>
            </a:r>
            <a:r>
              <a:rPr lang="pt-BR" sz="2400" dirty="0" err="1">
                <a:latin typeface="Consolas" panose="020B0609020204030204" pitchFamily="49" charset="0"/>
              </a:rPr>
              <a:t>echo</a:t>
            </a:r>
            <a:r>
              <a:rPr lang="pt-BR" sz="2400" dirty="0">
                <a:latin typeface="Consolas" panose="020B0609020204030204" pitchFamily="49" charset="0"/>
              </a:rPr>
              <a:t> "Olá mundo";</a:t>
            </a:r>
          </a:p>
          <a:p>
            <a:r>
              <a:rPr lang="pt-BR" sz="2400" dirty="0">
                <a:latin typeface="Consolas" panose="020B0609020204030204" pitchFamily="49" charset="0"/>
              </a:rPr>
              <a:t>    }</a:t>
            </a:r>
          </a:p>
          <a:p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pt-B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81EC7F1-811C-44BF-8404-2FCDA49CEEAA}"/>
              </a:ext>
            </a:extLst>
          </p:cNvPr>
          <p:cNvSpPr/>
          <p:nvPr/>
        </p:nvSpPr>
        <p:spPr>
          <a:xfrm>
            <a:off x="3203848" y="5886315"/>
            <a:ext cx="29033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exibeMensagem</a:t>
            </a:r>
            <a:r>
              <a:rPr lang="pt-BR" sz="2400" dirty="0">
                <a:solidFill>
                  <a:srgbClr val="FF0000"/>
                </a:solidFill>
                <a:latin typeface="Consolas" panose="020B0609020204030204" pitchFamily="49" charset="0"/>
              </a:rPr>
              <a:t>();</a:t>
            </a:r>
            <a:endParaRPr lang="pt-BR" sz="24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986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5DBD42AC-0505-47C3-8C87-813CFEE36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muito comum utilizarmos argumentos (parâmetros) nas funções;</a:t>
            </a:r>
          </a:p>
          <a:p>
            <a:r>
              <a:rPr lang="pt-BR" dirty="0"/>
              <a:t>Isso garante um grau de generalidade e reuso importante nas aplicações;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ADDD1BF-0A90-41E7-9B3F-3645CBCE4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Functions</a:t>
            </a: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8337313-1AA4-47A9-9A58-101222901EA5}"/>
              </a:ext>
            </a:extLst>
          </p:cNvPr>
          <p:cNvSpPr/>
          <p:nvPr/>
        </p:nvSpPr>
        <p:spPr>
          <a:xfrm>
            <a:off x="683568" y="3501008"/>
            <a:ext cx="85689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err="1">
                <a:latin typeface="Consolas" panose="020B0609020204030204" pitchFamily="49" charset="0"/>
              </a:rPr>
              <a:t>function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nomeSobrenome</a:t>
            </a:r>
            <a:r>
              <a:rPr lang="pt-BR" sz="2400" dirty="0">
                <a:latin typeface="Consolas" panose="020B0609020204030204" pitchFamily="49" charset="0"/>
              </a:rPr>
              <a:t>($nome, $</a:t>
            </a:r>
            <a:r>
              <a:rPr lang="pt-BR" sz="2400" dirty="0" err="1">
                <a:latin typeface="Consolas" panose="020B0609020204030204" pitchFamily="49" charset="0"/>
              </a:rPr>
              <a:t>sobreNome</a:t>
            </a:r>
            <a:r>
              <a:rPr lang="pt-BR" sz="2400" dirty="0">
                <a:latin typeface="Consolas" panose="020B0609020204030204" pitchFamily="49" charset="0"/>
              </a:rPr>
              <a:t>) {</a:t>
            </a:r>
          </a:p>
          <a:p>
            <a:r>
              <a:rPr lang="pt-BR" sz="2400" dirty="0">
                <a:latin typeface="Consolas" panose="020B0609020204030204" pitchFamily="49" charset="0"/>
              </a:rPr>
              <a:t>        </a:t>
            </a:r>
            <a:r>
              <a:rPr lang="pt-BR" sz="2400" dirty="0" err="1">
                <a:latin typeface="Consolas" panose="020B0609020204030204" pitchFamily="49" charset="0"/>
              </a:rPr>
              <a:t>echo</a:t>
            </a:r>
            <a:r>
              <a:rPr lang="pt-BR" sz="2400" dirty="0">
                <a:latin typeface="Consolas" panose="020B0609020204030204" pitchFamily="49" charset="0"/>
              </a:rPr>
              <a:t> "Nome Completo: " . $nome . " " . $</a:t>
            </a:r>
            <a:r>
              <a:rPr lang="pt-BR" sz="2400" dirty="0" err="1">
                <a:latin typeface="Consolas" panose="020B0609020204030204" pitchFamily="49" charset="0"/>
              </a:rPr>
              <a:t>sobreNome</a:t>
            </a:r>
            <a:r>
              <a:rPr lang="pt-BR" sz="2400" dirty="0">
                <a:latin typeface="Consolas" panose="020B0609020204030204" pitchFamily="49" charset="0"/>
              </a:rPr>
              <a:t>;</a:t>
            </a:r>
          </a:p>
          <a:p>
            <a:r>
              <a:rPr lang="pt-BR" sz="2400" dirty="0">
                <a:latin typeface="Consolas" panose="020B0609020204030204" pitchFamily="49" charset="0"/>
              </a:rPr>
              <a:t>}</a:t>
            </a:r>
          </a:p>
          <a:p>
            <a:r>
              <a:rPr lang="pt-BR" sz="2400" dirty="0">
                <a:latin typeface="Consolas" panose="020B0609020204030204" pitchFamily="49" charset="0"/>
              </a:rPr>
              <a:t/>
            </a:r>
            <a:br>
              <a:rPr lang="pt-BR" sz="2400" dirty="0">
                <a:latin typeface="Consolas" panose="020B0609020204030204" pitchFamily="49" charset="0"/>
              </a:rPr>
            </a:br>
            <a:r>
              <a:rPr lang="pt-BR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nomeSobrenome</a:t>
            </a:r>
            <a:r>
              <a:rPr lang="pt-BR" sz="2400" dirty="0">
                <a:latin typeface="Consolas" panose="020B0609020204030204" pitchFamily="49" charset="0"/>
              </a:rPr>
              <a:t>("</a:t>
            </a:r>
            <a:r>
              <a:rPr lang="pt-BR" sz="2400" dirty="0" err="1">
                <a:latin typeface="Consolas" panose="020B0609020204030204" pitchFamily="49" charset="0"/>
              </a:rPr>
              <a:t>Clebrer</a:t>
            </a:r>
            <a:r>
              <a:rPr lang="pt-BR" sz="2400" dirty="0">
                <a:latin typeface="Consolas" panose="020B0609020204030204" pitchFamily="49" charset="0"/>
              </a:rPr>
              <a:t>", "Nardelli");</a:t>
            </a:r>
            <a:endParaRPr lang="pt-BR" sz="24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74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5DBD42AC-0505-47C3-8C87-813CFEE36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possível definir valores padrões para os argumentos bem como tipos primitivos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ADDD1BF-0A90-41E7-9B3F-3645CBCE4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Functions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1CEF483-D135-4BBA-BB9E-A927C67821C2}"/>
              </a:ext>
            </a:extLst>
          </p:cNvPr>
          <p:cNvSpPr/>
          <p:nvPr/>
        </p:nvSpPr>
        <p:spPr>
          <a:xfrm>
            <a:off x="827584" y="2492896"/>
            <a:ext cx="763284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err="1">
                <a:latin typeface="Consolas" panose="020B0609020204030204" pitchFamily="49" charset="0"/>
              </a:rPr>
              <a:t>function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metroQuadrado</a:t>
            </a:r>
            <a:r>
              <a:rPr lang="pt-BR" sz="240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pt-BR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2400" dirty="0">
                <a:solidFill>
                  <a:srgbClr val="FF0000"/>
                </a:solidFill>
                <a:latin typeface="Consolas" panose="020B0609020204030204" pitchFamily="49" charset="0"/>
              </a:rPr>
              <a:t> $lado1 = 1, </a:t>
            </a:r>
            <a:r>
              <a:rPr lang="pt-BR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2400" dirty="0">
                <a:solidFill>
                  <a:srgbClr val="FF0000"/>
                </a:solidFill>
                <a:latin typeface="Consolas" panose="020B0609020204030204" pitchFamily="49" charset="0"/>
              </a:rPr>
              <a:t> $lado2 = 1</a:t>
            </a:r>
            <a:r>
              <a:rPr lang="pt-BR" sz="2400" dirty="0">
                <a:latin typeface="Consolas" panose="020B0609020204030204" pitchFamily="49" charset="0"/>
              </a:rPr>
              <a:t>) {</a:t>
            </a:r>
          </a:p>
          <a:p>
            <a:r>
              <a:rPr lang="pt-BR" sz="2400" dirty="0">
                <a:latin typeface="Consolas" panose="020B0609020204030204" pitchFamily="49" charset="0"/>
              </a:rPr>
              <a:t>    </a:t>
            </a:r>
            <a:r>
              <a:rPr lang="pt-BR" sz="2400" dirty="0" err="1">
                <a:latin typeface="Consolas" panose="020B0609020204030204" pitchFamily="49" charset="0"/>
              </a:rPr>
              <a:t>echo</a:t>
            </a:r>
            <a:r>
              <a:rPr lang="pt-BR" sz="2400" dirty="0">
                <a:latin typeface="Consolas" panose="020B0609020204030204" pitchFamily="49" charset="0"/>
              </a:rPr>
              <a:t> "Total M2: " . ($lado1 * $lado2);</a:t>
            </a:r>
          </a:p>
          <a:p>
            <a:r>
              <a:rPr lang="pt-BR" sz="2400" dirty="0">
                <a:latin typeface="Consolas" panose="020B0609020204030204" pitchFamily="49" charset="0"/>
              </a:rPr>
              <a:t>}</a:t>
            </a:r>
          </a:p>
          <a:p>
            <a:r>
              <a:rPr lang="pt-BR" sz="2400" dirty="0">
                <a:latin typeface="Consolas" panose="020B0609020204030204" pitchFamily="49" charset="0"/>
              </a:rPr>
              <a:t/>
            </a:r>
            <a:br>
              <a:rPr lang="pt-BR" sz="2400" dirty="0">
                <a:latin typeface="Consolas" panose="020B0609020204030204" pitchFamily="49" charset="0"/>
              </a:rPr>
            </a:br>
            <a:r>
              <a:rPr lang="pt-BR" sz="2400" dirty="0" err="1">
                <a:latin typeface="Consolas" panose="020B0609020204030204" pitchFamily="49" charset="0"/>
              </a:rPr>
              <a:t>metroQuadrado</a:t>
            </a:r>
            <a:r>
              <a:rPr lang="pt-BR" sz="2400" dirty="0">
                <a:latin typeface="Consolas" panose="020B0609020204030204" pitchFamily="49" charset="0"/>
              </a:rPr>
              <a:t>(5);</a:t>
            </a:r>
            <a:endParaRPr lang="pt-BR" sz="24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207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5DBD42AC-0505-47C3-8C87-813CFEE36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r>
              <a:rPr lang="pt-BR" dirty="0"/>
              <a:t>Um dos objetivos de se usar </a:t>
            </a:r>
            <a:r>
              <a:rPr lang="pt-BR" dirty="0" err="1"/>
              <a:t>functions</a:t>
            </a:r>
            <a:r>
              <a:rPr lang="pt-BR" dirty="0"/>
              <a:t> é a capacidade de retornar dados computados nela;</a:t>
            </a:r>
          </a:p>
          <a:p>
            <a:r>
              <a:rPr lang="pt-BR" dirty="0"/>
              <a:t>Utiliza-se a palavra chave </a:t>
            </a:r>
            <a:r>
              <a:rPr lang="pt-BR" b="1" dirty="0"/>
              <a:t>RETURN</a:t>
            </a:r>
            <a:r>
              <a:rPr lang="pt-BR" dirty="0"/>
              <a:t> para isso;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ADDD1BF-0A90-41E7-9B3F-3645CBCE4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Functions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017043F-E9C5-439A-A3DA-3BD595033053}"/>
              </a:ext>
            </a:extLst>
          </p:cNvPr>
          <p:cNvSpPr/>
          <p:nvPr/>
        </p:nvSpPr>
        <p:spPr>
          <a:xfrm>
            <a:off x="179512" y="3356992"/>
            <a:ext cx="8856984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  <a:t>   </a:t>
            </a:r>
            <a:r>
              <a:rPr lang="pt-BR" sz="1900" dirty="0" err="1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900" dirty="0" err="1">
                <a:solidFill>
                  <a:srgbClr val="D4D4D4"/>
                </a:solidFill>
                <a:latin typeface="Consolas" panose="020B0609020204030204" pitchFamily="49" charset="0"/>
              </a:rPr>
              <a:t>metroQuadrado</a:t>
            </a:r>
            <a: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19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  <a:t> $lado1 = </a:t>
            </a:r>
            <a:r>
              <a:rPr lang="pt-BR" sz="19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19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  <a:t> $lado2 = </a:t>
            </a:r>
            <a:r>
              <a:rPr lang="pt-BR" sz="19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pt-BR" sz="19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  <a:t> $lado1 * $lado2;</a:t>
            </a:r>
          </a:p>
          <a:p>
            <a: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  <a:t>   }</a:t>
            </a:r>
          </a:p>
          <a:p>
            <a: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  <a:t>   </a:t>
            </a:r>
            <a:r>
              <a:rPr lang="pt-BR" sz="1900" dirty="0" err="1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1900" dirty="0" err="1">
                <a:solidFill>
                  <a:srgbClr val="D4D4D4"/>
                </a:solidFill>
                <a:latin typeface="Consolas" panose="020B0609020204030204" pitchFamily="49" charset="0"/>
              </a:rPr>
              <a:t>exibeMensagem</a:t>
            </a:r>
            <a:r>
              <a:rPr lang="pt-BR" sz="1900" u="sng" dirty="0">
                <a:solidFill>
                  <a:srgbClr val="D4D4D4"/>
                </a:solidFill>
                <a:latin typeface="Consolas" panose="020B0609020204030204" pitchFamily="49" charset="0"/>
              </a:rPr>
              <a:t>($</a:t>
            </a:r>
            <a: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  <a:t>mensagem) {</a:t>
            </a:r>
          </a:p>
          <a:p>
            <a: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pt-BR" sz="1900" dirty="0" err="1">
                <a:solidFill>
                  <a:srgbClr val="D4D4D4"/>
                </a:solidFill>
                <a:latin typeface="Consolas" panose="020B0609020204030204" pitchFamily="49" charset="0"/>
              </a:rPr>
              <a:t>echo</a:t>
            </a:r>
            <a: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  <a:t> $mensagem;</a:t>
            </a:r>
          </a:p>
          <a:p>
            <a: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  <a:t>   }</a:t>
            </a:r>
          </a:p>
          <a:p>
            <a: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pt-BR" sz="1900" dirty="0">
                <a:solidFill>
                  <a:srgbClr val="D4D4D4"/>
                </a:solidFill>
                <a:latin typeface="Consolas" panose="020B0609020204030204" pitchFamily="49" charset="0"/>
              </a:rPr>
              <a:t>   </a:t>
            </a:r>
            <a:r>
              <a:rPr lang="pt-BR" sz="2200" dirty="0" err="1">
                <a:solidFill>
                  <a:srgbClr val="D4D4D4"/>
                </a:solidFill>
                <a:latin typeface="Consolas" panose="020B0609020204030204" pitchFamily="49" charset="0"/>
              </a:rPr>
              <a:t>exibeMensagem</a:t>
            </a:r>
            <a:r>
              <a:rPr lang="pt-BR" sz="22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200" dirty="0">
                <a:solidFill>
                  <a:srgbClr val="CE9178"/>
                </a:solidFill>
                <a:latin typeface="Consolas" panose="020B0609020204030204" pitchFamily="49" charset="0"/>
              </a:rPr>
              <a:t>"Total M2: "</a:t>
            </a:r>
            <a:r>
              <a:rPr lang="pt-BR" sz="2200" dirty="0">
                <a:solidFill>
                  <a:srgbClr val="D4D4D4"/>
                </a:solidFill>
                <a:latin typeface="Consolas" panose="020B0609020204030204" pitchFamily="49" charset="0"/>
              </a:rPr>
              <a:t> . </a:t>
            </a:r>
            <a:r>
              <a:rPr lang="pt-BR" sz="2200" u="sng" dirty="0" err="1">
                <a:solidFill>
                  <a:srgbClr val="D4D4D4"/>
                </a:solidFill>
                <a:latin typeface="Consolas" panose="020B0609020204030204" pitchFamily="49" charset="0"/>
              </a:rPr>
              <a:t>metroQuadrado</a:t>
            </a:r>
            <a:r>
              <a:rPr lang="pt-BR" sz="2200" u="sng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200" u="sng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pt-BR" sz="2200" u="sng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pt-BR" sz="2200" u="sng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pt-BR" sz="2200" u="sng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r>
              <a:rPr lang="pt-BR" sz="22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pt-BR" sz="2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84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5DBD42AC-0505-47C3-8C87-813CFEE36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lang="pt-BR" dirty="0"/>
              <a:t>Argumentos por referência x por cópia:</a:t>
            </a:r>
          </a:p>
          <a:p>
            <a:pPr lvl="1"/>
            <a:r>
              <a:rPr lang="pt-BR" b="1" dirty="0"/>
              <a:t>Normalmente</a:t>
            </a:r>
            <a:r>
              <a:rPr lang="pt-BR" dirty="0"/>
              <a:t>: por cópia do valor;</a:t>
            </a:r>
          </a:p>
          <a:p>
            <a:pPr lvl="1"/>
            <a:r>
              <a:rPr lang="pt-BR" b="1" dirty="0"/>
              <a:t>Referência</a:t>
            </a:r>
            <a:r>
              <a:rPr lang="pt-BR" dirty="0"/>
              <a:t>: o endereço de memória da variável é compartilhado e a mudança afeta a variável;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ADDD1BF-0A90-41E7-9B3F-3645CBCE4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Functions</a:t>
            </a: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807E704-20AC-4678-BEC7-905A9B7D4719}"/>
              </a:ext>
            </a:extLst>
          </p:cNvPr>
          <p:cNvSpPr/>
          <p:nvPr/>
        </p:nvSpPr>
        <p:spPr>
          <a:xfrm>
            <a:off x="806896" y="2852936"/>
            <a:ext cx="8229600" cy="369331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$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salarioBruto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$impostos =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$liquido =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calculaFolhaPagto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$bruto, 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$imposto, 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&amp;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$liquido) {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$bruto =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10000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$imposto =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1000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$liquido = $bruto - $imposto;  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calculaFolhaPagto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($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salarioBruto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$impostos, $liquido);</a:t>
            </a:r>
          </a:p>
          <a:p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echo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"Bruto: 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. $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salarioBruto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.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"Imposto: 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. $impostos .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"Líquido: 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. $liquido;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933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8A01D94-D0B0-45B9-9A0E-CCC59487E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Nomes de funções são case-</a:t>
            </a:r>
            <a:r>
              <a:rPr lang="pt-BR" dirty="0" err="1"/>
              <a:t>insensitive</a:t>
            </a:r>
            <a:r>
              <a:rPr lang="pt-BR" dirty="0"/>
              <a:t> para caracteres ASCII A até Z, mas é melhor chamar as funções da mesma forma que elas aparecem nas declarações;</a:t>
            </a:r>
          </a:p>
          <a:p>
            <a:r>
              <a:rPr lang="pt-BR" dirty="0"/>
              <a:t>O PHP não suporta sobrecarga de funções;</a:t>
            </a:r>
          </a:p>
          <a:p>
            <a:r>
              <a:rPr lang="pt-BR" dirty="0"/>
              <a:t>Todas as funções e classes no PHP tem escopo global - elas podem ser chamadas fora de uma função mesmo que tenham sido definidas dentro e vice-versa;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9F2BFFB-6F0C-4EFC-BDFB-0CC89F97D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Functions</a:t>
            </a:r>
            <a:r>
              <a:rPr lang="pt-BR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591320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7318A98-808E-4A20-B7E8-5671EA6F7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514" y="1556792"/>
            <a:ext cx="8229600" cy="4968552"/>
          </a:xfrm>
        </p:spPr>
        <p:txBody>
          <a:bodyPr>
            <a:normAutofit/>
          </a:bodyPr>
          <a:lstStyle/>
          <a:p>
            <a:r>
              <a:rPr lang="pt-BR" dirty="0"/>
              <a:t>Utilizando </a:t>
            </a:r>
            <a:r>
              <a:rPr lang="pt-BR" dirty="0" err="1"/>
              <a:t>functions</a:t>
            </a:r>
            <a:r>
              <a:rPr lang="pt-BR" dirty="0"/>
              <a:t>, implementar um programa PHP para:</a:t>
            </a:r>
          </a:p>
          <a:p>
            <a:pPr lvl="1"/>
            <a:r>
              <a:rPr lang="pt-BR" dirty="0"/>
              <a:t>Declarar </a:t>
            </a:r>
            <a:r>
              <a:rPr lang="pt-BR" dirty="0" err="1"/>
              <a:t>array</a:t>
            </a:r>
            <a:r>
              <a:rPr lang="pt-BR" dirty="0"/>
              <a:t> com notas (quantas </a:t>
            </a:r>
            <a:r>
              <a:rPr lang="pt-BR" dirty="0" err="1"/>
              <a:t>vc</a:t>
            </a:r>
            <a:r>
              <a:rPr lang="pt-BR" dirty="0"/>
              <a:t> quiser);</a:t>
            </a:r>
          </a:p>
          <a:p>
            <a:pPr lvl="1"/>
            <a:r>
              <a:rPr lang="pt-BR" dirty="0"/>
              <a:t>Declarar </a:t>
            </a:r>
            <a:r>
              <a:rPr lang="pt-BR" dirty="0" err="1"/>
              <a:t>array</a:t>
            </a:r>
            <a:r>
              <a:rPr lang="pt-BR" dirty="0"/>
              <a:t> com faltas (cada posição é um dia)</a:t>
            </a:r>
          </a:p>
          <a:p>
            <a:pPr lvl="1"/>
            <a:r>
              <a:rPr lang="pt-BR" dirty="0"/>
              <a:t>Criar </a:t>
            </a:r>
            <a:r>
              <a:rPr lang="pt-BR" dirty="0" err="1"/>
              <a:t>functions</a:t>
            </a:r>
            <a:r>
              <a:rPr lang="pt-BR" dirty="0"/>
              <a:t> para:</a:t>
            </a:r>
          </a:p>
          <a:p>
            <a:pPr lvl="2"/>
            <a:r>
              <a:rPr lang="pt-BR" dirty="0"/>
              <a:t>Calcular e retornar a média das notas;</a:t>
            </a:r>
          </a:p>
          <a:p>
            <a:pPr lvl="2"/>
            <a:r>
              <a:rPr lang="pt-BR" dirty="0"/>
              <a:t>Verificar e retornar o status da aprovação por nota Aprovado, caso a média seja maior do 7;</a:t>
            </a:r>
          </a:p>
          <a:p>
            <a:pPr lvl="2"/>
            <a:r>
              <a:rPr lang="pt-BR" dirty="0"/>
              <a:t>Calcular e retornar a frequência do aluno;</a:t>
            </a:r>
          </a:p>
          <a:p>
            <a:pPr lvl="2"/>
            <a:r>
              <a:rPr lang="pt-BR" dirty="0"/>
              <a:t>Verificar e retornar o status da aprovação por frequência Aprovado caso &gt; 70%;</a:t>
            </a:r>
          </a:p>
          <a:p>
            <a:pPr lvl="1"/>
            <a:r>
              <a:rPr lang="pt-BR" dirty="0"/>
              <a:t>Fazer as chamadas para as </a:t>
            </a:r>
            <a:r>
              <a:rPr lang="pt-BR" dirty="0" err="1"/>
              <a:t>funcs</a:t>
            </a:r>
            <a:r>
              <a:rPr lang="pt-BR" dirty="0"/>
              <a:t> e exibir;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241E6DA-5BB5-493C-AC38-EF452FC01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Exe</a:t>
            </a:r>
            <a:r>
              <a:rPr lang="pt-BR" dirty="0"/>
              <a:t> 1 – Generalizar e Reusar</a:t>
            </a:r>
          </a:p>
        </p:txBody>
      </p:sp>
      <p:sp>
        <p:nvSpPr>
          <p:cNvPr id="4" name="Retângulo 3">
            <a:hlinkClick r:id="rId2" action="ppaction://hlinkfile"/>
            <a:extLst>
              <a:ext uri="{FF2B5EF4-FFF2-40B4-BE49-F238E27FC236}">
                <a16:creationId xmlns:a16="http://schemas.microsoft.com/office/drawing/2014/main" id="{57AEB187-EB31-4890-99A6-C5602CE31A25}"/>
              </a:ext>
            </a:extLst>
          </p:cNvPr>
          <p:cNvSpPr/>
          <p:nvPr/>
        </p:nvSpPr>
        <p:spPr>
          <a:xfrm>
            <a:off x="6012160" y="6156789"/>
            <a:ext cx="16930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hlinkClick r:id="rId2" action="ppaction://hlinkfile"/>
              </a:rPr>
              <a:t>Resolução</a:t>
            </a:r>
            <a:endParaRPr lang="pt-BR" sz="24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B766FB4-B3BC-4691-A552-B8CCDFBA8A3E}"/>
              </a:ext>
            </a:extLst>
          </p:cNvPr>
          <p:cNvSpPr/>
          <p:nvPr/>
        </p:nvSpPr>
        <p:spPr>
          <a:xfrm>
            <a:off x="493159" y="1048306"/>
            <a:ext cx="61670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Exercícios 1, 2, 3 e 4 valem 0.4 da nota de exercícios</a:t>
            </a:r>
          </a:p>
        </p:txBody>
      </p:sp>
    </p:spTree>
    <p:extLst>
      <p:ext uri="{BB962C8B-B14F-4D97-AF65-F5344CB8AC3E}">
        <p14:creationId xmlns:p14="http://schemas.microsoft.com/office/powerpoint/2010/main" val="123319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31E0E643-5969-43BC-9A37-D5560F9E1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Chamadas recursivas são usadas com frequência no nosso cotidiano;</a:t>
            </a:r>
          </a:p>
          <a:p>
            <a:r>
              <a:rPr lang="pt-BR" dirty="0"/>
              <a:t>Consiste na chamada de uma função de dentro dela mesma;</a:t>
            </a:r>
          </a:p>
          <a:p>
            <a:endParaRPr lang="pt-BR" dirty="0"/>
          </a:p>
          <a:p>
            <a:r>
              <a:rPr lang="pt-BR" i="1" dirty="0"/>
              <a:t>ATENÇÃO: Deve-se controlar com muito cuidado o momento do encerramento da recursividade, </a:t>
            </a:r>
            <a:r>
              <a:rPr lang="pt-BR" i="1" dirty="0">
                <a:solidFill>
                  <a:srgbClr val="FF0000"/>
                </a:solidFill>
              </a:rPr>
              <a:t>sob pena de exaurir os recursos computacionais do servidor</a:t>
            </a:r>
            <a:r>
              <a:rPr lang="pt-BR" i="1" dirty="0"/>
              <a:t>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01B3FBF-87B6-4120-8061-E38A6F99F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Functions</a:t>
            </a:r>
            <a:r>
              <a:rPr lang="pt-BR" dirty="0"/>
              <a:t> - Recursividade</a:t>
            </a:r>
          </a:p>
        </p:txBody>
      </p:sp>
    </p:spTree>
    <p:extLst>
      <p:ext uri="{BB962C8B-B14F-4D97-AF65-F5344CB8AC3E}">
        <p14:creationId xmlns:p14="http://schemas.microsoft.com/office/powerpoint/2010/main" val="4255528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7DC38914-8051-4FB3-AED2-BE08B8063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59226"/>
            <a:ext cx="8229600" cy="4525963"/>
          </a:xfrm>
        </p:spPr>
        <p:txBody>
          <a:bodyPr/>
          <a:lstStyle/>
          <a:p>
            <a:r>
              <a:rPr lang="pt-BR" dirty="0"/>
              <a:t>Dado o </a:t>
            </a:r>
            <a:r>
              <a:rPr lang="pt-BR" dirty="0" err="1"/>
              <a:t>Array</a:t>
            </a:r>
            <a:r>
              <a:rPr lang="pt-BR" dirty="0"/>
              <a:t>, pede-se para recursivamente criar a árvore ao lado: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89BE1C6-CBC1-47BC-A177-5BDA1F7F6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Exe</a:t>
            </a:r>
            <a:r>
              <a:rPr lang="pt-BR" dirty="0"/>
              <a:t> 2 – Árvore Recursiva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B4C2249-36F2-4E78-A4BF-9A16EFA092F0}"/>
              </a:ext>
            </a:extLst>
          </p:cNvPr>
          <p:cNvSpPr/>
          <p:nvPr/>
        </p:nvSpPr>
        <p:spPr>
          <a:xfrm>
            <a:off x="299842" y="2276872"/>
            <a:ext cx="560841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latin typeface="Consolas" panose="020B0609020204030204" pitchFamily="49" charset="0"/>
              </a:rPr>
              <a:t>$pastas = </a:t>
            </a:r>
          </a:p>
          <a:p>
            <a:r>
              <a:rPr lang="pt-BR" sz="2400" dirty="0">
                <a:latin typeface="Consolas" panose="020B0609020204030204" pitchFamily="49" charset="0"/>
              </a:rPr>
              <a:t>  </a:t>
            </a:r>
            <a:r>
              <a:rPr lang="pt-BR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array</a:t>
            </a:r>
            <a:r>
              <a:rPr lang="pt-BR" sz="2400" dirty="0">
                <a:latin typeface="Consolas" panose="020B0609020204030204" pitchFamily="49" charset="0"/>
              </a:rPr>
              <a:t>("</a:t>
            </a:r>
            <a:r>
              <a:rPr lang="pt-BR" sz="2400" dirty="0" err="1">
                <a:latin typeface="Consolas" panose="020B0609020204030204" pitchFamily="49" charset="0"/>
              </a:rPr>
              <a:t>bsn</a:t>
            </a:r>
            <a:r>
              <a:rPr lang="pt-BR" sz="2400" dirty="0">
                <a:latin typeface="Consolas" panose="020B0609020204030204" pitchFamily="49" charset="0"/>
              </a:rPr>
              <a:t>" =&gt; </a:t>
            </a:r>
          </a:p>
          <a:p>
            <a:r>
              <a:rPr lang="pt-BR" sz="2400" dirty="0">
                <a:latin typeface="Consolas" panose="020B0609020204030204" pitchFamily="49" charset="0"/>
              </a:rPr>
              <a:t>     </a:t>
            </a:r>
            <a:r>
              <a:rPr lang="pt-BR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array</a:t>
            </a:r>
            <a:r>
              <a:rPr lang="pt-BR" sz="2400" dirty="0">
                <a:latin typeface="Consolas" panose="020B0609020204030204" pitchFamily="49" charset="0"/>
              </a:rPr>
              <a:t>("3a Fase" =&gt; </a:t>
            </a:r>
          </a:p>
          <a:p>
            <a:r>
              <a:rPr lang="pt-BR" sz="2400" dirty="0">
                <a:latin typeface="Consolas" panose="020B0609020204030204" pitchFamily="49" charset="0"/>
              </a:rPr>
              <a:t>	  </a:t>
            </a:r>
            <a:r>
              <a:rPr lang="pt-BR" sz="2400" dirty="0" err="1">
                <a:latin typeface="Consolas" panose="020B0609020204030204" pitchFamily="49" charset="0"/>
              </a:rPr>
              <a:t>array</a:t>
            </a:r>
            <a:r>
              <a:rPr lang="pt-BR" sz="2400" dirty="0">
                <a:latin typeface="Consolas" panose="020B0609020204030204" pitchFamily="49" charset="0"/>
              </a:rPr>
              <a:t>("</a:t>
            </a:r>
            <a:r>
              <a:rPr lang="pt-BR" sz="2400" dirty="0" err="1">
                <a:latin typeface="Consolas" panose="020B0609020204030204" pitchFamily="49" charset="0"/>
              </a:rPr>
              <a:t>desenvWeb</a:t>
            </a:r>
            <a:r>
              <a:rPr lang="pt-BR" sz="2400" dirty="0">
                <a:latin typeface="Consolas" panose="020B0609020204030204" pitchFamily="49" charset="0"/>
              </a:rPr>
              <a:t>", "</a:t>
            </a:r>
            <a:r>
              <a:rPr lang="pt-BR" sz="2400" dirty="0" err="1">
                <a:latin typeface="Consolas" panose="020B0609020204030204" pitchFamily="49" charset="0"/>
              </a:rPr>
              <a:t>bancoDados</a:t>
            </a:r>
            <a:r>
              <a:rPr lang="pt-BR" sz="2400" dirty="0">
                <a:latin typeface="Consolas" panose="020B0609020204030204" pitchFamily="49" charset="0"/>
              </a:rPr>
              <a:t> 1", "</a:t>
            </a:r>
            <a:r>
              <a:rPr lang="pt-BR" sz="2400" dirty="0" err="1">
                <a:latin typeface="Consolas" panose="020B0609020204030204" pitchFamily="49" charset="0"/>
              </a:rPr>
              <a:t>engSoft</a:t>
            </a:r>
            <a:r>
              <a:rPr lang="pt-BR" sz="2400" dirty="0">
                <a:latin typeface="Consolas" panose="020B0609020204030204" pitchFamily="49" charset="0"/>
              </a:rPr>
              <a:t> 1"),</a:t>
            </a:r>
          </a:p>
          <a:p>
            <a:r>
              <a:rPr lang="pt-BR" sz="2400" dirty="0">
                <a:latin typeface="Consolas" panose="020B0609020204030204" pitchFamily="49" charset="0"/>
              </a:rPr>
              <a:t>           "4a Fase" =&gt; </a:t>
            </a:r>
          </a:p>
          <a:p>
            <a:r>
              <a:rPr lang="pt-BR" sz="2400" dirty="0">
                <a:latin typeface="Consolas" panose="020B0609020204030204" pitchFamily="49" charset="0"/>
              </a:rPr>
              <a:t>         </a:t>
            </a:r>
            <a:r>
              <a:rPr lang="pt-BR" sz="2400" dirty="0" err="1">
                <a:latin typeface="Consolas" panose="020B0609020204030204" pitchFamily="49" charset="0"/>
              </a:rPr>
              <a:t>array</a:t>
            </a:r>
            <a:r>
              <a:rPr lang="pt-BR" sz="2400" dirty="0">
                <a:latin typeface="Consolas" panose="020B0609020204030204" pitchFamily="49" charset="0"/>
              </a:rPr>
              <a:t>("</a:t>
            </a:r>
            <a:r>
              <a:rPr lang="pt-BR" sz="2400" dirty="0" err="1">
                <a:latin typeface="Consolas" panose="020B0609020204030204" pitchFamily="49" charset="0"/>
              </a:rPr>
              <a:t>Intro</a:t>
            </a:r>
            <a:r>
              <a:rPr lang="pt-BR" sz="2400" dirty="0">
                <a:latin typeface="Consolas" panose="020B0609020204030204" pitchFamily="49" charset="0"/>
              </a:rPr>
              <a:t> Web", "</a:t>
            </a:r>
            <a:r>
              <a:rPr lang="pt-BR" sz="2400" dirty="0" err="1">
                <a:latin typeface="Consolas" panose="020B0609020204030204" pitchFamily="49" charset="0"/>
              </a:rPr>
              <a:t>bancoDados</a:t>
            </a:r>
            <a:r>
              <a:rPr lang="pt-BR" sz="2400" dirty="0">
                <a:latin typeface="Consolas" panose="020B0609020204030204" pitchFamily="49" charset="0"/>
              </a:rPr>
              <a:t> 2", "</a:t>
            </a:r>
            <a:r>
              <a:rPr lang="pt-BR" sz="2400" dirty="0" err="1">
                <a:latin typeface="Consolas" panose="020B0609020204030204" pitchFamily="49" charset="0"/>
              </a:rPr>
              <a:t>engSoft</a:t>
            </a:r>
            <a:r>
              <a:rPr lang="pt-BR" sz="2400" dirty="0">
                <a:latin typeface="Consolas" panose="020B0609020204030204" pitchFamily="49" charset="0"/>
              </a:rPr>
              <a:t> 2")));</a:t>
            </a:r>
          </a:p>
          <a:p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pt-B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96BF735-60A2-422E-A7D5-7CD61A3B9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255" y="2117875"/>
            <a:ext cx="2778545" cy="3480899"/>
          </a:xfrm>
          <a:prstGeom prst="rect">
            <a:avLst/>
          </a:prstGeom>
        </p:spPr>
      </p:pic>
      <p:sp>
        <p:nvSpPr>
          <p:cNvPr id="9" name="Retângulo 8">
            <a:hlinkClick r:id="rId3" action="ppaction://hlinkfile"/>
            <a:extLst>
              <a:ext uri="{FF2B5EF4-FFF2-40B4-BE49-F238E27FC236}">
                <a16:creationId xmlns:a16="http://schemas.microsoft.com/office/drawing/2014/main" id="{D3C08E95-0F8E-44D5-AD54-5410FC2C79B5}"/>
              </a:ext>
            </a:extLst>
          </p:cNvPr>
          <p:cNvSpPr/>
          <p:nvPr/>
        </p:nvSpPr>
        <p:spPr>
          <a:xfrm>
            <a:off x="6012160" y="6156789"/>
            <a:ext cx="16930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hlinkClick r:id="rId4" action="ppaction://hlinkfile"/>
              </a:rPr>
              <a:t>Resolução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31193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B097FCCE-1C6C-4E4D-9E56-28F4FBBC8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Normalmente iniciamos o uso do PHP no modelo de programação – </a:t>
            </a:r>
            <a:r>
              <a:rPr lang="pt-BR" i="1" dirty="0"/>
              <a:t>Estruturado</a:t>
            </a:r>
          </a:p>
          <a:p>
            <a:r>
              <a:rPr lang="pt-BR" dirty="0"/>
              <a:t>Permite que os programadores no máximo organizem suas estruturas de contextos comuns em arquivos separados, como funções de acesso ao Banco de Dados.</a:t>
            </a:r>
          </a:p>
          <a:p>
            <a:endParaRPr lang="pt-BR" dirty="0"/>
          </a:p>
          <a:p>
            <a:r>
              <a:rPr lang="pt-BR" dirty="0"/>
              <a:t>Surge então a necessidade de organizar o software, separando em múltiplos arquivos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EF23111-0B5D-410F-96F8-85DD226B1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Organização e Dependência</a:t>
            </a:r>
          </a:p>
        </p:txBody>
      </p:sp>
    </p:spTree>
    <p:extLst>
      <p:ext uri="{BB962C8B-B14F-4D97-AF65-F5344CB8AC3E}">
        <p14:creationId xmlns:p14="http://schemas.microsoft.com/office/powerpoint/2010/main" val="3265962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72008"/>
          </a:xfrm>
        </p:spPr>
        <p:txBody>
          <a:bodyPr>
            <a:normAutofit/>
          </a:bodyPr>
          <a:lstStyle/>
          <a:p>
            <a:r>
              <a:rPr lang="pt-BR" dirty="0"/>
              <a:t>Comandos para utilizar essa organização:</a:t>
            </a:r>
          </a:p>
          <a:p>
            <a:pPr lvl="1"/>
            <a:r>
              <a:rPr lang="pt-BR" b="1" dirty="0"/>
              <a:t>include</a:t>
            </a:r>
            <a:r>
              <a:rPr lang="pt-BR" dirty="0"/>
              <a:t>: Tenta incluir o arquivo de script e caso não encontre retorna WARNING;</a:t>
            </a:r>
          </a:p>
          <a:p>
            <a:pPr lvl="1"/>
            <a:endParaRPr lang="pt-BR" dirty="0"/>
          </a:p>
          <a:p>
            <a:pPr lvl="1"/>
            <a:r>
              <a:rPr lang="pt-BR" b="1" dirty="0" err="1"/>
              <a:t>include_once</a:t>
            </a:r>
            <a:r>
              <a:rPr lang="pt-BR" dirty="0"/>
              <a:t>: Igual ao include, porém se o arquivo já foi carregado não o faz novamente;</a:t>
            </a:r>
          </a:p>
          <a:p>
            <a:pPr lvl="1"/>
            <a:endParaRPr lang="pt-BR" dirty="0"/>
          </a:p>
          <a:p>
            <a:pPr lvl="1"/>
            <a:r>
              <a:rPr lang="pt-BR" b="1" dirty="0" err="1"/>
              <a:t>require</a:t>
            </a:r>
            <a:r>
              <a:rPr lang="pt-BR" dirty="0"/>
              <a:t>: Tenta incluir o arquivo e retorna um FATAL ERROR caso não encontre;</a:t>
            </a:r>
          </a:p>
          <a:p>
            <a:pPr lvl="1"/>
            <a:endParaRPr lang="pt-BR" dirty="0"/>
          </a:p>
          <a:p>
            <a:pPr lvl="1"/>
            <a:r>
              <a:rPr lang="pt-BR" b="1" dirty="0" err="1"/>
              <a:t>require_once</a:t>
            </a:r>
            <a:r>
              <a:rPr lang="pt-BR" dirty="0"/>
              <a:t>: Igual ao </a:t>
            </a:r>
            <a:r>
              <a:rPr lang="pt-BR" dirty="0" err="1"/>
              <a:t>require</a:t>
            </a:r>
            <a:r>
              <a:rPr lang="pt-BR" dirty="0"/>
              <a:t>, porém se o arquivo já foi carregado não o faz novamente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Organização e Dependência</a:t>
            </a:r>
          </a:p>
        </p:txBody>
      </p:sp>
    </p:spTree>
    <p:extLst>
      <p:ext uri="{BB962C8B-B14F-4D97-AF65-F5344CB8AC3E}">
        <p14:creationId xmlns:p14="http://schemas.microsoft.com/office/powerpoint/2010/main" val="47355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38474667-8B01-4093-879C-DA6F782D2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Utilizando o Exercício 1 criar um arquivo </a:t>
            </a:r>
            <a:r>
              <a:rPr lang="pt-BR" b="1" dirty="0" err="1"/>
              <a:t>index.php</a:t>
            </a:r>
            <a:r>
              <a:rPr lang="pt-BR" b="1" dirty="0"/>
              <a:t> (principal)</a:t>
            </a:r>
            <a:r>
              <a:rPr lang="pt-BR" dirty="0"/>
              <a:t> e outro denominado </a:t>
            </a:r>
            <a:r>
              <a:rPr lang="pt-BR" b="1" dirty="0" err="1"/>
              <a:t>funções.php</a:t>
            </a:r>
            <a:r>
              <a:rPr lang="pt-BR" b="1" dirty="0"/>
              <a:t> (auxiliar)</a:t>
            </a:r>
            <a:r>
              <a:rPr lang="pt-BR" dirty="0"/>
              <a:t>.</a:t>
            </a:r>
          </a:p>
          <a:p>
            <a:r>
              <a:rPr lang="pt-BR" dirty="0"/>
              <a:t>Utilizar o método </a:t>
            </a:r>
            <a:r>
              <a:rPr lang="pt-BR" b="1" dirty="0" err="1">
                <a:solidFill>
                  <a:srgbClr val="FF0000"/>
                </a:solidFill>
              </a:rPr>
              <a:t>require_once</a:t>
            </a:r>
            <a:r>
              <a:rPr lang="pt-BR" dirty="0"/>
              <a:t>, para requerer ele;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5D311F3-4386-4A8C-B81E-FBF3579A8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Lab. – Organizar em Arquivos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EC59B7-F297-47EE-AB9E-2C6324A62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569542"/>
            <a:ext cx="588645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11208D1-196A-46B8-B6FE-84CB2CE80C29}"/>
              </a:ext>
            </a:extLst>
          </p:cNvPr>
          <p:cNvSpPr/>
          <p:nvPr/>
        </p:nvSpPr>
        <p:spPr>
          <a:xfrm>
            <a:off x="2267744" y="5536499"/>
            <a:ext cx="47724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 err="1">
                <a:solidFill>
                  <a:srgbClr val="569CD6"/>
                </a:solidFill>
                <a:latin typeface="Consolas" panose="020B0609020204030204" pitchFamily="49" charset="0"/>
              </a:rPr>
              <a:t>require_once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funcoes.php</a:t>
            </a:r>
            <a:r>
              <a:rPr lang="pt-BR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pt-B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857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5D3F104-7AFB-476B-B907-6785E4D65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exceção em PHP é um objeto que descreve um erro inesperado ocorrido;</a:t>
            </a:r>
          </a:p>
          <a:p>
            <a:r>
              <a:rPr lang="pt-BR" dirty="0"/>
              <a:t>Dizemos também como “não tratado”;</a:t>
            </a:r>
          </a:p>
          <a:p>
            <a:endParaRPr lang="pt-BR" dirty="0"/>
          </a:p>
          <a:p>
            <a:r>
              <a:rPr lang="pt-BR" dirty="0"/>
              <a:t>Para se lançar uma exceção utilizamos THROW: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56CE097-6FC7-4315-93C9-C71F26D02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Tratamento de Exceção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934B368-9E69-48B8-A5F5-C411DE8FE13E}"/>
              </a:ext>
            </a:extLst>
          </p:cNvPr>
          <p:cNvSpPr/>
          <p:nvPr/>
        </p:nvSpPr>
        <p:spPr>
          <a:xfrm>
            <a:off x="606388" y="4653136"/>
            <a:ext cx="7931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569CD6"/>
                </a:solidFill>
                <a:latin typeface="Consolas" panose="020B0609020204030204" pitchFamily="49" charset="0"/>
              </a:rPr>
              <a:t>throw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569CD6"/>
                </a:solidFill>
                <a:latin typeface="Consolas" panose="020B0609020204030204" pitchFamily="49" charset="0"/>
              </a:rPr>
              <a:t>new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Exception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400" dirty="0">
                <a:solidFill>
                  <a:srgbClr val="CE9178"/>
                </a:solidFill>
                <a:latin typeface="Consolas" panose="020B0609020204030204" pitchFamily="49" charset="0"/>
              </a:rPr>
              <a:t>"Parâmetros inválidos"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pt-B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998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04162CDE-E8AB-49F8-B6B2-704A85140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Controla-se exceções por meio do bloco TRY...CATCH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Existe ainda a opção do TRY...CATCH...FINALLY (igual no JS)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75B031C-2734-44D9-96B4-ED4570E52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Tratamento de Exceção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CCDCCE5-2FF3-473A-8A3C-1F493F81A3AE}"/>
              </a:ext>
            </a:extLst>
          </p:cNvPr>
          <p:cNvSpPr/>
          <p:nvPr/>
        </p:nvSpPr>
        <p:spPr>
          <a:xfrm>
            <a:off x="683568" y="2405481"/>
            <a:ext cx="669674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pt-BR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try</a:t>
            </a:r>
            <a:r>
              <a:rPr lang="pt-BR" sz="2400" dirty="0">
                <a:latin typeface="Consolas" panose="020B0609020204030204" pitchFamily="49" charset="0"/>
              </a:rPr>
              <a:t> {</a:t>
            </a:r>
          </a:p>
          <a:p>
            <a:r>
              <a:rPr lang="pt-BR" sz="2400" dirty="0">
                <a:latin typeface="Consolas" panose="020B0609020204030204" pitchFamily="49" charset="0"/>
              </a:rPr>
              <a:t>        ....</a:t>
            </a:r>
          </a:p>
          <a:p>
            <a:r>
              <a:rPr lang="pt-BR" sz="2400" dirty="0">
                <a:latin typeface="Consolas" panose="020B0609020204030204" pitchFamily="49" charset="0"/>
              </a:rPr>
              <a:t> } </a:t>
            </a:r>
            <a:r>
              <a:rPr lang="pt-BR" sz="2400" dirty="0">
                <a:solidFill>
                  <a:srgbClr val="FF0000"/>
                </a:solidFill>
                <a:latin typeface="Consolas" panose="020B0609020204030204" pitchFamily="49" charset="0"/>
              </a:rPr>
              <a:t>catch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FF0000"/>
                </a:solidFill>
                <a:latin typeface="Consolas" panose="020B0609020204030204" pitchFamily="49" charset="0"/>
              </a:rPr>
              <a:t>(\</a:t>
            </a:r>
            <a:r>
              <a:rPr lang="pt-BR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Throwable</a:t>
            </a:r>
            <a:r>
              <a:rPr lang="pt-BR" sz="2400" dirty="0">
                <a:solidFill>
                  <a:srgbClr val="FF0000"/>
                </a:solidFill>
                <a:latin typeface="Consolas" panose="020B0609020204030204" pitchFamily="49" charset="0"/>
              </a:rPr>
              <a:t> $</a:t>
            </a:r>
            <a:r>
              <a:rPr lang="pt-BR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excecao</a:t>
            </a:r>
            <a:r>
              <a:rPr lang="pt-BR" sz="2400" dirty="0">
                <a:latin typeface="Consolas" panose="020B0609020204030204" pitchFamily="49" charset="0"/>
              </a:rPr>
              <a:t>) {</a:t>
            </a:r>
          </a:p>
          <a:p>
            <a:r>
              <a:rPr lang="pt-BR" sz="2400" dirty="0">
                <a:latin typeface="Consolas" panose="020B0609020204030204" pitchFamily="49" charset="0"/>
              </a:rPr>
              <a:t>        </a:t>
            </a:r>
            <a:r>
              <a:rPr lang="pt-BR" sz="2400" dirty="0" err="1">
                <a:latin typeface="Consolas" panose="020B0609020204030204" pitchFamily="49" charset="0"/>
              </a:rPr>
              <a:t>echo</a:t>
            </a:r>
            <a:r>
              <a:rPr lang="pt-BR" sz="2400" dirty="0">
                <a:latin typeface="Consolas" panose="020B0609020204030204" pitchFamily="49" charset="0"/>
              </a:rPr>
              <a:t> $</a:t>
            </a:r>
            <a:r>
              <a:rPr lang="pt-BR" sz="2400" dirty="0" err="1">
                <a:latin typeface="Consolas" panose="020B0609020204030204" pitchFamily="49" charset="0"/>
              </a:rPr>
              <a:t>excecao</a:t>
            </a:r>
            <a:r>
              <a:rPr lang="pt-BR" sz="2400" dirty="0">
                <a:latin typeface="Consolas" panose="020B0609020204030204" pitchFamily="49" charset="0"/>
              </a:rPr>
              <a:t>-&gt;</a:t>
            </a:r>
            <a:r>
              <a:rPr lang="pt-BR" sz="2400" dirty="0" err="1">
                <a:latin typeface="Consolas" panose="020B0609020204030204" pitchFamily="49" charset="0"/>
              </a:rPr>
              <a:t>getMessage</a:t>
            </a:r>
            <a:r>
              <a:rPr lang="pt-BR" sz="2400" dirty="0">
                <a:latin typeface="Consolas" panose="020B0609020204030204" pitchFamily="49" charset="0"/>
              </a:rPr>
              <a:t>();</a:t>
            </a:r>
          </a:p>
          <a:p>
            <a:r>
              <a:rPr lang="pt-BR" sz="2400" dirty="0">
                <a:latin typeface="Consolas" panose="020B0609020204030204" pitchFamily="49" charset="0"/>
              </a:rPr>
              <a:t> }</a:t>
            </a:r>
          </a:p>
          <a:p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pt-B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301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05FA0EF-99AF-4190-A685-D9B54E7EC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827992"/>
          </a:xfrm>
        </p:spPr>
        <p:txBody>
          <a:bodyPr>
            <a:normAutofit/>
          </a:bodyPr>
          <a:lstStyle/>
          <a:p>
            <a:r>
              <a:rPr lang="pt-BR" dirty="0"/>
              <a:t>São variáveis ​​internas que estão sempre disponíveis em todos os escopos.</a:t>
            </a:r>
          </a:p>
          <a:p>
            <a:pPr lvl="1"/>
            <a:r>
              <a:rPr lang="pt-BR" dirty="0"/>
              <a:t>$GLOBALS</a:t>
            </a:r>
          </a:p>
          <a:p>
            <a:pPr lvl="1"/>
            <a:r>
              <a:rPr lang="pt-BR" dirty="0"/>
              <a:t>$_SERVER</a:t>
            </a:r>
          </a:p>
          <a:p>
            <a:pPr lvl="1"/>
            <a:r>
              <a:rPr lang="pt-BR" dirty="0"/>
              <a:t>$_REQUEST</a:t>
            </a:r>
          </a:p>
          <a:p>
            <a:pPr lvl="1"/>
            <a:r>
              <a:rPr lang="pt-BR" dirty="0"/>
              <a:t>$_POST</a:t>
            </a:r>
          </a:p>
          <a:p>
            <a:pPr lvl="1"/>
            <a:r>
              <a:rPr lang="pt-BR" dirty="0"/>
              <a:t>$_GET</a:t>
            </a:r>
          </a:p>
          <a:p>
            <a:pPr lvl="1"/>
            <a:r>
              <a:rPr lang="pt-BR" dirty="0"/>
              <a:t>$_FILES</a:t>
            </a:r>
          </a:p>
          <a:p>
            <a:pPr lvl="1"/>
            <a:r>
              <a:rPr lang="pt-BR" dirty="0"/>
              <a:t>$_ENV</a:t>
            </a:r>
          </a:p>
          <a:p>
            <a:pPr lvl="1"/>
            <a:r>
              <a:rPr lang="pt-BR" dirty="0"/>
              <a:t>$_COOKIE</a:t>
            </a:r>
          </a:p>
          <a:p>
            <a:pPr lvl="1"/>
            <a:r>
              <a:rPr lang="pt-BR" dirty="0"/>
              <a:t>$_SESSION</a:t>
            </a:r>
            <a:br>
              <a:rPr lang="pt-BR" dirty="0"/>
            </a:b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01D7919-68DF-42AD-B9EE-FF4844796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Globais - SUPER</a:t>
            </a:r>
          </a:p>
        </p:txBody>
      </p:sp>
    </p:spTree>
    <p:extLst>
      <p:ext uri="{BB962C8B-B14F-4D97-AF65-F5344CB8AC3E}">
        <p14:creationId xmlns:p14="http://schemas.microsoft.com/office/powerpoint/2010/main" val="472429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373546A1-9B0A-49FC-BE2D-B6617DE1F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$_REQUEST por exemplo, possui todos os dados enviados do cliente;</a:t>
            </a:r>
          </a:p>
          <a:p>
            <a:r>
              <a:rPr lang="pt-BR" dirty="0"/>
              <a:t>Isso inclui dados de GET, POST e COOKIES;</a:t>
            </a:r>
          </a:p>
          <a:p>
            <a:r>
              <a:rPr lang="pt-BR" dirty="0"/>
              <a:t>Muito útil para usar com Formulários;</a:t>
            </a:r>
          </a:p>
          <a:p>
            <a:endParaRPr lang="pt-BR" dirty="0"/>
          </a:p>
          <a:p>
            <a:r>
              <a:rPr lang="pt-BR" dirty="0"/>
              <a:t>$_SERVER retorna informações como HEADERS, PATHS e dados de Scripts;</a:t>
            </a:r>
          </a:p>
          <a:p>
            <a:r>
              <a:rPr lang="pt-BR" dirty="0"/>
              <a:t>Exemplos: HTTP_HOST, HTTP_USER_AGENT, SERVER_NAME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827D87F-FD43-4550-A3D5-439D66EAA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Globais - SUPER</a:t>
            </a:r>
          </a:p>
        </p:txBody>
      </p:sp>
    </p:spTree>
    <p:extLst>
      <p:ext uri="{BB962C8B-B14F-4D97-AF65-F5344CB8AC3E}">
        <p14:creationId xmlns:p14="http://schemas.microsoft.com/office/powerpoint/2010/main" val="3926644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373546A1-9B0A-49FC-BE2D-B6617DE1F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Usando a SUPERGLOBAL $_REQUEST, pede-se para criar um programa em PHP para:</a:t>
            </a:r>
          </a:p>
          <a:p>
            <a:pPr lvl="1"/>
            <a:r>
              <a:rPr lang="pt-BR" dirty="0"/>
              <a:t>Receber como parâmetro de </a:t>
            </a:r>
            <a:r>
              <a:rPr lang="pt-BR" dirty="0" err="1">
                <a:solidFill>
                  <a:srgbClr val="FF0000"/>
                </a:solidFill>
              </a:rPr>
              <a:t>QueryString</a:t>
            </a:r>
            <a:r>
              <a:rPr lang="pt-BR" dirty="0"/>
              <a:t> os dados: Valor e Desconto;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Criar uma </a:t>
            </a:r>
            <a:r>
              <a:rPr lang="pt-BR" dirty="0" err="1"/>
              <a:t>function</a:t>
            </a:r>
            <a:r>
              <a:rPr lang="pt-BR" dirty="0"/>
              <a:t> para calcular o valor final;</a:t>
            </a:r>
          </a:p>
          <a:p>
            <a:pPr lvl="1"/>
            <a:r>
              <a:rPr lang="pt-BR" dirty="0"/>
              <a:t>Retornar ao cliente;</a:t>
            </a:r>
          </a:p>
          <a:p>
            <a:pPr lvl="1"/>
            <a:r>
              <a:rPr lang="pt-BR" dirty="0"/>
              <a:t>Utilizar os tratamentos de exceção adequados</a:t>
            </a:r>
          </a:p>
          <a:p>
            <a:pPr lvl="1"/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827D87F-FD43-4550-A3D5-439D66EAA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Exe</a:t>
            </a:r>
            <a:r>
              <a:rPr lang="pt-BR" dirty="0"/>
              <a:t> 3 – Capturar </a:t>
            </a:r>
            <a:r>
              <a:rPr lang="pt-BR" dirty="0" err="1"/>
              <a:t>Request</a:t>
            </a: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0E24A80-242A-4B66-9149-4BF715E61F45}"/>
              </a:ext>
            </a:extLst>
          </p:cNvPr>
          <p:cNvSpPr/>
          <p:nvPr/>
        </p:nvSpPr>
        <p:spPr>
          <a:xfrm>
            <a:off x="2051720" y="3282644"/>
            <a:ext cx="46698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/>
              <a:t>....</a:t>
            </a:r>
            <a:r>
              <a:rPr lang="pt-BR" sz="2400" dirty="0" err="1"/>
              <a:t>php?valor</a:t>
            </a:r>
            <a:r>
              <a:rPr lang="pt-BR" sz="2400" dirty="0"/>
              <a:t>=10&amp;desconto=2</a:t>
            </a:r>
          </a:p>
        </p:txBody>
      </p:sp>
    </p:spTree>
    <p:extLst>
      <p:ext uri="{BB962C8B-B14F-4D97-AF65-F5344CB8AC3E}">
        <p14:creationId xmlns:p14="http://schemas.microsoft.com/office/powerpoint/2010/main" val="2001326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E7D14AE-D5E2-43E6-8B34-815A3BB54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Publicada no </a:t>
            </a:r>
            <a:r>
              <a:rPr lang="pt-BR" dirty="0" err="1"/>
              <a:t>classroom</a:t>
            </a:r>
            <a:r>
              <a:rPr lang="pt-BR" dirty="0"/>
              <a:t> folha de exercícios;</a:t>
            </a:r>
          </a:p>
          <a:p>
            <a:r>
              <a:rPr lang="pt-BR" dirty="0"/>
              <a:t>Duas semanas de prazo;</a:t>
            </a:r>
          </a:p>
          <a:p>
            <a:r>
              <a:rPr lang="pt-BR" dirty="0"/>
              <a:t>A entrega consiste em responder com o endereço no GITHUB onde encontram-se as atividades;</a:t>
            </a:r>
          </a:p>
          <a:p>
            <a:r>
              <a:rPr lang="pt-BR" dirty="0"/>
              <a:t>Valem 5 pontos da próxima avaliação 2;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94FDC6A-AB8E-4ABB-8939-3298312C0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Folha de Exercícios</a:t>
            </a:r>
          </a:p>
        </p:txBody>
      </p:sp>
    </p:spTree>
    <p:extLst>
      <p:ext uri="{BB962C8B-B14F-4D97-AF65-F5344CB8AC3E}">
        <p14:creationId xmlns:p14="http://schemas.microsoft.com/office/powerpoint/2010/main" val="1761008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8A75CE3-DB42-46C5-9FD4-7D16F2508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lang="pt-BR" dirty="0"/>
              <a:t>Aula </a:t>
            </a:r>
            <a:r>
              <a:rPr lang="pt-BR" dirty="0" smtClean="0"/>
              <a:t>11</a:t>
            </a:r>
            <a:endParaRPr lang="pt-BR" dirty="0"/>
          </a:p>
          <a:p>
            <a:pPr lvl="1"/>
            <a:r>
              <a:rPr lang="pt-BR" dirty="0"/>
              <a:t>PHP Parte 3 - Sessões e Cookies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E70E99A-03F1-4148-B4A5-8F977CE5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Próxima Aula</a:t>
            </a:r>
          </a:p>
        </p:txBody>
      </p:sp>
    </p:spTree>
    <p:extLst>
      <p:ext uri="{BB962C8B-B14F-4D97-AF65-F5344CB8AC3E}">
        <p14:creationId xmlns:p14="http://schemas.microsoft.com/office/powerpoint/2010/main" val="9934064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1296</TotalTime>
  <Words>854</Words>
  <Application>Microsoft Office PowerPoint</Application>
  <PresentationFormat>Apresentação na tela (4:3)</PresentationFormat>
  <Paragraphs>164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Consolas</vt:lpstr>
      <vt:lpstr>Lucida Sans Unicode</vt:lpstr>
      <vt:lpstr>Verdana</vt:lpstr>
      <vt:lpstr>Wingdings 2</vt:lpstr>
      <vt:lpstr>Wingdings 3</vt:lpstr>
      <vt:lpstr>Concurso</vt:lpstr>
      <vt:lpstr>Programação Web 1 Parte 2 – Functions</vt:lpstr>
      <vt:lpstr>Functions</vt:lpstr>
      <vt:lpstr>Functions</vt:lpstr>
      <vt:lpstr>Functions</vt:lpstr>
      <vt:lpstr>Functions</vt:lpstr>
      <vt:lpstr>Functions</vt:lpstr>
      <vt:lpstr>Functions:</vt:lpstr>
      <vt:lpstr>Exe 1 – Generalizar e Reusar</vt:lpstr>
      <vt:lpstr>Functions - Recursividade</vt:lpstr>
      <vt:lpstr>Exe 2 – Árvore Recursiva</vt:lpstr>
      <vt:lpstr>Organização e Dependência</vt:lpstr>
      <vt:lpstr>Organização e Dependência</vt:lpstr>
      <vt:lpstr>Lab. – Organizar em Arquivos</vt:lpstr>
      <vt:lpstr>Tratamento de Exceção</vt:lpstr>
      <vt:lpstr>Tratamento de Exceção</vt:lpstr>
      <vt:lpstr>Variáveis Globais - SUPER</vt:lpstr>
      <vt:lpstr>Variáveis Globais - SUPER</vt:lpstr>
      <vt:lpstr>Exe 3 – Capturar Request</vt:lpstr>
      <vt:lpstr>Folha de Exercícios</vt:lpstr>
      <vt:lpstr>Próxima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</dc:title>
  <dc:creator>Cleber Nardelli</dc:creator>
  <cp:lastModifiedBy>User</cp:lastModifiedBy>
  <cp:revision>101</cp:revision>
  <dcterms:created xsi:type="dcterms:W3CDTF">2013-09-10T00:11:01Z</dcterms:created>
  <dcterms:modified xsi:type="dcterms:W3CDTF">2025-09-28T23:22:49Z</dcterms:modified>
</cp:coreProperties>
</file>