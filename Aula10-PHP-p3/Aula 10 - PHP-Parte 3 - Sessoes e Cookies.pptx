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86" r:id="rId5"/>
    <p:sldId id="258" r:id="rId6"/>
    <p:sldId id="261" r:id="rId7"/>
    <p:sldId id="260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66" r:id="rId16"/>
    <p:sldId id="276" r:id="rId17"/>
    <p:sldId id="281" r:id="rId18"/>
    <p:sldId id="283" r:id="rId19"/>
    <p:sldId id="284" r:id="rId20"/>
    <p:sldId id="285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82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  <p14:sldId id="257"/>
            <p14:sldId id="259"/>
            <p14:sldId id="286"/>
          </p14:sldIdLst>
        </p14:section>
        <p14:section name="PHP Session" id="{6EA2802E-D8B5-4B71-A099-9858662AF32A}">
          <p14:sldIdLst>
            <p14:sldId id="258"/>
            <p14:sldId id="261"/>
            <p14:sldId id="260"/>
            <p14:sldId id="262"/>
            <p14:sldId id="263"/>
            <p14:sldId id="264"/>
            <p14:sldId id="265"/>
            <p14:sldId id="267"/>
            <p14:sldId id="268"/>
            <p14:sldId id="269"/>
            <p14:sldId id="266"/>
            <p14:sldId id="276"/>
          </p14:sldIdLst>
        </p14:section>
        <p14:section name="Cookies" id="{DD3B77B1-7B9D-49E3-86E7-0DA8484C1823}">
          <p14:sldIdLst>
            <p14:sldId id="281"/>
            <p14:sldId id="283"/>
            <p14:sldId id="284"/>
            <p14:sldId id="285"/>
            <p14:sldId id="288"/>
            <p14:sldId id="289"/>
            <p14:sldId id="290"/>
          </p14:sldIdLst>
        </p14:section>
        <p14:section name="GET" id="{755FE797-A5E6-4926-9743-3677B3C28518}">
          <p14:sldIdLst>
            <p14:sldId id="291"/>
            <p14:sldId id="292"/>
          </p14:sldIdLst>
        </p14:section>
        <p14:section name="POST" id="{FEB42580-D8AE-4FE4-A7FD-32D2CBB053AB}">
          <p14:sldIdLst>
            <p14:sldId id="293"/>
            <p14:sldId id="294"/>
          </p14:sldIdLst>
        </p14:section>
        <p14:section name="Cookies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manual/en/session.security.ini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3schools.com/php/php_cookies.as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3schools.com/php/php_cookies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3schools.com/php/php_cookies.as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3schools.com/php/php_cookies.as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3schools.com/php/php_cookie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php_superglobals_get.asp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php_superglobals_post.asp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/>
              <a:t>Parte 3 </a:t>
            </a:r>
            <a:r>
              <a:rPr lang="pt-BR" b="0" dirty="0"/>
              <a:t>- </a:t>
            </a:r>
            <a:r>
              <a:rPr lang="pt-BR" b="0" dirty="0" err="1"/>
              <a:t>Session</a:t>
            </a:r>
            <a:r>
              <a:rPr lang="pt-BR" b="0" dirty="0"/>
              <a:t> e Cookies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8DB3E57-BFB3-4E2B-A059-9CC45D8E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sabemos o HTTP por natureza é STATELESS!</a:t>
            </a:r>
          </a:p>
          <a:p>
            <a:pPr lvl="1"/>
            <a:r>
              <a:rPr lang="pt-BR" dirty="0"/>
              <a:t>Em termos práticos significa que a cada requisição realizada do cliente para o servidor, nenhum estado (informação) fica salva.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</a:t>
            </a:r>
            <a:r>
              <a:rPr lang="pt-BR" dirty="0" err="1"/>
              <a:t>Stateless</a:t>
            </a:r>
            <a:r>
              <a:rPr lang="pt-BR" dirty="0"/>
              <a:t> x </a:t>
            </a:r>
            <a:r>
              <a:rPr lang="pt-BR" dirty="0" err="1"/>
              <a:t>Stateful</a:t>
            </a:r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D330F2B-3F66-404C-977A-89B10B853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666" y="3900341"/>
            <a:ext cx="4561136" cy="268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87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8DB3E57-BFB3-4E2B-A059-9CC45D8E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outro lado, o </a:t>
            </a:r>
            <a:r>
              <a:rPr lang="pt-BR" dirty="0" err="1"/>
              <a:t>Stateful</a:t>
            </a:r>
            <a:r>
              <a:rPr lang="pt-BR" dirty="0"/>
              <a:t> permite que dados de navegação sejam salvos no lado servidor, mantendo assim “o estado da sessão”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</a:t>
            </a:r>
            <a:r>
              <a:rPr lang="pt-BR" dirty="0" err="1"/>
              <a:t>Stateless</a:t>
            </a:r>
            <a:r>
              <a:rPr lang="pt-BR" dirty="0"/>
              <a:t> x </a:t>
            </a:r>
            <a:r>
              <a:rPr lang="pt-BR" dirty="0" err="1"/>
              <a:t>Stateful</a:t>
            </a:r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E1FED7-FF88-45D7-B72F-F0F9DABC4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746707"/>
            <a:ext cx="619125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7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8DB3E57-BFB3-4E2B-A059-9CC45D8E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duas formas de armazenar dados durante e sobre a navegação do usuário:</a:t>
            </a:r>
          </a:p>
          <a:p>
            <a:endParaRPr lang="pt-BR" dirty="0"/>
          </a:p>
          <a:p>
            <a:pPr lvl="1"/>
            <a:r>
              <a:rPr lang="pt-BR" dirty="0">
                <a:solidFill>
                  <a:srgbClr val="FF0000"/>
                </a:solidFill>
              </a:rPr>
              <a:t>SESSION DATA</a:t>
            </a:r>
            <a:r>
              <a:rPr lang="pt-BR" dirty="0"/>
              <a:t>: Dados que são armazenados e recuperados apenas no servidor;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rgbClr val="FF0000"/>
                </a:solidFill>
              </a:rPr>
              <a:t>COOKIE DATA</a:t>
            </a:r>
            <a:r>
              <a:rPr lang="pt-BR" dirty="0"/>
              <a:t>: Dados que são “trocados” entre o servidor e o cliente e podem ser lidos por ambos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FCC0AFF-A809-4F82-A09A-5E370BA8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</a:t>
            </a:r>
            <a:r>
              <a:rPr lang="pt-BR" dirty="0" err="1"/>
              <a:t>Session</a:t>
            </a:r>
            <a:r>
              <a:rPr lang="pt-BR" dirty="0"/>
              <a:t> x Cookie</a:t>
            </a:r>
          </a:p>
        </p:txBody>
      </p:sp>
    </p:spTree>
    <p:extLst>
      <p:ext uri="{BB962C8B-B14F-4D97-AF65-F5344CB8AC3E}">
        <p14:creationId xmlns:p14="http://schemas.microsoft.com/office/powerpoint/2010/main" val="126491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Quando um acesso a um servidor é estabelecido, o cliente </a:t>
            </a:r>
            <a:r>
              <a:rPr lang="pt-BR" dirty="0">
                <a:solidFill>
                  <a:srgbClr val="FF0000"/>
                </a:solidFill>
              </a:rPr>
              <a:t>precisa em toda requisição subsequente</a:t>
            </a:r>
            <a:r>
              <a:rPr lang="pt-BR" dirty="0"/>
              <a:t> enviar uma chave de sessão. </a:t>
            </a:r>
          </a:p>
          <a:p>
            <a:endParaRPr lang="pt-BR" dirty="0"/>
          </a:p>
          <a:p>
            <a:r>
              <a:rPr lang="pt-BR" dirty="0"/>
              <a:t>Desta forma o servidor pode carregar os dados armazenados na mesma e os disponibilizar para o script PHP.</a:t>
            </a:r>
          </a:p>
          <a:p>
            <a:pPr lvl="1"/>
            <a:r>
              <a:rPr lang="pt-BR" dirty="0"/>
              <a:t>Cookie</a:t>
            </a:r>
          </a:p>
          <a:p>
            <a:pPr lvl="1"/>
            <a:r>
              <a:rPr lang="pt-BR" dirty="0"/>
              <a:t>GET</a:t>
            </a:r>
          </a:p>
          <a:p>
            <a:pPr lvl="1"/>
            <a:r>
              <a:rPr lang="pt-BR" dirty="0"/>
              <a:t>POST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947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uso de sessões no PHP é intenso.</a:t>
            </a:r>
          </a:p>
          <a:p>
            <a:r>
              <a:rPr lang="pt-BR" dirty="0"/>
              <a:t>As aplicações precisam a cada requisição </a:t>
            </a:r>
            <a:r>
              <a:rPr lang="pt-BR" dirty="0">
                <a:solidFill>
                  <a:srgbClr val="FF0000"/>
                </a:solidFill>
              </a:rPr>
              <a:t>“lembrar”</a:t>
            </a:r>
            <a:r>
              <a:rPr lang="pt-BR" dirty="0"/>
              <a:t> o que o usuário estava fazendo e </a:t>
            </a:r>
            <a:r>
              <a:rPr lang="pt-BR" dirty="0">
                <a:solidFill>
                  <a:srgbClr val="FF0000"/>
                </a:solidFill>
              </a:rPr>
              <a:t>“prosseguir”</a:t>
            </a:r>
            <a:r>
              <a:rPr lang="pt-BR" dirty="0"/>
              <a:t>;</a:t>
            </a:r>
          </a:p>
          <a:p>
            <a:r>
              <a:rPr lang="pt-BR" dirty="0"/>
              <a:t>São exemplos comuns:</a:t>
            </a:r>
          </a:p>
          <a:p>
            <a:pPr lvl="1"/>
            <a:r>
              <a:rPr lang="pt-BR" dirty="0"/>
              <a:t>Carrinho de compras;</a:t>
            </a:r>
          </a:p>
          <a:p>
            <a:pPr lvl="1"/>
            <a:r>
              <a:rPr lang="pt-BR" dirty="0"/>
              <a:t>Autenticação do usuário;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058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Características do controle:</a:t>
            </a:r>
          </a:p>
          <a:p>
            <a:pPr lvl="1"/>
            <a:r>
              <a:rPr lang="pt-BR" dirty="0"/>
              <a:t>Cada visitante/usuário recebe um identificador único chamado “</a:t>
            </a:r>
            <a:r>
              <a:rPr lang="pt-BR" dirty="0" err="1"/>
              <a:t>session</a:t>
            </a:r>
            <a:r>
              <a:rPr lang="pt-BR" dirty="0"/>
              <a:t> id” ou SID;</a:t>
            </a:r>
          </a:p>
          <a:p>
            <a:pPr lvl="1"/>
            <a:r>
              <a:rPr lang="pt-BR" dirty="0"/>
              <a:t>O SID pode ser correlacionado com qualquer outro conjunto de informações, como dados de login;</a:t>
            </a:r>
          </a:p>
          <a:p>
            <a:endParaRPr lang="pt-BR" dirty="0"/>
          </a:p>
          <a:p>
            <a:r>
              <a:rPr lang="pt-BR" dirty="0"/>
              <a:t>Como é possível no entanto manter o SID a cada requisição se o HTTP não guarda estado?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679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basicamente dois modos de se fazer isso:</a:t>
            </a:r>
          </a:p>
          <a:p>
            <a:pPr lvl="1"/>
            <a:r>
              <a:rPr lang="pt-BR" b="1" dirty="0"/>
              <a:t>Cookies: </a:t>
            </a:r>
          </a:p>
          <a:p>
            <a:pPr lvl="2"/>
            <a:r>
              <a:rPr lang="pt-BR" dirty="0"/>
              <a:t>Gerenciado pelo próprio navegador do usuário, armazenando os dados localmente. </a:t>
            </a:r>
          </a:p>
          <a:p>
            <a:pPr lvl="2"/>
            <a:r>
              <a:rPr lang="pt-BR" dirty="0"/>
              <a:t>Neste caso apenas o SID da sessão é suficiente;</a:t>
            </a:r>
          </a:p>
          <a:p>
            <a:pPr lvl="2"/>
            <a:endParaRPr lang="pt-BR" dirty="0"/>
          </a:p>
          <a:p>
            <a:pPr lvl="1"/>
            <a:r>
              <a:rPr lang="pt-BR" b="1" dirty="0"/>
              <a:t>Reescrita de URL:</a:t>
            </a:r>
          </a:p>
          <a:p>
            <a:pPr lvl="2"/>
            <a:r>
              <a:rPr lang="pt-BR" dirty="0"/>
              <a:t>Mecanismo que incorpora na própria URL o código SID do usuário no servidor;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Muito Inseguro!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945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primeiro passo para se iniciar uma sessão é a invocação da função </a:t>
            </a:r>
            <a:r>
              <a:rPr lang="pt-BR" b="1" u="sng" dirty="0" err="1"/>
              <a:t>session_start</a:t>
            </a:r>
            <a:r>
              <a:rPr lang="pt-BR" b="1" u="sng" dirty="0"/>
              <a:t>()</a:t>
            </a:r>
            <a:r>
              <a:rPr lang="pt-BR" dirty="0"/>
              <a:t>, que implica na adição de um valor de cabeçalho na resposta – </a:t>
            </a:r>
            <a:r>
              <a:rPr lang="pt-BR" i="1" dirty="0"/>
              <a:t>isso é automático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Quando estabelecida uma sessão, os dados estarão disponíveis para leitura e escrita na variável GLOBAL $_SESSION (que é um vetor);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5343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Fundamental: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session_start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Inicializa a sessão. Caso já iniciada, irá recuperar os dados;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session_destroy</a:t>
            </a:r>
            <a:r>
              <a:rPr lang="pt-BR" dirty="0">
                <a:solidFill>
                  <a:srgbClr val="FF0000"/>
                </a:solidFill>
              </a:rPr>
              <a:t>():</a:t>
            </a:r>
            <a:r>
              <a:rPr lang="pt-BR" dirty="0"/>
              <a:t> Finaliza a sessão destruindo todos os dados relacionados;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$_SESSION[‘nome’]</a:t>
            </a:r>
            <a:r>
              <a:rPr lang="pt-BR" dirty="0"/>
              <a:t>: vetor global no servidor que permite acesso aos dados da sessão;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session_encode</a:t>
            </a:r>
            <a:r>
              <a:rPr lang="pt-BR" dirty="0">
                <a:solidFill>
                  <a:srgbClr val="FF0000"/>
                </a:solidFill>
              </a:rPr>
              <a:t>()</a:t>
            </a:r>
            <a:r>
              <a:rPr lang="pt-BR" dirty="0"/>
              <a:t>: codifica as variáveis da sessão em uma única linha STRING.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session_decode</a:t>
            </a:r>
            <a:r>
              <a:rPr lang="pt-BR" dirty="0">
                <a:solidFill>
                  <a:srgbClr val="FF0000"/>
                </a:solidFill>
              </a:rPr>
              <a:t>()</a:t>
            </a:r>
            <a:r>
              <a:rPr lang="pt-BR" dirty="0"/>
              <a:t>: decodifica os dados da sessão obtidos por meio do </a:t>
            </a:r>
            <a:r>
              <a:rPr lang="pt-BR" dirty="0" err="1"/>
              <a:t>session_encode</a:t>
            </a:r>
            <a:r>
              <a:rPr lang="pt-BR" dirty="0"/>
              <a:t>().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28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Nesse laboratório vamos criar um arquivo PHP para inicialização da sessão e redirecionar o usuário para continuar a navegação: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LAB1 - PHP </a:t>
            </a:r>
            <a:r>
              <a:rPr lang="pt-BR" dirty="0" err="1"/>
              <a:t>Session</a:t>
            </a:r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1D59FC9-0C06-4BFA-9F51-E1DC6A0A9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165126"/>
            <a:ext cx="6120680" cy="284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41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LAB1 - PHP </a:t>
            </a:r>
            <a:r>
              <a:rPr lang="pt-BR" dirty="0" err="1"/>
              <a:t>Session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57D4A7-6184-4149-AE0B-5759F1415491}"/>
              </a:ext>
            </a:extLst>
          </p:cNvPr>
          <p:cNvSpPr/>
          <p:nvPr/>
        </p:nvSpPr>
        <p:spPr>
          <a:xfrm>
            <a:off x="451522" y="1259468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02_session_init.php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D1FE1BA-CB5F-45D6-84F9-E1C995E1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34478"/>
            <a:ext cx="8147248" cy="366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79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LAB1 - PHP </a:t>
            </a:r>
            <a:r>
              <a:rPr lang="pt-BR" dirty="0" err="1"/>
              <a:t>Session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57D4A7-6184-4149-AE0B-5759F1415491}"/>
              </a:ext>
            </a:extLst>
          </p:cNvPr>
          <p:cNvSpPr/>
          <p:nvPr/>
        </p:nvSpPr>
        <p:spPr>
          <a:xfrm>
            <a:off x="457200" y="1187460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02_session_continua.php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04CC8C-35CA-41D3-A6AD-0C981483E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03248"/>
            <a:ext cx="8326294" cy="398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1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Utilizando os formulários da revisão de HTML (</a:t>
            </a:r>
            <a:r>
              <a:rPr lang="pt-BR" i="1" dirty="0"/>
              <a:t>como exemplo exercício 9 da ficha</a:t>
            </a:r>
            <a:r>
              <a:rPr lang="pt-BR" dirty="0"/>
              <a:t>), criar uma aplicação PHP que permita realizar login e inicie uma sessão para o usuário.</a:t>
            </a:r>
          </a:p>
          <a:p>
            <a:endParaRPr lang="pt-BR" dirty="0"/>
          </a:p>
          <a:p>
            <a:r>
              <a:rPr lang="pt-BR" dirty="0"/>
              <a:t>Esses dados deverão ser armazenados na sessão do usuário e exibidos em outra página:</a:t>
            </a:r>
          </a:p>
          <a:p>
            <a:pPr lvl="1"/>
            <a:r>
              <a:rPr lang="pt-BR" dirty="0"/>
              <a:t>Login, Senha, Data/hora inicio da sessão, Data/hora da última requisição e Tempo de sessão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1 - PHP </a:t>
            </a:r>
            <a:r>
              <a:rPr lang="pt-BR" dirty="0" err="1"/>
              <a:t>Session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3335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padrão o PHP (quando instalação default), armazena os dados de sessão em arquivo.</a:t>
            </a:r>
          </a:p>
          <a:p>
            <a:r>
              <a:rPr lang="pt-BR" dirty="0"/>
              <a:t>Essa definição é feita no php.ini, chave SESSION: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F56C9E-98F0-4203-A07D-0B9D86374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776358"/>
            <a:ext cx="7554614" cy="210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70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Onde estão armazenados os dados das sessões?</a:t>
            </a:r>
          </a:p>
          <a:p>
            <a:r>
              <a:rPr lang="pt-BR" dirty="0"/>
              <a:t>E qual é o conteúdo que está lá?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PHP </a:t>
            </a:r>
            <a:r>
              <a:rPr lang="pt-BR" dirty="0" err="1"/>
              <a:t>Session</a:t>
            </a:r>
            <a:r>
              <a:rPr lang="pt-BR" dirty="0"/>
              <a:t> - Segurança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5A15AB8-B63C-4633-9EA0-CA599EE9E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52" y="2996952"/>
            <a:ext cx="7775848" cy="2152103"/>
          </a:xfrm>
          <a:prstGeom prst="rect">
            <a:avLst/>
          </a:prstGeom>
        </p:spPr>
      </p:pic>
      <p:sp>
        <p:nvSpPr>
          <p:cNvPr id="7" name="Retângulo 6">
            <a:hlinkClick r:id="rId3"/>
            <a:extLst>
              <a:ext uri="{FF2B5EF4-FFF2-40B4-BE49-F238E27FC236}">
                <a16:creationId xmlns:a16="http://schemas.microsoft.com/office/drawing/2014/main" id="{430F4E1E-D5C0-430A-8DF5-EA8711A7D4F1}"/>
              </a:ext>
            </a:extLst>
          </p:cNvPr>
          <p:cNvSpPr/>
          <p:nvPr/>
        </p:nvSpPr>
        <p:spPr>
          <a:xfrm>
            <a:off x="1331640" y="5640213"/>
            <a:ext cx="6768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https://www.php.net/manual/en/session.security.ini.php</a:t>
            </a:r>
          </a:p>
        </p:txBody>
      </p:sp>
    </p:spTree>
    <p:extLst>
      <p:ext uri="{BB962C8B-B14F-4D97-AF65-F5344CB8AC3E}">
        <p14:creationId xmlns:p14="http://schemas.microsoft.com/office/powerpoint/2010/main" val="57302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Os cookies permitem armazenar pequenas quantidades de dados no computador do cliente (usuário); </a:t>
            </a:r>
          </a:p>
          <a:p>
            <a:r>
              <a:rPr lang="pt-BR" dirty="0"/>
              <a:t>O arquivo criado no computador do cliente é um texto e quem é responsável pela segurança é o browser (:;</a:t>
            </a:r>
          </a:p>
          <a:p>
            <a:r>
              <a:rPr lang="pt-BR" dirty="0"/>
              <a:t>Cada página consegue ler somente os cookies que ele implantou no cliente;</a:t>
            </a:r>
          </a:p>
          <a:p>
            <a:r>
              <a:rPr lang="pt-BR" dirty="0"/>
              <a:t>Com PHP é possível criar e carregar dados de cookies.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Cookies</a:t>
            </a:r>
          </a:p>
        </p:txBody>
      </p:sp>
      <p:pic>
        <p:nvPicPr>
          <p:cNvPr id="4" name="Imagem 3">
            <a:hlinkClick r:id="rId2"/>
            <a:extLst>
              <a:ext uri="{FF2B5EF4-FFF2-40B4-BE49-F238E27FC236}">
                <a16:creationId xmlns:a16="http://schemas.microsoft.com/office/drawing/2014/main" id="{1A417977-ED56-49AF-9D2B-5EFB6AFFF7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01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Funcionamento básico:</a:t>
            </a:r>
          </a:p>
          <a:p>
            <a:pPr lvl="1"/>
            <a:r>
              <a:rPr lang="pt-BR" dirty="0"/>
              <a:t>O cliente faz a requisição para o servidor;</a:t>
            </a:r>
          </a:p>
          <a:p>
            <a:pPr lvl="1"/>
            <a:r>
              <a:rPr lang="pt-BR" dirty="0"/>
              <a:t>O servidor devolve e inclui um atributo no HEADER do RESPONSE chamado COOKIE, com algum dado;</a:t>
            </a:r>
          </a:p>
          <a:p>
            <a:pPr lvl="1"/>
            <a:r>
              <a:rPr lang="pt-BR" dirty="0"/>
              <a:t>Nas próximas requisições o cliente envia novamente o COOKIE;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Cookies</a:t>
            </a:r>
          </a:p>
        </p:txBody>
      </p:sp>
      <p:pic>
        <p:nvPicPr>
          <p:cNvPr id="4" name="Imagem 3">
            <a:hlinkClick r:id="rId2"/>
            <a:extLst>
              <a:ext uri="{FF2B5EF4-FFF2-40B4-BE49-F238E27FC236}">
                <a16:creationId xmlns:a16="http://schemas.microsoft.com/office/drawing/2014/main" id="{1A417977-ED56-49AF-9D2B-5EFB6AFFF7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52530B-EF21-4E5D-B6B9-B958BDE04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776907"/>
            <a:ext cx="6552368" cy="263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00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No PHP o acesso é realizado da seguinte forma: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Cookies</a:t>
            </a:r>
          </a:p>
        </p:txBody>
      </p:sp>
      <p:pic>
        <p:nvPicPr>
          <p:cNvPr id="4" name="Imagem 3">
            <a:hlinkClick r:id="rId2"/>
            <a:extLst>
              <a:ext uri="{FF2B5EF4-FFF2-40B4-BE49-F238E27FC236}">
                <a16:creationId xmlns:a16="http://schemas.microsoft.com/office/drawing/2014/main" id="{1A417977-ED56-49AF-9D2B-5EFB6AFFF7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DBF88CE-DD92-4228-B69D-149E57384842}"/>
              </a:ext>
            </a:extLst>
          </p:cNvPr>
          <p:cNvSpPr/>
          <p:nvPr/>
        </p:nvSpPr>
        <p:spPr>
          <a:xfrm>
            <a:off x="755576" y="2228903"/>
            <a:ext cx="822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Escrita:</a:t>
            </a:r>
          </a:p>
          <a:p>
            <a:pPr lvl="0"/>
            <a:r>
              <a:rPr lang="pt-BR" dirty="0"/>
              <a:t>	</a:t>
            </a:r>
            <a:r>
              <a:rPr lang="en-US" dirty="0" err="1"/>
              <a:t>setcookie</a:t>
            </a:r>
            <a:r>
              <a:rPr lang="en-US" dirty="0"/>
              <a:t>(</a:t>
            </a:r>
            <a:r>
              <a:rPr lang="en-US" i="1" dirty="0"/>
              <a:t>name, value, expire, path, domain, secure, </a:t>
            </a:r>
            <a:r>
              <a:rPr lang="en-US" i="1" dirty="0" err="1"/>
              <a:t>httponly</a:t>
            </a:r>
            <a:r>
              <a:rPr lang="en-US" dirty="0"/>
              <a:t>);</a:t>
            </a:r>
            <a:endParaRPr lang="pt-BR" dirty="0"/>
          </a:p>
          <a:p>
            <a:pPr lvl="0"/>
            <a:endParaRPr lang="pt-BR" b="1" dirty="0"/>
          </a:p>
          <a:p>
            <a:pPr lvl="0"/>
            <a:r>
              <a:rPr lang="pt-BR" b="1" dirty="0"/>
              <a:t>Leitura:</a:t>
            </a:r>
          </a:p>
          <a:p>
            <a:pPr lvl="0"/>
            <a:r>
              <a:rPr lang="pt-BR" dirty="0"/>
              <a:t>	$_COOKIE[$</a:t>
            </a:r>
            <a:r>
              <a:rPr lang="pt-BR" dirty="0" err="1"/>
              <a:t>name</a:t>
            </a:r>
            <a:r>
              <a:rPr lang="pt-BR" dirty="0"/>
              <a:t>]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Delete:</a:t>
            </a:r>
          </a:p>
          <a:p>
            <a:pPr lvl="0"/>
            <a:r>
              <a:rPr lang="en-US" dirty="0"/>
              <a:t>	</a:t>
            </a:r>
            <a:r>
              <a:rPr lang="en-US" dirty="0" err="1"/>
              <a:t>setcookie</a:t>
            </a:r>
            <a:r>
              <a:rPr lang="en-US" dirty="0"/>
              <a:t>(</a:t>
            </a:r>
            <a:r>
              <a:rPr lang="en-US" i="1" dirty="0"/>
              <a:t>name</a:t>
            </a:r>
            <a:r>
              <a:rPr lang="en-US" dirty="0"/>
              <a:t>, "", time() - 3600);</a:t>
            </a:r>
            <a:endParaRPr lang="pt-BR" dirty="0"/>
          </a:p>
          <a:p>
            <a:pPr lvl="0"/>
            <a:endParaRPr lang="pt-BR" dirty="0"/>
          </a:p>
          <a:p>
            <a:pPr lvl="0"/>
            <a:r>
              <a:rPr lang="pt-BR" b="1" dirty="0"/>
              <a:t>Verificar se tem Cookie</a:t>
            </a:r>
          </a:p>
          <a:p>
            <a:pPr lvl="0"/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(</a:t>
            </a:r>
            <a:r>
              <a:rPr lang="pt-BR" dirty="0" err="1"/>
              <a:t>count</a:t>
            </a:r>
            <a:r>
              <a:rPr lang="pt-BR" dirty="0"/>
              <a:t>($_COOKIE) &gt; 0) {}</a:t>
            </a:r>
          </a:p>
        </p:txBody>
      </p:sp>
    </p:spTree>
    <p:extLst>
      <p:ext uri="{BB962C8B-B14F-4D97-AF65-F5344CB8AC3E}">
        <p14:creationId xmlns:p14="http://schemas.microsoft.com/office/powerpoint/2010/main" val="3517523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Cookies</a:t>
            </a:r>
          </a:p>
        </p:txBody>
      </p:sp>
      <p:pic>
        <p:nvPicPr>
          <p:cNvPr id="4" name="Imagem 3">
            <a:hlinkClick r:id="rId2"/>
            <a:extLst>
              <a:ext uri="{FF2B5EF4-FFF2-40B4-BE49-F238E27FC236}">
                <a16:creationId xmlns:a16="http://schemas.microsoft.com/office/drawing/2014/main" id="{1A417977-ED56-49AF-9D2B-5EFB6AFFF7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B1A327A-58F6-4369-86E0-9F08C3E3F2F2}"/>
              </a:ext>
            </a:extLst>
          </p:cNvPr>
          <p:cNvSpPr/>
          <p:nvPr/>
        </p:nvSpPr>
        <p:spPr>
          <a:xfrm>
            <a:off x="611560" y="1196752"/>
            <a:ext cx="86044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&lt;?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php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 86400 = 1 dia - *30 – Expires em 30 dias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setcookie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 “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nome_user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time() + (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86400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* 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), 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"/"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 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r>
              <a:rPr lang="pt-BR" dirty="0"/>
              <a:t/>
            </a:r>
            <a:br>
              <a:rPr lang="pt-BR" dirty="0"/>
            </a:b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pt-BR" dirty="0"/>
              <a:t/>
            </a:r>
            <a:br>
              <a:rPr lang="pt-BR" dirty="0"/>
            </a:b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pt-BR" dirty="0"/>
              <a:t/>
            </a:r>
            <a:br>
              <a:rPr lang="pt-BR" dirty="0"/>
            </a:b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&lt;?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php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pt-BR" dirty="0" err="1">
                <a:solidFill>
                  <a:srgbClr val="0000CD"/>
                </a:solidFill>
                <a:latin typeface="Consolas" panose="020B0609020204030204" pitchFamily="49" charset="0"/>
              </a:rPr>
              <a:t>isset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DAA520"/>
                </a:solidFill>
                <a:latin typeface="Consolas" panose="020B0609020204030204" pitchFamily="49" charset="0"/>
              </a:rPr>
              <a:t>$_COOKIE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])) {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    </a:t>
            </a:r>
            <a:r>
              <a:rPr lang="pt-BR" dirty="0" err="1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“O Cookie "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 não foi definido!"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 </a:t>
            </a:r>
            <a:r>
              <a:rPr lang="pt-BR" dirty="0" err="1">
                <a:solidFill>
                  <a:srgbClr val="0000CD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    </a:t>
            </a:r>
            <a:r>
              <a:rPr lang="pt-BR" dirty="0" err="1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"Cookie "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 definido!&lt;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    </a:t>
            </a:r>
            <a:r>
              <a:rPr lang="pt-BR" dirty="0" err="1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“O valor é: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 . </a:t>
            </a:r>
            <a:r>
              <a:rPr lang="pt-BR" dirty="0">
                <a:solidFill>
                  <a:srgbClr val="DAA520"/>
                </a:solidFill>
                <a:latin typeface="Consolas" panose="020B0609020204030204" pitchFamily="49" charset="0"/>
              </a:rPr>
              <a:t>$_COOKIE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r>
              <a:rPr lang="pt-BR" dirty="0"/>
              <a:t/>
            </a:r>
            <a:br>
              <a:rPr lang="pt-BR" dirty="0"/>
            </a:b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pt-BR" dirty="0"/>
              <a:t/>
            </a:r>
            <a:br>
              <a:rPr lang="pt-BR" dirty="0"/>
            </a:b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pt-BR" dirty="0" err="1">
                <a:solidFill>
                  <a:srgbClr val="A52A2A"/>
                </a:solidFill>
                <a:latin typeface="Consolas" panose="020B0609020204030204" pitchFamily="49" charset="0"/>
              </a:rPr>
              <a:t>html</a:t>
            </a:r>
            <a:r>
              <a:rPr lang="pt-BR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8102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Executando o programa é possível verificar no console do navegador, que agora temos dados que são enviados do servidor, podendo ser visualizados e manipulados:</a:t>
            </a:r>
          </a:p>
          <a:p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Cookies</a:t>
            </a:r>
          </a:p>
        </p:txBody>
      </p:sp>
      <p:pic>
        <p:nvPicPr>
          <p:cNvPr id="4" name="Imagem 3">
            <a:hlinkClick r:id="rId2"/>
            <a:extLst>
              <a:ext uri="{FF2B5EF4-FFF2-40B4-BE49-F238E27FC236}">
                <a16:creationId xmlns:a16="http://schemas.microsoft.com/office/drawing/2014/main" id="{1A417977-ED56-49AF-9D2B-5EFB6AFFF7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1DF3C6F-D948-40E3-A995-0C32D21B1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34" y="3151091"/>
            <a:ext cx="7236296" cy="25898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DA64050-A23B-480A-95E3-C8645FB62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4068448"/>
            <a:ext cx="7164288" cy="26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4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Utilizando o mesmo programa escrito no exercício 1, realizar alteração para adicionar dados no Cookie para o front-end.</a:t>
            </a:r>
          </a:p>
          <a:p>
            <a:pPr lvl="1"/>
            <a:r>
              <a:rPr lang="pt-BR" dirty="0"/>
              <a:t>Dados: Usuário e Data/hora de inicio</a:t>
            </a:r>
          </a:p>
          <a:p>
            <a:pPr lvl="1"/>
            <a:r>
              <a:rPr lang="pt-BR" dirty="0"/>
              <a:t>Definir o tempo de vida do cookie para 5 minutos (time()+60*5)</a:t>
            </a:r>
          </a:p>
          <a:p>
            <a:pPr lvl="1"/>
            <a:r>
              <a:rPr lang="pt-BR" dirty="0"/>
              <a:t>O path é “/” ou seja visível em todo o domínio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Lab2  - Cookies</a:t>
            </a:r>
          </a:p>
        </p:txBody>
      </p:sp>
    </p:spTree>
    <p:extLst>
      <p:ext uri="{BB962C8B-B14F-4D97-AF65-F5344CB8AC3E}">
        <p14:creationId xmlns:p14="http://schemas.microsoft.com/office/powerpoint/2010/main" val="1406188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Faça uma adaptação para ler os dados retornados do navegador e validar se eles existem.</a:t>
            </a:r>
          </a:p>
          <a:p>
            <a:r>
              <a:rPr lang="pt-BR" dirty="0"/>
              <a:t>Caso algum dado (usuário e time) não existirem, exibir alerta de que os dados da sessão foram perdidos.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  - Cookies</a:t>
            </a:r>
          </a:p>
        </p:txBody>
      </p:sp>
    </p:spTree>
    <p:extLst>
      <p:ext uri="{BB962C8B-B14F-4D97-AF65-F5344CB8AC3E}">
        <p14:creationId xmlns:p14="http://schemas.microsoft.com/office/powerpoint/2010/main" val="527378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Uma URL tradicional pode levar junto parâmetros através da QUERY STRING.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Parâmetros enviados desta forma para o servidor são acessados por GET.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91A580-5333-4561-814E-206840FF50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51" t="11090" r="5000" b="20352"/>
          <a:stretch/>
        </p:blipFill>
        <p:spPr>
          <a:xfrm>
            <a:off x="717147" y="2420888"/>
            <a:ext cx="7709706" cy="2613612"/>
          </a:xfrm>
          <a:prstGeom prst="rect">
            <a:avLst/>
          </a:prstGeom>
        </p:spPr>
      </p:pic>
      <p:pic>
        <p:nvPicPr>
          <p:cNvPr id="5" name="Imagem 4">
            <a:hlinkClick r:id="rId3"/>
            <a:extLst>
              <a:ext uri="{FF2B5EF4-FFF2-40B4-BE49-F238E27FC236}">
                <a16:creationId xmlns:a16="http://schemas.microsoft.com/office/drawing/2014/main" id="{1EE4063E-6365-4B05-8958-E69AA6A155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6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No PHP a variável global $_GET – que é um </a:t>
            </a:r>
            <a:r>
              <a:rPr lang="pt-BR" i="1" dirty="0" err="1"/>
              <a:t>array</a:t>
            </a:r>
            <a:r>
              <a:rPr lang="pt-BR" i="1" dirty="0"/>
              <a:t> </a:t>
            </a:r>
            <a:r>
              <a:rPr lang="pt-BR" dirty="0"/>
              <a:t>associativo, traz “carregado” para os dados enviados por este método.</a:t>
            </a:r>
          </a:p>
          <a:p>
            <a:endParaRPr lang="pt-BR" dirty="0"/>
          </a:p>
          <a:p>
            <a:r>
              <a:rPr lang="pt-BR" dirty="0"/>
              <a:t>No elemento HTML FORM, quando definido o método GET para envio é utilizado a QUERY STRING da URL para enviar os dados</a:t>
            </a:r>
          </a:p>
          <a:p>
            <a:endParaRPr lang="pt-BR" dirty="0"/>
          </a:p>
          <a:p>
            <a:pPr lvl="1"/>
            <a:r>
              <a:rPr lang="pt-BR" dirty="0"/>
              <a:t>http://localhost/form_cli.php?nome=Cleber&amp;...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338966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Ao contrário do método GET, dados enviados pelo método POST utilizam o corpo da requisição e não a query </a:t>
            </a:r>
            <a:r>
              <a:rPr lang="pt-BR" dirty="0" err="1"/>
              <a:t>String</a:t>
            </a:r>
            <a:r>
              <a:rPr lang="pt-BR" dirty="0"/>
              <a:t>.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509636-9A65-492B-ABDC-E98FE87359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4"/>
          <a:stretch/>
        </p:blipFill>
        <p:spPr>
          <a:xfrm>
            <a:off x="1043608" y="2924944"/>
            <a:ext cx="6768752" cy="3391839"/>
          </a:xfrm>
          <a:prstGeom prst="rect">
            <a:avLst/>
          </a:prstGeom>
        </p:spPr>
      </p:pic>
      <p:pic>
        <p:nvPicPr>
          <p:cNvPr id="6" name="Imagem 5">
            <a:hlinkClick r:id="rId3"/>
            <a:extLst>
              <a:ext uri="{FF2B5EF4-FFF2-40B4-BE49-F238E27FC236}">
                <a16:creationId xmlns:a16="http://schemas.microsoft.com/office/drawing/2014/main" id="{D7C31D76-6091-4242-93EB-3B3020C744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401" t="19760" r="16401" b="16401"/>
          <a:stretch/>
        </p:blipFill>
        <p:spPr>
          <a:xfrm>
            <a:off x="8026478" y="4992947"/>
            <a:ext cx="861099" cy="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91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DB4DEFA-2BF8-4659-9971-112D9F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pt-BR" dirty="0"/>
              <a:t>No PHP a variável global $_POST – que também é um </a:t>
            </a:r>
            <a:r>
              <a:rPr lang="pt-BR" i="1" dirty="0" err="1"/>
              <a:t>array</a:t>
            </a:r>
            <a:r>
              <a:rPr lang="pt-BR" i="1" dirty="0"/>
              <a:t> </a:t>
            </a:r>
            <a:r>
              <a:rPr lang="pt-BR" dirty="0"/>
              <a:t>associativo, traz “carregado” para os dados enviados por este método.</a:t>
            </a:r>
          </a:p>
          <a:p>
            <a:endParaRPr lang="pt-BR" dirty="0"/>
          </a:p>
          <a:p>
            <a:r>
              <a:rPr lang="pt-BR" dirty="0"/>
              <a:t>No elemento HTML FORM, quando definido o método POST para envio os dados são enviados no CORPO.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01360B-0FD1-4719-BC6D-AF27D002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3873092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</a:t>
            </a:r>
            <a:r>
              <a:rPr lang="pt-BR" dirty="0" smtClean="0"/>
              <a:t>11</a:t>
            </a:r>
            <a:endParaRPr lang="pt-BR" dirty="0"/>
          </a:p>
          <a:p>
            <a:r>
              <a:rPr lang="pt-BR" dirty="0"/>
              <a:t>Armazenamento de dados SGBD e Arquivos em Disco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416</TotalTime>
  <Words>1010</Words>
  <Application>Microsoft Office PowerPoint</Application>
  <PresentationFormat>Apresentação na tela (4:3)</PresentationFormat>
  <Paragraphs>135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Consolas</vt:lpstr>
      <vt:lpstr>Lucida Sans Unicode</vt:lpstr>
      <vt:lpstr>Verdana</vt:lpstr>
      <vt:lpstr>Wingdings 2</vt:lpstr>
      <vt:lpstr>Wingdings 3</vt:lpstr>
      <vt:lpstr>Concurso</vt:lpstr>
      <vt:lpstr>Programação Web 1 Parte 3 - Session e Cookies</vt:lpstr>
      <vt:lpstr>Entendendo Stateless x Stateful</vt:lpstr>
      <vt:lpstr>Entendendo Stateless x Stateful</vt:lpstr>
      <vt:lpstr>Entendendo Session x Cookie</vt:lpstr>
      <vt:lpstr>PHP Session</vt:lpstr>
      <vt:lpstr>PHP Session</vt:lpstr>
      <vt:lpstr>PHP Session</vt:lpstr>
      <vt:lpstr>PHP Session</vt:lpstr>
      <vt:lpstr>PHP Session</vt:lpstr>
      <vt:lpstr>PHP Session</vt:lpstr>
      <vt:lpstr>LAB1 - PHP Session</vt:lpstr>
      <vt:lpstr>LAB1 - PHP Session</vt:lpstr>
      <vt:lpstr>LAB1 - PHP Session</vt:lpstr>
      <vt:lpstr>Exercício 1 - PHP Session</vt:lpstr>
      <vt:lpstr>PHP Session</vt:lpstr>
      <vt:lpstr>PHP Session - Segurança</vt:lpstr>
      <vt:lpstr>Cookies</vt:lpstr>
      <vt:lpstr>Cookies</vt:lpstr>
      <vt:lpstr>Cookies</vt:lpstr>
      <vt:lpstr>Cookies</vt:lpstr>
      <vt:lpstr>Cookies</vt:lpstr>
      <vt:lpstr>Lab2  - Cookies</vt:lpstr>
      <vt:lpstr>Exercício 2  - Cookies</vt:lpstr>
      <vt:lpstr>GET</vt:lpstr>
      <vt:lpstr>GET</vt:lpstr>
      <vt:lpstr>POST</vt:lpstr>
      <vt:lpstr>GET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49</cp:revision>
  <dcterms:created xsi:type="dcterms:W3CDTF">2013-09-10T00:11:01Z</dcterms:created>
  <dcterms:modified xsi:type="dcterms:W3CDTF">2025-10-05T22:59:37Z</dcterms:modified>
</cp:coreProperties>
</file>