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8" r:id="rId3"/>
    <p:sldId id="335" r:id="rId4"/>
    <p:sldId id="336" r:id="rId5"/>
    <p:sldId id="337" r:id="rId6"/>
    <p:sldId id="283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5" r:id="rId16"/>
    <p:sldId id="321" r:id="rId17"/>
    <p:sldId id="320" r:id="rId18"/>
    <p:sldId id="322" r:id="rId19"/>
    <p:sldId id="324" r:id="rId20"/>
    <p:sldId id="326" r:id="rId21"/>
    <p:sldId id="327" r:id="rId22"/>
    <p:sldId id="330" r:id="rId23"/>
    <p:sldId id="328" r:id="rId24"/>
    <p:sldId id="331" r:id="rId25"/>
    <p:sldId id="332" r:id="rId26"/>
    <p:sldId id="333" r:id="rId27"/>
    <p:sldId id="334" r:id="rId28"/>
    <p:sldId id="282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  <p14:sldId id="338"/>
          </p14:sldIdLst>
        </p14:section>
        <p14:section name="Select" id="{E47E0E90-4A65-4452-913D-29732AEAB8F1}">
          <p14:sldIdLst>
            <p14:sldId id="335"/>
            <p14:sldId id="336"/>
            <p14:sldId id="337"/>
          </p14:sldIdLst>
        </p14:section>
        <p14:section name="HTML - Tabelas" id="{4D3D37F0-B17B-4678-B5CB-A6A74F353AF3}">
          <p14:sldIdLst>
            <p14:sldId id="283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HTML - Inputs" id="{5BC422A0-BFF8-4B1E-9BC3-22021592B2A7}">
          <p14:sldIdLst>
            <p14:sldId id="318"/>
            <p14:sldId id="319"/>
            <p14:sldId id="325"/>
            <p14:sldId id="321"/>
            <p14:sldId id="320"/>
            <p14:sldId id="322"/>
            <p14:sldId id="324"/>
            <p14:sldId id="326"/>
          </p14:sldIdLst>
        </p14:section>
        <p14:section name="HTML - Formulários" id="{B109F249-D86F-4DBE-9176-744A1162C1AD}">
          <p14:sldIdLst>
            <p14:sldId id="327"/>
            <p14:sldId id="330"/>
            <p14:sldId id="328"/>
            <p14:sldId id="331"/>
            <p14:sldId id="332"/>
            <p14:sldId id="333"/>
            <p14:sldId id="334"/>
          </p14:sldIdLst>
        </p14:section>
        <p14:section name="Próxima Aula" id="{66AAF6F1-D593-4073-912F-D8F5562F77B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html_form_input_types.asp" TargetMode="External"/><Relationship Id="rId2" Type="http://schemas.openxmlformats.org/officeDocument/2006/relationships/hyperlink" Target="https://www.w3schools.com/tags/tag_input.as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ev_onclick.asp" TargetMode="External"/><Relationship Id="rId2" Type="http://schemas.openxmlformats.org/officeDocument/2006/relationships/hyperlink" Target="https://www.w3schools.com/tags/tag_button.as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elements.asp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 dirty="0"/>
              <a:t>Revisitando – HTML Parte </a:t>
            </a:r>
            <a:r>
              <a:rPr lang="pt-BR" b="0" dirty="0" smtClean="0"/>
              <a:t>2</a:t>
            </a:r>
            <a:endParaRPr lang="pt-BR" b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292080" y="3611607"/>
            <a:ext cx="3096344" cy="537473"/>
          </a:xfrm>
        </p:spPr>
        <p:txBody>
          <a:bodyPr/>
          <a:lstStyle/>
          <a:p>
            <a:r>
              <a:rPr lang="pt-BR" dirty="0"/>
              <a:t>Cleber Nardelli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043DC11-9BE0-46A0-91D5-DD82D385C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Tags</a:t>
            </a:r>
            <a:r>
              <a:rPr lang="pt-BR" dirty="0" smtClean="0"/>
              <a:t> revisadas:</a:t>
            </a:r>
          </a:p>
          <a:p>
            <a:pPr lvl="1"/>
            <a:r>
              <a:rPr lang="pt-BR" dirty="0" smtClean="0"/>
              <a:t>DOCTYPE</a:t>
            </a:r>
          </a:p>
          <a:p>
            <a:pPr lvl="1"/>
            <a:r>
              <a:rPr lang="pt-BR" dirty="0" smtClean="0"/>
              <a:t>META</a:t>
            </a:r>
          </a:p>
          <a:p>
            <a:pPr lvl="1"/>
            <a:r>
              <a:rPr lang="pt-BR" dirty="0" smtClean="0"/>
              <a:t>Sessões HEAD e BODY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Texto (p, h1, h2...)</a:t>
            </a:r>
          </a:p>
          <a:p>
            <a:pPr lvl="1"/>
            <a:r>
              <a:rPr lang="pt-BR" dirty="0" smtClean="0"/>
              <a:t>Representação de caracteres especiais</a:t>
            </a:r>
          </a:p>
          <a:p>
            <a:pPr lvl="1"/>
            <a:r>
              <a:rPr lang="pt-BR" dirty="0" smtClean="0"/>
              <a:t>Hyperlinks (TAG A)</a:t>
            </a:r>
          </a:p>
          <a:p>
            <a:pPr lvl="1"/>
            <a:r>
              <a:rPr lang="pt-BR" dirty="0" smtClean="0"/>
              <a:t>IMG</a:t>
            </a:r>
          </a:p>
          <a:p>
            <a:pPr lvl="1"/>
            <a:r>
              <a:rPr lang="pt-BR" dirty="0" smtClean="0"/>
              <a:t>AUDIO</a:t>
            </a:r>
            <a:endParaRPr lang="pt-BR" dirty="0" smtClean="0"/>
          </a:p>
          <a:p>
            <a:pPr lvl="1"/>
            <a:r>
              <a:rPr lang="pt-BR" dirty="0" smtClean="0"/>
              <a:t>VIDEO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Semântica (HEADER, SECTION, etc.)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B7E937-B66E-4637-9DAF-5A209B5E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</a:t>
            </a:r>
            <a:r>
              <a:rPr lang="pt-BR" dirty="0" smtClean="0"/>
              <a:t>– </a:t>
            </a:r>
            <a:r>
              <a:rPr lang="pt-BR" dirty="0" err="1" smtClean="0"/>
              <a:t>Review</a:t>
            </a:r>
            <a:r>
              <a:rPr lang="pt-BR" dirty="0" smtClean="0"/>
              <a:t> parte 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211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043DC11-9BE0-46A0-91D5-DD82D385C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/>
              <a:t>SELECT</a:t>
            </a:r>
            <a:r>
              <a:rPr lang="pt-BR" dirty="0"/>
              <a:t> permite dispor elementos em uma lista suspensa para seleção. </a:t>
            </a:r>
          </a:p>
          <a:p>
            <a:r>
              <a:rPr lang="pt-BR" dirty="0"/>
              <a:t>Para definir um campo de lista precisamos usar uma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/>
              <a:t>&lt;</a:t>
            </a:r>
            <a:r>
              <a:rPr lang="pt-BR" b="1" dirty="0" err="1"/>
              <a:t>select</a:t>
            </a:r>
            <a:r>
              <a:rPr lang="pt-BR" b="1" dirty="0"/>
              <a:t>&gt;</a:t>
            </a:r>
            <a:r>
              <a:rPr lang="pt-BR" dirty="0"/>
              <a:t> e um conjunto de </a:t>
            </a:r>
            <a:r>
              <a:rPr lang="pt-BR" dirty="0" err="1"/>
              <a:t>tags</a:t>
            </a:r>
            <a:r>
              <a:rPr lang="pt-BR" dirty="0"/>
              <a:t> </a:t>
            </a:r>
            <a:r>
              <a:rPr lang="pt-BR" b="1" dirty="0"/>
              <a:t>&lt;</a:t>
            </a:r>
            <a:r>
              <a:rPr lang="pt-BR" b="1" dirty="0" err="1"/>
              <a:t>option</a:t>
            </a:r>
            <a:r>
              <a:rPr lang="pt-BR" b="1" dirty="0"/>
              <a:t>&gt;</a:t>
            </a:r>
          </a:p>
          <a:p>
            <a:pPr marL="393192" lvl="1" indent="0">
              <a:buNone/>
            </a:pPr>
            <a:r>
              <a:rPr lang="pt-BR" dirty="0" err="1"/>
              <a:t>Ex</a:t>
            </a:r>
            <a:r>
              <a:rPr lang="pt-BR" dirty="0"/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B7E937-B66E-4637-9DAF-5A209B5E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</a:t>
            </a:r>
            <a:r>
              <a:rPr lang="pt-BR" dirty="0" err="1"/>
              <a:t>Select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D19C8E-2554-4A0F-9195-DD37AA2487AF}"/>
              </a:ext>
            </a:extLst>
          </p:cNvPr>
          <p:cNvSpPr/>
          <p:nvPr/>
        </p:nvSpPr>
        <p:spPr>
          <a:xfrm>
            <a:off x="1691680" y="3933056"/>
            <a:ext cx="75608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"estado"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"10"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Selecione...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"SC"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Santa Catarina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"PR"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Paraná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"RS"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Rio Grande do Sul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998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043DC11-9BE0-46A0-91D5-DD82D385C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seguintes atributos são previstos: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B7E937-B66E-4637-9DAF-5A209B5E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</a:t>
            </a:r>
            <a:r>
              <a:rPr lang="pt-BR" dirty="0" err="1"/>
              <a:t>Select</a:t>
            </a:r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E5D3E18-5A13-469F-9B80-86424BA73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44504"/>
              </p:ext>
            </p:extLst>
          </p:nvPr>
        </p:nvGraphicFramePr>
        <p:xfrm>
          <a:off x="575556" y="2492896"/>
          <a:ext cx="799288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Autofocus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Determina</a:t>
                      </a:r>
                      <a:r>
                        <a:rPr lang="en-US" dirty="0"/>
                        <a:t> se o </a:t>
                      </a:r>
                      <a:r>
                        <a:rPr lang="en-US" dirty="0" err="1"/>
                        <a:t>elemento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ganhará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foco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automático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quando</a:t>
                      </a:r>
                      <a:r>
                        <a:rPr lang="en-US" dirty="0"/>
                        <a:t> a </a:t>
                      </a:r>
                      <a:r>
                        <a:rPr lang="en-US" dirty="0" err="1"/>
                        <a:t>página</a:t>
                      </a:r>
                      <a:r>
                        <a:rPr lang="en-US" dirty="0"/>
                        <a:t> é </a:t>
                      </a:r>
                      <a:r>
                        <a:rPr lang="en-US" dirty="0" err="1"/>
                        <a:t>carregada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atributo</a:t>
                      </a:r>
                      <a:r>
                        <a:rPr lang="en-US" dirty="0"/>
                        <a:t> global)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Disabled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 se o campo </a:t>
                      </a:r>
                      <a:r>
                        <a:rPr lang="en-US" dirty="0" err="1"/>
                        <a:t>estará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desativado</a:t>
                      </a:r>
                      <a:r>
                        <a:rPr lang="en-US" dirty="0"/>
                        <a:t> para </a:t>
                      </a:r>
                      <a:r>
                        <a:rPr lang="en-US" dirty="0" err="1"/>
                        <a:t>manipulação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pelo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usuário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Multiple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 se </a:t>
                      </a:r>
                      <a:r>
                        <a:rPr lang="en-US" dirty="0" err="1"/>
                        <a:t>multiplas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seleções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podem</a:t>
                      </a:r>
                      <a:r>
                        <a:rPr lang="en-US" dirty="0"/>
                        <a:t> ser </a:t>
                      </a:r>
                      <a:r>
                        <a:rPr lang="en-US" dirty="0" err="1"/>
                        <a:t>realizadas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pelo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usuário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Required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 se o campo é </a:t>
                      </a:r>
                      <a:r>
                        <a:rPr lang="en-US" dirty="0" err="1"/>
                        <a:t>obrigatório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Size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 o </a:t>
                      </a:r>
                      <a:r>
                        <a:rPr lang="en-US" dirty="0" err="1"/>
                        <a:t>número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opções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visíveis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lista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suspensa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17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65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043DC11-9BE0-46A0-91D5-DD82D385C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/>
              <a:t>SELECT</a:t>
            </a:r>
            <a:r>
              <a:rPr lang="pt-BR" dirty="0"/>
              <a:t> permite também </a:t>
            </a:r>
            <a:r>
              <a:rPr lang="pt-BR" dirty="0" err="1"/>
              <a:t>aninhamento</a:t>
            </a:r>
            <a:r>
              <a:rPr lang="pt-BR" dirty="0"/>
              <a:t> de opções, por meio do elemento </a:t>
            </a:r>
            <a:r>
              <a:rPr lang="pt-BR" b="1" dirty="0"/>
              <a:t>&lt;</a:t>
            </a:r>
            <a:r>
              <a:rPr lang="pt-BR" b="1" dirty="0" err="1"/>
              <a:t>optgroup</a:t>
            </a:r>
            <a:r>
              <a:rPr lang="pt-BR" b="1" dirty="0"/>
              <a:t>&gt;</a:t>
            </a:r>
          </a:p>
          <a:p>
            <a:pPr marL="393192" lvl="1" indent="0">
              <a:buNone/>
            </a:pPr>
            <a:r>
              <a:rPr lang="pt-BR" dirty="0" err="1"/>
              <a:t>Ex</a:t>
            </a:r>
            <a:r>
              <a:rPr lang="pt-BR" dirty="0"/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B7E937-B66E-4637-9DAF-5A209B5E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</a:t>
            </a:r>
            <a:r>
              <a:rPr lang="pt-BR" dirty="0" err="1"/>
              <a:t>Select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6506D8D-C5AE-4A2D-B096-2BE8C0389845}"/>
              </a:ext>
            </a:extLst>
          </p:cNvPr>
          <p:cNvSpPr/>
          <p:nvPr/>
        </p:nvSpPr>
        <p:spPr>
          <a:xfrm>
            <a:off x="1475656" y="2900882"/>
            <a:ext cx="734481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"carros"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"carros"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optgroup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"Popular"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 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up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Vw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UP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"quid"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Renaul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Quid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optgroup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optgroup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"SUV"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 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tracker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GM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Tracker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hrv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Honda HRV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optgroup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32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F0106E8-53F7-4E6C-AE6A-8FC440071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044016"/>
          </a:xfrm>
        </p:spPr>
        <p:txBody>
          <a:bodyPr>
            <a:normAutofit/>
          </a:bodyPr>
          <a:lstStyle/>
          <a:p>
            <a:r>
              <a:rPr lang="pt-BR" sz="2800" b="1" dirty="0"/>
              <a:t>Tabelas</a:t>
            </a:r>
            <a:r>
              <a:rPr lang="pt-BR" sz="2800" dirty="0"/>
              <a:t>: Constituem um dos principais elementos das páginas web. </a:t>
            </a:r>
          </a:p>
          <a:p>
            <a:r>
              <a:rPr lang="pt-BR" sz="2800" dirty="0"/>
              <a:t>Muitas páginas em especial mais antigas, utilizam tabelas inclusive para organização do </a:t>
            </a:r>
            <a:r>
              <a:rPr lang="pt-BR" sz="2800" dirty="0" smtClean="0"/>
              <a:t>conteúdo (não é uma prática moderna)</a:t>
            </a:r>
            <a:endParaRPr lang="pt-BR" sz="2800" dirty="0"/>
          </a:p>
          <a:p>
            <a:r>
              <a:rPr lang="pt-BR" sz="2800" dirty="0"/>
              <a:t>As </a:t>
            </a:r>
            <a:r>
              <a:rPr lang="pt-BR" sz="2800" dirty="0" err="1"/>
              <a:t>tags</a:t>
            </a:r>
            <a:r>
              <a:rPr lang="pt-BR" sz="2800" dirty="0"/>
              <a:t> utilizadas são as seguintes:</a:t>
            </a:r>
          </a:p>
          <a:p>
            <a:pPr lvl="1"/>
            <a:r>
              <a:rPr lang="pt-BR" sz="2400" dirty="0"/>
              <a:t>&lt;</a:t>
            </a:r>
            <a:r>
              <a:rPr lang="pt-BR" sz="2400" dirty="0" err="1"/>
              <a:t>table</a:t>
            </a:r>
            <a:r>
              <a:rPr lang="pt-BR" sz="2400" dirty="0"/>
              <a:t>&gt; - Tabela;</a:t>
            </a:r>
          </a:p>
          <a:p>
            <a:pPr lvl="1"/>
            <a:r>
              <a:rPr lang="pt-BR" sz="2400" dirty="0"/>
              <a:t>&lt;</a:t>
            </a:r>
            <a:r>
              <a:rPr lang="pt-BR" sz="2400" dirty="0" err="1"/>
              <a:t>th</a:t>
            </a:r>
            <a:r>
              <a:rPr lang="pt-BR" sz="2400" dirty="0"/>
              <a:t>&gt; - </a:t>
            </a:r>
            <a:r>
              <a:rPr lang="pt-BR" sz="2400" dirty="0" err="1"/>
              <a:t>Table</a:t>
            </a:r>
            <a:r>
              <a:rPr lang="pt-BR" sz="2400" dirty="0"/>
              <a:t> Header (cabeçalho);</a:t>
            </a:r>
          </a:p>
          <a:p>
            <a:pPr lvl="1"/>
            <a:r>
              <a:rPr lang="pt-BR" sz="2400" dirty="0"/>
              <a:t>&lt;</a:t>
            </a:r>
            <a:r>
              <a:rPr lang="pt-BR" sz="2400" dirty="0" err="1"/>
              <a:t>tr</a:t>
            </a:r>
            <a:r>
              <a:rPr lang="pt-BR" sz="2400" dirty="0"/>
              <a:t>&gt; - </a:t>
            </a:r>
            <a:r>
              <a:rPr lang="pt-BR" sz="2400" dirty="0" err="1"/>
              <a:t>Table</a:t>
            </a:r>
            <a:r>
              <a:rPr lang="pt-BR" sz="2400" dirty="0"/>
              <a:t> ROW (linha);</a:t>
            </a:r>
          </a:p>
          <a:p>
            <a:pPr lvl="1"/>
            <a:r>
              <a:rPr lang="pt-BR" sz="2400" dirty="0"/>
              <a:t>&lt;</a:t>
            </a:r>
            <a:r>
              <a:rPr lang="pt-BR" sz="2400" dirty="0" err="1"/>
              <a:t>td</a:t>
            </a:r>
            <a:r>
              <a:rPr lang="pt-BR" sz="2400" dirty="0"/>
              <a:t>&gt; - </a:t>
            </a:r>
            <a:r>
              <a:rPr lang="pt-BR" sz="2400" dirty="0" err="1"/>
              <a:t>Table</a:t>
            </a:r>
            <a:r>
              <a:rPr lang="pt-BR" sz="2400" dirty="0"/>
              <a:t> Data (Coluna);</a:t>
            </a:r>
          </a:p>
          <a:p>
            <a:pPr lvl="1"/>
            <a:r>
              <a:rPr lang="pt-BR" sz="2400" dirty="0"/>
              <a:t>&lt;</a:t>
            </a:r>
            <a:r>
              <a:rPr lang="pt-BR" sz="2400" dirty="0" err="1"/>
              <a:t>caption</a:t>
            </a:r>
            <a:r>
              <a:rPr lang="pt-BR" sz="2400" dirty="0"/>
              <a:t>&gt; - Legenda da Tabela;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D68A294-1E73-40A7-8936-AFFB2B3C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Tabelas</a:t>
            </a:r>
          </a:p>
        </p:txBody>
      </p:sp>
    </p:spTree>
    <p:extLst>
      <p:ext uri="{BB962C8B-B14F-4D97-AF65-F5344CB8AC3E}">
        <p14:creationId xmlns:p14="http://schemas.microsoft.com/office/powerpoint/2010/main" val="385659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2B914A7-700E-4492-88A4-C43568B79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HTML de uma tabela, normalmente possui diversos níveis de hierarquia: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063ADCC-CCBA-4BF6-B4A8-5C276A53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Tabelas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B75E7B-ED56-41FD-A0E1-B3B11DFA3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34072"/>
            <a:ext cx="8517117" cy="264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5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17FB793-7E8F-4FB5-99DB-FCFCC9E3E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Atributos de TABLE: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C324B6B-3ABA-47A9-8BE5-B9BDF459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Tabelas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95CDFCDB-DF8A-476E-8ABD-F745AD644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807212"/>
              </p:ext>
            </p:extLst>
          </p:nvPr>
        </p:nvGraphicFramePr>
        <p:xfrm>
          <a:off x="575556" y="2060848"/>
          <a:ext cx="799288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Align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o </a:t>
                      </a:r>
                      <a:r>
                        <a:rPr lang="en-US" dirty="0" err="1"/>
                        <a:t>alinhamento</a:t>
                      </a:r>
                      <a:r>
                        <a:rPr lang="en-US" dirty="0"/>
                        <a:t> horizontal da </a:t>
                      </a:r>
                      <a:r>
                        <a:rPr lang="en-US" dirty="0" err="1"/>
                        <a:t>tabela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Valores</a:t>
                      </a:r>
                      <a:r>
                        <a:rPr lang="en-US" dirty="0"/>
                        <a:t>: left, center e right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bgcolor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a </a:t>
                      </a:r>
                      <a:r>
                        <a:rPr lang="en-US" dirty="0" err="1"/>
                        <a:t>cor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fundo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tabela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border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a </a:t>
                      </a:r>
                      <a:r>
                        <a:rPr lang="en-US" dirty="0" err="1"/>
                        <a:t>espessura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borda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uma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tabela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</a:t>
                      </a:r>
                      <a:r>
                        <a:rPr lang="en-US" dirty="0" err="1"/>
                        <a:t>uma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imagem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como</a:t>
                      </a:r>
                      <a:r>
                        <a:rPr lang="en-US" dirty="0"/>
                        <a:t> a </a:t>
                      </a:r>
                      <a:r>
                        <a:rPr lang="en-US" dirty="0" err="1"/>
                        <a:t>plano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fundo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tabela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heigth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o </a:t>
                      </a:r>
                      <a:r>
                        <a:rPr lang="en-US" dirty="0" err="1"/>
                        <a:t>tamanho</a:t>
                      </a:r>
                      <a:r>
                        <a:rPr lang="en-US" dirty="0"/>
                        <a:t> vertical da </a:t>
                      </a:r>
                      <a:r>
                        <a:rPr lang="en-US" dirty="0" err="1"/>
                        <a:t>tabela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pixel </a:t>
                      </a:r>
                      <a:r>
                        <a:rPr lang="en-US" dirty="0" err="1"/>
                        <a:t>ou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porcentagem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relação</a:t>
                      </a:r>
                      <a:r>
                        <a:rPr lang="en-US" dirty="0"/>
                        <a:t> a </a:t>
                      </a:r>
                      <a:r>
                        <a:rPr lang="en-US" dirty="0" err="1"/>
                        <a:t>janela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1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Width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o </a:t>
                      </a:r>
                      <a:r>
                        <a:rPr lang="en-US" dirty="0" err="1"/>
                        <a:t>tamanho</a:t>
                      </a:r>
                      <a:r>
                        <a:rPr lang="en-US" dirty="0"/>
                        <a:t> horizontal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pixel </a:t>
                      </a:r>
                      <a:r>
                        <a:rPr lang="en-US" dirty="0" err="1"/>
                        <a:t>ou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porcentagem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67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Cellpadding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enchimento</a:t>
                      </a:r>
                      <a:r>
                        <a:rPr lang="en-US" dirty="0"/>
                        <a:t> das </a:t>
                      </a:r>
                      <a:r>
                        <a:rPr lang="en-US" dirty="0" err="1"/>
                        <a:t>células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4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Cellspacing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espaçamento</a:t>
                      </a:r>
                      <a:r>
                        <a:rPr lang="en-US" dirty="0"/>
                        <a:t> entre </a:t>
                      </a:r>
                      <a:r>
                        <a:rPr lang="en-US" dirty="0" err="1"/>
                        <a:t>células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33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89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B83DDA8-6813-4AAD-AB01-94889EA29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Atributos da </a:t>
            </a:r>
            <a:r>
              <a:rPr lang="pt-BR" dirty="0" err="1"/>
              <a:t>tag</a:t>
            </a:r>
            <a:r>
              <a:rPr lang="pt-BR" dirty="0"/>
              <a:t> TR (</a:t>
            </a:r>
            <a:r>
              <a:rPr lang="pt-BR" dirty="0" err="1"/>
              <a:t>Table</a:t>
            </a:r>
            <a:r>
              <a:rPr lang="pt-BR" dirty="0"/>
              <a:t> ROW):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CC57450-B6F0-4DF2-9FE2-ACB59813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Tabelas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B89F34D2-3D5E-4C72-A42D-9C6A679FB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906579"/>
              </p:ext>
            </p:extLst>
          </p:nvPr>
        </p:nvGraphicFramePr>
        <p:xfrm>
          <a:off x="575556" y="2060848"/>
          <a:ext cx="7992888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align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o </a:t>
                      </a:r>
                      <a:r>
                        <a:rPr lang="en-US" dirty="0" err="1"/>
                        <a:t>alinhamento</a:t>
                      </a:r>
                      <a:r>
                        <a:rPr lang="en-US" dirty="0"/>
                        <a:t> do </a:t>
                      </a:r>
                      <a:r>
                        <a:rPr lang="en-US" dirty="0" err="1"/>
                        <a:t>conteúdo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linha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valores</a:t>
                      </a:r>
                      <a:r>
                        <a:rPr lang="en-US" dirty="0"/>
                        <a:t>: left, center, right e justify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bgcolor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a </a:t>
                      </a:r>
                      <a:r>
                        <a:rPr lang="en-US" dirty="0" err="1"/>
                        <a:t>cor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fundo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linha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valign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o </a:t>
                      </a:r>
                      <a:r>
                        <a:rPr lang="en-US" dirty="0" err="1"/>
                        <a:t>alinhamento</a:t>
                      </a:r>
                      <a:r>
                        <a:rPr lang="en-US" dirty="0"/>
                        <a:t> vertical das </a:t>
                      </a:r>
                      <a:r>
                        <a:rPr lang="en-US" dirty="0" err="1"/>
                        <a:t>células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linha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valore</a:t>
                      </a:r>
                      <a:r>
                        <a:rPr lang="en-US" dirty="0"/>
                        <a:t>: top, middle, bottom e baseline; o default é middle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77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B83DDA8-6813-4AAD-AB01-94889EA29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pt-BR" dirty="0"/>
              <a:t>Atributos da </a:t>
            </a:r>
            <a:r>
              <a:rPr lang="pt-BR" dirty="0" err="1"/>
              <a:t>tag</a:t>
            </a:r>
            <a:r>
              <a:rPr lang="pt-BR" dirty="0"/>
              <a:t> TD (</a:t>
            </a:r>
            <a:r>
              <a:rPr lang="pt-BR" dirty="0" err="1"/>
              <a:t>Table</a:t>
            </a:r>
            <a:r>
              <a:rPr lang="pt-BR" dirty="0"/>
              <a:t> DATA):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CC57450-B6F0-4DF2-9FE2-ACB59813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Tabelas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B89F34D2-3D5E-4C72-A42D-9C6A679FB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08326"/>
              </p:ext>
            </p:extLst>
          </p:nvPr>
        </p:nvGraphicFramePr>
        <p:xfrm>
          <a:off x="575556" y="1739984"/>
          <a:ext cx="7992888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align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responsável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pelo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alinhamento</a:t>
                      </a:r>
                      <a:r>
                        <a:rPr lang="en-US" sz="1800" dirty="0"/>
                        <a:t> do </a:t>
                      </a:r>
                      <a:r>
                        <a:rPr lang="en-US" sz="1800" dirty="0" err="1"/>
                        <a:t>conteúdo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célula</a:t>
                      </a:r>
                      <a:r>
                        <a:rPr lang="en-US" sz="1800" dirty="0"/>
                        <a:t>: left, right, center e justify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bordercolor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a </a:t>
                      </a:r>
                      <a:r>
                        <a:rPr lang="en-US" sz="1800" dirty="0" err="1"/>
                        <a:t>cor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borda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célula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a </a:t>
                      </a:r>
                      <a:r>
                        <a:rPr lang="en-US" sz="1800" dirty="0" err="1"/>
                        <a:t>imagem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fundo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célula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bgcolor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a </a:t>
                      </a:r>
                      <a:r>
                        <a:rPr lang="en-US" sz="1800" dirty="0" err="1"/>
                        <a:t>cor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fundo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célula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9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colspan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o </a:t>
                      </a:r>
                      <a:r>
                        <a:rPr lang="en-US" sz="1800" dirty="0" err="1"/>
                        <a:t>número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colunas</a:t>
                      </a:r>
                      <a:r>
                        <a:rPr lang="en-US" sz="1800" dirty="0"/>
                        <a:t> que </a:t>
                      </a:r>
                      <a:r>
                        <a:rPr lang="en-US" sz="1800" dirty="0" err="1"/>
                        <a:t>uma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célula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ocupará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82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rowspan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o </a:t>
                      </a:r>
                      <a:r>
                        <a:rPr lang="en-US" sz="1800" dirty="0" err="1"/>
                        <a:t>número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linhas</a:t>
                      </a:r>
                      <a:r>
                        <a:rPr lang="en-US" sz="1800" dirty="0"/>
                        <a:t> que </a:t>
                      </a:r>
                      <a:r>
                        <a:rPr lang="en-US" sz="1800" dirty="0" err="1"/>
                        <a:t>uma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célula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ocupará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9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Valign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o </a:t>
                      </a:r>
                      <a:r>
                        <a:rPr lang="en-US" sz="1800" dirty="0" err="1"/>
                        <a:t>alinhamento</a:t>
                      </a:r>
                      <a:r>
                        <a:rPr lang="en-US" sz="1800" dirty="0"/>
                        <a:t> vertical do </a:t>
                      </a:r>
                      <a:r>
                        <a:rPr lang="en-US" sz="1800" dirty="0" err="1"/>
                        <a:t>conteúdo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célula</a:t>
                      </a:r>
                      <a:r>
                        <a:rPr lang="en-US" sz="1800" dirty="0"/>
                        <a:t>: left, right, middle, bottom e baseline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62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Height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o valor da </a:t>
                      </a:r>
                      <a:r>
                        <a:rPr lang="en-US" sz="1800" dirty="0" err="1"/>
                        <a:t>altura</a:t>
                      </a:r>
                      <a:r>
                        <a:rPr lang="en-US" sz="1800" dirty="0"/>
                        <a:t> que </a:t>
                      </a:r>
                      <a:r>
                        <a:rPr lang="en-US" sz="1800" dirty="0" err="1"/>
                        <a:t>uma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célula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terá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em</a:t>
                      </a:r>
                      <a:r>
                        <a:rPr lang="en-US" sz="1800" dirty="0"/>
                        <a:t> pixel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em</a:t>
                      </a:r>
                      <a:r>
                        <a:rPr lang="en-US" sz="1800" dirty="0"/>
                        <a:t> percentual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26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Width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o valor da </a:t>
                      </a:r>
                      <a:r>
                        <a:rPr lang="en-US" sz="1800" dirty="0" err="1"/>
                        <a:t>largura</a:t>
                      </a:r>
                      <a:r>
                        <a:rPr lang="en-US" sz="1800" dirty="0"/>
                        <a:t> que </a:t>
                      </a:r>
                      <a:r>
                        <a:rPr lang="en-US" sz="1800" dirty="0" err="1"/>
                        <a:t>uma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célula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terá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em</a:t>
                      </a:r>
                      <a:r>
                        <a:rPr lang="en-US" sz="1800" dirty="0"/>
                        <a:t> pixel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em</a:t>
                      </a:r>
                      <a:r>
                        <a:rPr lang="en-US" sz="1800" dirty="0"/>
                        <a:t> percentual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179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621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AAC246F-1D84-493A-8D46-0CE243B0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estrutura formal de uma tabela é constituída da seguinte forma:</a:t>
            </a:r>
          </a:p>
          <a:p>
            <a:endParaRPr lang="pt-BR" dirty="0"/>
          </a:p>
          <a:p>
            <a:pPr marL="0" lvl="0" indent="0">
              <a:spcBef>
                <a:spcPts val="600"/>
              </a:spcBef>
              <a:buNone/>
            </a:pPr>
            <a:r>
              <a:rPr lang="en-US" dirty="0"/>
              <a:t>&lt;table&gt;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dirty="0"/>
              <a:t>  &lt;</a:t>
            </a:r>
            <a:r>
              <a:rPr lang="en-US" dirty="0" err="1"/>
              <a:t>thead</a:t>
            </a:r>
            <a:r>
              <a:rPr lang="en-US" dirty="0"/>
              <a:t>&gt; (</a:t>
            </a:r>
            <a:r>
              <a:rPr lang="en-US" dirty="0" err="1"/>
              <a:t>th</a:t>
            </a:r>
            <a:r>
              <a:rPr lang="en-US" dirty="0"/>
              <a:t>, tr, td) &lt;/thread&gt;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dirty="0"/>
              <a:t>  &lt;</a:t>
            </a:r>
            <a:r>
              <a:rPr lang="en-US" dirty="0" err="1"/>
              <a:t>tbody</a:t>
            </a:r>
            <a:r>
              <a:rPr lang="en-US" dirty="0"/>
              <a:t>&gt;(</a:t>
            </a:r>
            <a:r>
              <a:rPr lang="en-US" dirty="0" err="1"/>
              <a:t>th</a:t>
            </a:r>
            <a:r>
              <a:rPr lang="en-US" dirty="0"/>
              <a:t>, tr, td) &lt;/</a:t>
            </a:r>
            <a:r>
              <a:rPr lang="en-US" dirty="0" err="1"/>
              <a:t>tbody</a:t>
            </a:r>
            <a:r>
              <a:rPr lang="en-US" dirty="0"/>
              <a:t>&gt;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dirty="0"/>
              <a:t>  &lt;</a:t>
            </a:r>
            <a:r>
              <a:rPr lang="en-US" dirty="0" err="1"/>
              <a:t>tfoot</a:t>
            </a:r>
            <a:r>
              <a:rPr lang="en-US" dirty="0"/>
              <a:t>&gt; (</a:t>
            </a:r>
            <a:r>
              <a:rPr lang="en-US" dirty="0" err="1"/>
              <a:t>th</a:t>
            </a:r>
            <a:r>
              <a:rPr lang="en-US" dirty="0"/>
              <a:t>, tr, td) &lt;/</a:t>
            </a:r>
            <a:r>
              <a:rPr lang="en-US" dirty="0" err="1"/>
              <a:t>tfoot</a:t>
            </a:r>
            <a:r>
              <a:rPr lang="en-US" dirty="0"/>
              <a:t>&gt;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dirty="0"/>
              <a:t>&lt;/table&gt;</a:t>
            </a:r>
          </a:p>
          <a:p>
            <a:pPr marL="109728" indent="0">
              <a:buNone/>
            </a:pP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579B4AD-7A09-44AF-963E-C3A2AD73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Tabelas</a:t>
            </a:r>
          </a:p>
        </p:txBody>
      </p:sp>
    </p:spTree>
    <p:extLst>
      <p:ext uri="{BB962C8B-B14F-4D97-AF65-F5344CB8AC3E}">
        <p14:creationId xmlns:p14="http://schemas.microsoft.com/office/powerpoint/2010/main" val="426158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2F18B4E-BE8D-49BF-8684-09FC91CB1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1</a:t>
            </a:r>
            <a:r>
              <a:rPr lang="pt-BR" dirty="0"/>
              <a:t>: Criar uma estrutura de tabela que </a:t>
            </a:r>
            <a:r>
              <a:rPr lang="pt-BR" dirty="0" err="1"/>
              <a:t>renderize</a:t>
            </a:r>
            <a:r>
              <a:rPr lang="pt-BR" dirty="0"/>
              <a:t> ao final o seguinte resultado: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7743086-AD16-4395-BD70-2857B5F4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Tabelas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5590D77-4A89-481C-9321-D06B7B5A66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0" r="1070"/>
          <a:stretch/>
        </p:blipFill>
        <p:spPr>
          <a:xfrm>
            <a:off x="323527" y="2654865"/>
            <a:ext cx="8496945" cy="33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99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C77B0A5-BF65-4105-B052-9E2208B3D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>
                <a:hlinkClick r:id="rId2"/>
              </a:rPr>
              <a:t>INPUT</a:t>
            </a:r>
            <a:r>
              <a:rPr lang="pt-BR" dirty="0"/>
              <a:t> tem uma enorme variação de usos e como o nome diz, permite a entrada de dados realizada pelo usuário;</a:t>
            </a:r>
          </a:p>
          <a:p>
            <a:r>
              <a:rPr lang="pt-BR" dirty="0"/>
              <a:t>Normalmente são utilizados em </a:t>
            </a:r>
            <a:r>
              <a:rPr lang="pt-BR" dirty="0">
                <a:hlinkClick r:id="rId3"/>
              </a:rPr>
              <a:t>conjunto com formulários</a:t>
            </a:r>
            <a:r>
              <a:rPr lang="pt-BR" dirty="0"/>
              <a:t>;</a:t>
            </a:r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4678BA0-C5B0-47A9-8A8C-B735251F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8D752C-291B-4F55-BB36-099B60F81327}"/>
              </a:ext>
            </a:extLst>
          </p:cNvPr>
          <p:cNvSpPr/>
          <p:nvPr/>
        </p:nvSpPr>
        <p:spPr>
          <a:xfrm>
            <a:off x="1763688" y="4293096"/>
            <a:ext cx="61206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campo_text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campo_text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"100"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"Campo do 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tipo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 text"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"Valor Default"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221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872AB09-41EE-4269-803B-20E81689C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54" y="1256473"/>
            <a:ext cx="8229600" cy="4525963"/>
          </a:xfrm>
        </p:spPr>
        <p:txBody>
          <a:bodyPr>
            <a:normAutofit/>
          </a:bodyPr>
          <a:lstStyle/>
          <a:p>
            <a:r>
              <a:rPr lang="pt-BR" sz="2600" b="1" dirty="0"/>
              <a:t>Campo Texto</a:t>
            </a:r>
            <a:r>
              <a:rPr lang="pt-BR" sz="2600" dirty="0"/>
              <a:t>: Entrada de conjunto de palavras;</a:t>
            </a:r>
          </a:p>
          <a:p>
            <a:r>
              <a:rPr lang="pt-BR" sz="2600" dirty="0"/>
              <a:t>Exemplo: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F7F3659-A457-4983-A52B-FC6FA6450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190957B-7FE3-44FD-92B5-F4A06A9CF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647038"/>
              </p:ext>
            </p:extLst>
          </p:nvPr>
        </p:nvGraphicFramePr>
        <p:xfrm>
          <a:off x="757804" y="2852936"/>
          <a:ext cx="7992888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Maxlength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indica</a:t>
                      </a:r>
                      <a:r>
                        <a:rPr lang="en-US" sz="1800" dirty="0"/>
                        <a:t> o </a:t>
                      </a:r>
                      <a:r>
                        <a:rPr lang="en-US" sz="1800" dirty="0" err="1"/>
                        <a:t>número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máximo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caracteres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permitidos</a:t>
                      </a:r>
                      <a:r>
                        <a:rPr lang="en-US" sz="1800" dirty="0"/>
                        <a:t> no campo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readlonly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indica</a:t>
                      </a:r>
                      <a:r>
                        <a:rPr lang="en-US" sz="1800" dirty="0"/>
                        <a:t> que o </a:t>
                      </a:r>
                      <a:r>
                        <a:rPr lang="en-US" sz="1800" dirty="0" err="1"/>
                        <a:t>atributo</a:t>
                      </a:r>
                      <a:r>
                        <a:rPr lang="en-US" sz="1800" dirty="0"/>
                        <a:t> value </a:t>
                      </a:r>
                      <a:r>
                        <a:rPr lang="en-US" sz="1800" dirty="0" err="1"/>
                        <a:t>não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pode</a:t>
                      </a:r>
                      <a:r>
                        <a:rPr lang="en-US" sz="1800" dirty="0"/>
                        <a:t> ser </a:t>
                      </a:r>
                      <a:r>
                        <a:rPr lang="en-US" sz="1800" dirty="0" err="1"/>
                        <a:t>modificado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disabled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 que o campo </a:t>
                      </a:r>
                      <a:r>
                        <a:rPr lang="en-US" sz="1800" dirty="0" err="1"/>
                        <a:t>deverá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estar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desativado</a:t>
                      </a:r>
                      <a:r>
                        <a:rPr lang="en-US" sz="1800" dirty="0"/>
                        <a:t> para </a:t>
                      </a:r>
                      <a:r>
                        <a:rPr lang="en-US" sz="1800" dirty="0" err="1"/>
                        <a:t>uso</a:t>
                      </a:r>
                      <a:r>
                        <a:rPr lang="en-US" sz="1800" dirty="0"/>
                        <a:t> (entrada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modificação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texto</a:t>
                      </a:r>
                      <a:r>
                        <a:rPr lang="en-US" sz="1800" dirty="0"/>
                        <a:t>)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size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 o </a:t>
                      </a:r>
                      <a:r>
                        <a:rPr lang="en-US" sz="1800" dirty="0" err="1"/>
                        <a:t>tamanho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exibição</a:t>
                      </a:r>
                      <a:r>
                        <a:rPr lang="en-US" sz="1800" dirty="0"/>
                        <a:t> do campo.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9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MIN e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 </a:t>
                      </a:r>
                      <a:r>
                        <a:rPr lang="en-US" sz="1800" dirty="0" err="1"/>
                        <a:t>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valores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mínimo</a:t>
                      </a:r>
                      <a:r>
                        <a:rPr lang="en-US" sz="1800" dirty="0"/>
                        <a:t> e </a:t>
                      </a:r>
                      <a:r>
                        <a:rPr lang="en-US" sz="1800" dirty="0" err="1"/>
                        <a:t>máximo</a:t>
                      </a:r>
                      <a:r>
                        <a:rPr lang="en-US" sz="1800" dirty="0"/>
                        <a:t> para </a:t>
                      </a:r>
                      <a:r>
                        <a:rPr lang="en-US" sz="1800" dirty="0" err="1"/>
                        <a:t>campos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numéricos</a:t>
                      </a:r>
                      <a:r>
                        <a:rPr lang="en-US" sz="1800" dirty="0"/>
                        <a:t> (</a:t>
                      </a:r>
                      <a:r>
                        <a:rPr lang="en-US" sz="1800" dirty="0" err="1"/>
                        <a:t>datemin</a:t>
                      </a:r>
                      <a:r>
                        <a:rPr lang="en-US" sz="1800" dirty="0"/>
                        <a:t> e </a:t>
                      </a:r>
                      <a:r>
                        <a:rPr lang="en-US" sz="1800" dirty="0" err="1"/>
                        <a:t>datemax</a:t>
                      </a:r>
                      <a:r>
                        <a:rPr lang="en-US" sz="1800" dirty="0"/>
                        <a:t> para </a:t>
                      </a:r>
                      <a:r>
                        <a:rPr lang="en-US" sz="1800" dirty="0" err="1"/>
                        <a:t>datas</a:t>
                      </a:r>
                      <a:r>
                        <a:rPr lang="en-US" sz="1800" dirty="0"/>
                        <a:t>)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82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Title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Texto que é exibido ao passar com o mouse sobre o campo.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49410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C91C0AAA-708D-4CF0-8FD0-CA4CC7A85990}"/>
              </a:ext>
            </a:extLst>
          </p:cNvPr>
          <p:cNvSpPr/>
          <p:nvPr/>
        </p:nvSpPr>
        <p:spPr>
          <a:xfrm>
            <a:off x="2483768" y="1772873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“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assunto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“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assunto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"100"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“Informe o 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Assunto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394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3576B3C-A091-459C-AE8B-7026812AA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2799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Vamos ajustar o exemplo adicionando elementos auxiliares como uma etiqueta e estrutura de lista: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Novos elementos podem ser adicionados em novas </a:t>
            </a:r>
            <a:r>
              <a:rPr lang="pt-BR" dirty="0" err="1"/>
              <a:t>tags</a:t>
            </a:r>
            <a:r>
              <a:rPr lang="pt-BR" dirty="0"/>
              <a:t> LI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98FDED8-26F7-45D9-8A8E-6F3A0AEB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C8E327-B68C-4851-B9B1-2ED6A50C3316}"/>
              </a:ext>
            </a:extLst>
          </p:cNvPr>
          <p:cNvSpPr/>
          <p:nvPr/>
        </p:nvSpPr>
        <p:spPr>
          <a:xfrm>
            <a:off x="827584" y="2635835"/>
            <a:ext cx="78592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"termos"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Aceito os termos e condições de uso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    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"termos"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checkbox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termos_de_uso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"20"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maxlength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"20"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"1"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b="1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321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A322931-5BA4-4B18-A608-B7D49347F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Campo de Senha</a:t>
            </a:r>
            <a:r>
              <a:rPr lang="pt-BR" dirty="0"/>
              <a:t>: Permite a entrada de conteúdo textual livre, porém formatado para ocultar os caracteres. </a:t>
            </a:r>
          </a:p>
          <a:p>
            <a:r>
              <a:rPr lang="pt-BR" dirty="0"/>
              <a:t>O Navegador controla o comportamento dos campos de senha;</a:t>
            </a:r>
          </a:p>
          <a:p>
            <a:r>
              <a:rPr lang="pt-BR" dirty="0"/>
              <a:t>Da mesma forma se utiliza o INPUT do tipo PASSWORD;</a:t>
            </a:r>
          </a:p>
          <a:p>
            <a:pPr marL="109728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4E0F0A9-1AFF-442A-B495-9B45CF31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D7E074E-C47C-4BCD-AFC1-D3C4FF391907}"/>
              </a:ext>
            </a:extLst>
          </p:cNvPr>
          <p:cNvSpPr/>
          <p:nvPr/>
        </p:nvSpPr>
        <p:spPr>
          <a:xfrm>
            <a:off x="1187624" y="4529962"/>
            <a:ext cx="74991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400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campo_password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password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campo_password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"20"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maxlength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"20"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"Campo do tipo 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Password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required</a:t>
            </a:r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62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A322931-5BA4-4B18-A608-B7D49347F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Campo </a:t>
            </a:r>
            <a:r>
              <a:rPr lang="pt-BR" b="1" dirty="0" err="1"/>
              <a:t>Checkbox</a:t>
            </a:r>
            <a:r>
              <a:rPr lang="pt-BR" dirty="0"/>
              <a:t>: Disponibiliza meio de entrada onde o usuário pode optar;</a:t>
            </a:r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4E0F0A9-1AFF-442A-B495-9B45CF31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73755A3-438C-4FF8-9CA4-E9B27387CAD3}"/>
              </a:ext>
            </a:extLst>
          </p:cNvPr>
          <p:cNvSpPr/>
          <p:nvPr/>
        </p:nvSpPr>
        <p:spPr>
          <a:xfrm>
            <a:off x="611560" y="3068960"/>
            <a:ext cx="792088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"termos"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Aceito os termos e condições de uso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"termos"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checkbox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termos_de_uso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"20"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maxlength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"20"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"1"</a:t>
            </a:r>
            <a:r>
              <a:rPr lang="pt-BR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pt-BR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020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A322931-5BA4-4B18-A608-B7D49347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</p:spPr>
        <p:txBody>
          <a:bodyPr/>
          <a:lstStyle/>
          <a:p>
            <a:r>
              <a:rPr lang="pt-BR" b="1" dirty="0"/>
              <a:t>Campo Radio</a:t>
            </a:r>
            <a:r>
              <a:rPr lang="pt-BR" dirty="0"/>
              <a:t>: </a:t>
            </a:r>
            <a:r>
              <a:rPr lang="pt-BR" dirty="0" err="1"/>
              <a:t>Permte</a:t>
            </a:r>
            <a:r>
              <a:rPr lang="pt-BR" dirty="0"/>
              <a:t> o usuário escolher uma opção de uma lista de opções disponível</a:t>
            </a:r>
          </a:p>
          <a:p>
            <a:r>
              <a:rPr lang="pt-BR" dirty="0" err="1"/>
              <a:t>Ex</a:t>
            </a:r>
            <a:r>
              <a:rPr lang="pt-BR" dirty="0"/>
              <a:t>: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4E0F0A9-1AFF-442A-B495-9B45CF31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755683-FE30-4343-8E97-73361DD8B9EE}"/>
              </a:ext>
            </a:extLst>
          </p:cNvPr>
          <p:cNvSpPr/>
          <p:nvPr/>
        </p:nvSpPr>
        <p:spPr>
          <a:xfrm>
            <a:off x="570486" y="3345347"/>
            <a:ext cx="81363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pt-BR" dirty="0" err="1">
                <a:solidFill>
                  <a:srgbClr val="F44747"/>
                </a:solidFill>
                <a:latin typeface="Consolas" panose="020B0609020204030204" pitchFamily="49" charset="0"/>
              </a:rPr>
              <a:t>"sexo</a:t>
            </a:r>
            <a:r>
              <a:rPr lang="pt-BR" dirty="0">
                <a:solidFill>
                  <a:srgbClr val="F44747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Sexo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pt-BR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sexo_masculino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"radio"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u="sng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pt-BR" b="1" u="sng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u="sng" dirty="0">
                <a:solidFill>
                  <a:srgbClr val="CE9178"/>
                </a:solidFill>
                <a:latin typeface="Consolas" panose="020B0609020204030204" pitchFamily="49" charset="0"/>
              </a:rPr>
              <a:t>"sexo"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"1"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pt-BR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sexo_masculino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Masculino: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pt-BR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sexo_feminino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"radio"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u="sng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pt-BR" b="1" u="sng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u="sng" dirty="0">
                <a:solidFill>
                  <a:srgbClr val="CE9178"/>
                </a:solidFill>
                <a:latin typeface="Consolas" panose="020B0609020204030204" pitchFamily="49" charset="0"/>
              </a:rPr>
              <a:t>"sexo"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CE9178"/>
                </a:solidFill>
                <a:latin typeface="Consolas" panose="020B0609020204030204" pitchFamily="49" charset="0"/>
              </a:rPr>
              <a:t>"2"</a:t>
            </a:r>
            <a:r>
              <a:rPr lang="pt-BR" b="1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pt-BR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sexo_feminino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Feminino: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56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A322931-5BA4-4B18-A608-B7D49347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83" y="1166018"/>
            <a:ext cx="8229600" cy="4525963"/>
          </a:xfrm>
        </p:spPr>
        <p:txBody>
          <a:bodyPr/>
          <a:lstStyle/>
          <a:p>
            <a:r>
              <a:rPr lang="pt-BR" b="1" dirty="0"/>
              <a:t>Outros tipos</a:t>
            </a:r>
            <a:r>
              <a:rPr lang="pt-BR" dirty="0"/>
              <a:t>: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4E0F0A9-1AFF-442A-B495-9B45CF31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22458BB-C096-48E9-A851-93C6EC1F3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825807"/>
              </p:ext>
            </p:extLst>
          </p:nvPr>
        </p:nvGraphicFramePr>
        <p:xfrm>
          <a:off x="585495" y="1724435"/>
          <a:ext cx="7992888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Permite</a:t>
                      </a:r>
                      <a:r>
                        <a:rPr lang="en-US" sz="1800" dirty="0"/>
                        <a:t> entrada de cores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Permite</a:t>
                      </a:r>
                      <a:r>
                        <a:rPr lang="en-US" sz="1800" dirty="0"/>
                        <a:t> entrada de </a:t>
                      </a:r>
                      <a:r>
                        <a:rPr lang="en-US" sz="1800" dirty="0" err="1"/>
                        <a:t>datas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Datetime</a:t>
                      </a:r>
                      <a:r>
                        <a:rPr lang="pt-BR" dirty="0"/>
                        <a:t>-local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Permite</a:t>
                      </a:r>
                      <a:r>
                        <a:rPr lang="en-US" sz="1800" dirty="0"/>
                        <a:t> entrada de </a:t>
                      </a:r>
                      <a:r>
                        <a:rPr lang="en-US" sz="1800" dirty="0" err="1"/>
                        <a:t>datas</a:t>
                      </a:r>
                      <a:r>
                        <a:rPr lang="en-US" sz="1800" dirty="0"/>
                        <a:t> com hora e local time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Email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Permite</a:t>
                      </a:r>
                      <a:r>
                        <a:rPr lang="en-US" sz="1800" dirty="0"/>
                        <a:t> entrada de </a:t>
                      </a:r>
                      <a:r>
                        <a:rPr lang="en-US" sz="1800" dirty="0" err="1"/>
                        <a:t>texto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formatado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como</a:t>
                      </a:r>
                      <a:r>
                        <a:rPr lang="en-US" sz="1800" dirty="0"/>
                        <a:t> e-mail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9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Permite</a:t>
                      </a:r>
                      <a:r>
                        <a:rPr lang="en-US" sz="1800" dirty="0"/>
                        <a:t> entrada de </a:t>
                      </a:r>
                      <a:r>
                        <a:rPr lang="en-US" sz="1800" dirty="0" err="1"/>
                        <a:t>arquivos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82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Hidden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 especial de input oculto do usuário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766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Image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Permite entrada de imagens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02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Month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Permite entrada de dado tipificado como mês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08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Number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Entrada de dados do tipo numérico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730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Entrada de dados entre limites (inferior e superior)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763344"/>
                  </a:ext>
                </a:extLst>
              </a:tr>
            </a:tbl>
          </a:graphicData>
        </a:graphic>
      </p:graphicFrame>
      <p:sp>
        <p:nvSpPr>
          <p:cNvPr id="4" name="Retângulo 3">
            <a:hlinkClick r:id="rId2"/>
            <a:extLst>
              <a:ext uri="{FF2B5EF4-FFF2-40B4-BE49-F238E27FC236}">
                <a16:creationId xmlns:a16="http://schemas.microsoft.com/office/drawing/2014/main" id="{1BE82B68-FB1C-4103-9F6B-FA37382B4301}"/>
              </a:ext>
            </a:extLst>
          </p:cNvPr>
          <p:cNvSpPr/>
          <p:nvPr/>
        </p:nvSpPr>
        <p:spPr>
          <a:xfrm>
            <a:off x="899592" y="6214029"/>
            <a:ext cx="7308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dirty="0">
                <a:hlinkClick r:id="rId2"/>
              </a:rPr>
              <a:t>https://www.w3schools.com/html/html_form_input_types.asp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6111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2F18B4E-BE8D-49BF-8684-09FC91CB1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pt-BR" b="1" dirty="0"/>
              <a:t>Prática 2</a:t>
            </a:r>
            <a:r>
              <a:rPr lang="pt-BR" dirty="0"/>
              <a:t>: Criar uma página HTML para cadastramento de uma pessoa: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7743086-AD16-4395-BD70-2857B5F4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Inputs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E462BA1-3137-4F5A-8CD6-08651A233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392125"/>
              </p:ext>
            </p:extLst>
          </p:nvPr>
        </p:nvGraphicFramePr>
        <p:xfrm>
          <a:off x="575555" y="2276872"/>
          <a:ext cx="7992889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92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143376060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Características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Text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Required, </a:t>
                      </a:r>
                      <a:r>
                        <a:rPr lang="en-US" sz="1800" dirty="0" err="1"/>
                        <a:t>Máximo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Caracteres</a:t>
                      </a:r>
                      <a:r>
                        <a:rPr lang="en-US" sz="1800" dirty="0"/>
                        <a:t> 100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Sobrenome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Text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Required, </a:t>
                      </a:r>
                      <a:r>
                        <a:rPr lang="en-US" sz="1800" dirty="0" err="1"/>
                        <a:t>Máximo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caracteres</a:t>
                      </a:r>
                      <a:r>
                        <a:rPr lang="en-US" sz="1800" dirty="0"/>
                        <a:t> 100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E-Mail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Email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Required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Data de Nascimento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Mínimo permitido 01/01/1920, Máximo permitido 01/01/2024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68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Sexo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Opções Masculino e </a:t>
                      </a:r>
                      <a:r>
                        <a:rPr lang="pt-BR" dirty="0" err="1"/>
                        <a:t>Feminio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8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Endereço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Text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Máximo de Caracteres,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35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Text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Máximo de Caracteres,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775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Cor favorita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334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Estado (UF)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Select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74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315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2F18B4E-BE8D-49BF-8684-09FC91CB1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pt-BR" dirty="0"/>
              <a:t>Para poder enviar os dados para o servidor, uma das maneiras mais básicas é por meio de formulários;</a:t>
            </a:r>
          </a:p>
          <a:p>
            <a:r>
              <a:rPr lang="pt-BR" dirty="0"/>
              <a:t>Um </a:t>
            </a:r>
            <a:r>
              <a:rPr lang="pt-BR" dirty="0" err="1"/>
              <a:t>form</a:t>
            </a:r>
            <a:r>
              <a:rPr lang="pt-BR" dirty="0"/>
              <a:t> tem de duas partes básicas:</a:t>
            </a:r>
          </a:p>
          <a:p>
            <a:pPr lvl="1"/>
            <a:r>
              <a:rPr lang="pt-BR" dirty="0"/>
              <a:t>Um conjunto de campos para entrada de dados;</a:t>
            </a:r>
          </a:p>
          <a:p>
            <a:pPr lvl="1"/>
            <a:r>
              <a:rPr lang="pt-BR" dirty="0"/>
              <a:t>O script que irá processá-lo no servidor;</a:t>
            </a:r>
          </a:p>
          <a:p>
            <a:r>
              <a:rPr lang="pt-BR" dirty="0"/>
              <a:t>A declaração mais básica é: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7743086-AD16-4395-BD70-2857B5F4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Formulários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09072E9-E386-49DF-A85E-3A9598B70E4D}"/>
              </a:ext>
            </a:extLst>
          </p:cNvPr>
          <p:cNvSpPr/>
          <p:nvPr/>
        </p:nvSpPr>
        <p:spPr>
          <a:xfrm>
            <a:off x="695534" y="4653136"/>
            <a:ext cx="8424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form_pessoa.php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"get"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&lt;input….</a:t>
            </a: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2F18B4E-BE8D-49BF-8684-09FC91CB1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seguintes atributos são suportados: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7743086-AD16-4395-BD70-2857B5F4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Formulários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1A356D9-4E71-44A0-AED8-06F4DD348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041991"/>
              </p:ext>
            </p:extLst>
          </p:nvPr>
        </p:nvGraphicFramePr>
        <p:xfrm>
          <a:off x="693912" y="2204864"/>
          <a:ext cx="799288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Action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 o script que </a:t>
                      </a:r>
                      <a:r>
                        <a:rPr lang="en-US" sz="1800" dirty="0" err="1"/>
                        <a:t>será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disparado</a:t>
                      </a:r>
                      <a:r>
                        <a:rPr lang="en-US" sz="1800" dirty="0"/>
                        <a:t> para </a:t>
                      </a:r>
                      <a:r>
                        <a:rPr lang="en-US" sz="1800" dirty="0" err="1"/>
                        <a:t>processar</a:t>
                      </a:r>
                      <a:r>
                        <a:rPr lang="en-US" sz="1800" dirty="0"/>
                        <a:t> o </a:t>
                      </a:r>
                      <a:r>
                        <a:rPr lang="en-US" sz="1800" dirty="0" err="1"/>
                        <a:t>formulário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 </a:t>
                      </a:r>
                      <a:r>
                        <a:rPr lang="en-US" sz="1800" dirty="0" err="1"/>
                        <a:t>onde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será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exibida</a:t>
                      </a:r>
                      <a:r>
                        <a:rPr lang="en-US" sz="1800" dirty="0"/>
                        <a:t> a </a:t>
                      </a:r>
                      <a:r>
                        <a:rPr lang="en-US" sz="1800" dirty="0" err="1"/>
                        <a:t>resposta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pedido</a:t>
                      </a:r>
                      <a:r>
                        <a:rPr lang="en-US" sz="1800" dirty="0"/>
                        <a:t> do </a:t>
                      </a:r>
                      <a:r>
                        <a:rPr lang="en-US" sz="1800" dirty="0" err="1"/>
                        <a:t>formulário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podendo</a:t>
                      </a:r>
                      <a:r>
                        <a:rPr lang="en-US" sz="1800" dirty="0"/>
                        <a:t> ser: _blank, _self, _parent, _top, </a:t>
                      </a:r>
                      <a:r>
                        <a:rPr lang="en-US" sz="1800" i="1" dirty="0" err="1"/>
                        <a:t>framename</a:t>
                      </a:r>
                      <a:r>
                        <a:rPr lang="en-US" sz="1800" i="1" dirty="0"/>
                        <a:t> </a:t>
                      </a:r>
                      <a:r>
                        <a:rPr lang="en-US" sz="1800" i="0" dirty="0"/>
                        <a:t>(um frame </a:t>
                      </a:r>
                      <a:r>
                        <a:rPr lang="en-US" sz="1800" i="0" dirty="0" err="1"/>
                        <a:t>específico</a:t>
                      </a:r>
                      <a:r>
                        <a:rPr lang="en-US" sz="1800" i="0" dirty="0"/>
                        <a:t>). </a:t>
                      </a:r>
                      <a:r>
                        <a:rPr lang="en-US" sz="1800" b="1" i="0" dirty="0"/>
                        <a:t>Default: _self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Method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 o </a:t>
                      </a:r>
                      <a:r>
                        <a:rPr lang="en-US" sz="1800" dirty="0" err="1"/>
                        <a:t>método</a:t>
                      </a:r>
                      <a:r>
                        <a:rPr lang="en-US" sz="1800" dirty="0"/>
                        <a:t> que </a:t>
                      </a:r>
                      <a:r>
                        <a:rPr lang="en-US" sz="1800" dirty="0" err="1"/>
                        <a:t>os</a:t>
                      </a:r>
                      <a:r>
                        <a:rPr lang="en-US" sz="1800" dirty="0"/>
                        <a:t> dados </a:t>
                      </a:r>
                      <a:r>
                        <a:rPr lang="en-US" sz="1800" dirty="0" err="1"/>
                        <a:t>serão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enviados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servidor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podendo</a:t>
                      </a:r>
                      <a:r>
                        <a:rPr lang="en-US" sz="1800" dirty="0"/>
                        <a:t> ser: GET (default)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POST.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Autocomplete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 se o </a:t>
                      </a:r>
                      <a:r>
                        <a:rPr lang="en-US" sz="1800" dirty="0" err="1"/>
                        <a:t>formulário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permite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recurso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autocompletar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não</a:t>
                      </a:r>
                      <a:r>
                        <a:rPr lang="en-US" sz="1800" dirty="0"/>
                        <a:t>. </a:t>
                      </a:r>
                      <a:r>
                        <a:rPr lang="en-US" sz="1800" dirty="0" err="1"/>
                        <a:t>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valores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são</a:t>
                      </a:r>
                      <a:r>
                        <a:rPr lang="en-US" sz="1800" dirty="0"/>
                        <a:t>: ON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OFF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9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Novalidate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 </a:t>
                      </a:r>
                      <a:r>
                        <a:rPr lang="en-US" sz="1800" dirty="0" err="1"/>
                        <a:t>presente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indicará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navegador</a:t>
                      </a:r>
                      <a:r>
                        <a:rPr lang="en-US" sz="1800" dirty="0"/>
                        <a:t> que </a:t>
                      </a:r>
                      <a:r>
                        <a:rPr lang="en-US" sz="1800" dirty="0" err="1"/>
                        <a:t>os</a:t>
                      </a:r>
                      <a:r>
                        <a:rPr lang="en-US" sz="1800" dirty="0"/>
                        <a:t> dados </a:t>
                      </a:r>
                      <a:r>
                        <a:rPr lang="en-US" sz="1800" dirty="0" err="1"/>
                        <a:t>não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devem</a:t>
                      </a:r>
                      <a:r>
                        <a:rPr lang="en-US" sz="1800" dirty="0"/>
                        <a:t> ser </a:t>
                      </a:r>
                      <a:r>
                        <a:rPr lang="en-US" sz="1800" dirty="0" err="1"/>
                        <a:t>validados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ao</a:t>
                      </a:r>
                      <a:r>
                        <a:rPr lang="en-US" sz="1800" dirty="0"/>
                        <a:t> realizer o submit.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828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887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87F5D72-04E8-450B-95BF-A345059D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Formulários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AC33D23-B636-43C4-8547-714CCA2D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formas de se organizar os elementos no formulário e são recomendadas;</a:t>
            </a:r>
          </a:p>
          <a:p>
            <a:r>
              <a:rPr lang="pt-BR" dirty="0"/>
              <a:t>Uma delas é o uso do elemento FIELDSET;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95A5278-7E24-4ED6-B831-29630DEDC881}"/>
              </a:ext>
            </a:extLst>
          </p:cNvPr>
          <p:cNvSpPr/>
          <p:nvPr/>
        </p:nvSpPr>
        <p:spPr>
          <a:xfrm>
            <a:off x="1115616" y="3068960"/>
            <a:ext cx="73448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trata_form_pessoa.php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"get"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fieldset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dados_pessoa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 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 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 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campo_nome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Nome: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campo_nome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campo_nome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"Nome"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fieldset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       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23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A322931-5BA4-4B18-A608-B7D49347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</p:spPr>
        <p:txBody>
          <a:bodyPr/>
          <a:lstStyle/>
          <a:p>
            <a:r>
              <a:rPr lang="pt-BR" b="1" dirty="0" err="1"/>
              <a:t>Submit</a:t>
            </a:r>
            <a:r>
              <a:rPr lang="pt-BR" b="1" dirty="0"/>
              <a:t> e Reset</a:t>
            </a:r>
            <a:r>
              <a:rPr lang="pt-BR" dirty="0"/>
              <a:t>: São dois tipos especiais de </a:t>
            </a:r>
            <a:r>
              <a:rPr lang="pt-BR" dirty="0" err="1"/>
              <a:t>INPUTs</a:t>
            </a:r>
            <a:r>
              <a:rPr lang="pt-BR" dirty="0"/>
              <a:t>. Não são de entrada de dados.</a:t>
            </a:r>
          </a:p>
          <a:p>
            <a:r>
              <a:rPr lang="pt-BR" dirty="0"/>
              <a:t>São utilizados em conjunto com formulários</a:t>
            </a:r>
          </a:p>
          <a:p>
            <a:r>
              <a:rPr lang="pt-BR" dirty="0" err="1"/>
              <a:t>Ex</a:t>
            </a:r>
            <a:r>
              <a:rPr lang="pt-BR" dirty="0"/>
              <a:t>: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4E0F0A9-1AFF-442A-B495-9B45CF31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Formulários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F062CA-A82C-4973-91DD-B8427BDEDF45}"/>
              </a:ext>
            </a:extLst>
          </p:cNvPr>
          <p:cNvSpPr/>
          <p:nvPr/>
        </p:nvSpPr>
        <p:spPr>
          <a:xfrm>
            <a:off x="786408" y="3573016"/>
            <a:ext cx="75711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trata_form_pessoa.php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get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fieldset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dados_pessoa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           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  </a:t>
            </a:r>
            <a:r>
              <a:rPr lang="pt-BR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submit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"Enviar"</a:t>
            </a:r>
            <a:r>
              <a:rPr lang="pt-BR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"reset"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"Limpar"</a:t>
            </a:r>
            <a:r>
              <a:rPr lang="pt-BR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fieldset</a:t>
            </a:r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&gt;</a:t>
            </a:r>
            <a:endParaRPr lang="pt-BR" sz="20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pt-BR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     </a:t>
            </a:r>
            <a:endParaRPr lang="pt-BR" sz="20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159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A322931-5BA4-4B18-A608-B7D49347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</p:spPr>
        <p:txBody>
          <a:bodyPr/>
          <a:lstStyle/>
          <a:p>
            <a:r>
              <a:rPr lang="pt-BR" b="1" dirty="0">
                <a:hlinkClick r:id="rId2"/>
              </a:rPr>
              <a:t>Button</a:t>
            </a:r>
            <a:r>
              <a:rPr lang="pt-BR" dirty="0"/>
              <a:t>: É também um tipo de INPUT, também não representa uma entrada de dados.</a:t>
            </a:r>
          </a:p>
          <a:p>
            <a:r>
              <a:rPr lang="pt-BR" dirty="0" err="1"/>
              <a:t>Renderiza</a:t>
            </a:r>
            <a:r>
              <a:rPr lang="pt-BR" dirty="0"/>
              <a:t> um botão na tela e permite disparar eventos programáveis.</a:t>
            </a:r>
          </a:p>
          <a:p>
            <a:r>
              <a:rPr lang="pt-BR" dirty="0" err="1"/>
              <a:t>Ex</a:t>
            </a:r>
            <a:r>
              <a:rPr lang="pt-BR" dirty="0"/>
              <a:t>: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evento </a:t>
            </a:r>
            <a:r>
              <a:rPr lang="pt-BR" dirty="0" err="1"/>
              <a:t>onclick</a:t>
            </a:r>
            <a:r>
              <a:rPr lang="pt-BR" dirty="0"/>
              <a:t> </a:t>
            </a:r>
            <a:r>
              <a:rPr lang="pt-BR" dirty="0">
                <a:hlinkClick r:id="rId3"/>
              </a:rPr>
              <a:t>dispara um código </a:t>
            </a:r>
            <a:r>
              <a:rPr lang="pt-BR" dirty="0" err="1">
                <a:hlinkClick r:id="rId3"/>
              </a:rPr>
              <a:t>JavaScript</a:t>
            </a:r>
            <a:r>
              <a:rPr lang="pt-BR" dirty="0"/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4E0F0A9-1AFF-442A-B495-9B45CF31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Formulários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B0BF47C-A826-467B-963C-487B1FE4ACBC}"/>
              </a:ext>
            </a:extLst>
          </p:cNvPr>
          <p:cNvSpPr/>
          <p:nvPr/>
        </p:nvSpPr>
        <p:spPr>
          <a:xfrm>
            <a:off x="611560" y="3861048"/>
            <a:ext cx="792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button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"Alerta"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alert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('Nenhuma ação relacionada!')"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586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105FC6B-9A2E-4A78-9E69-EB1FC5A5B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outros elementos que podem ser utilizados em conjunto com formulários</a:t>
            </a:r>
          </a:p>
          <a:p>
            <a:r>
              <a:rPr lang="pt-BR" dirty="0"/>
              <a:t>A documentação completa pode ser obtida em:</a:t>
            </a:r>
          </a:p>
          <a:p>
            <a:r>
              <a:rPr lang="pt-BR" dirty="0">
                <a:hlinkClick r:id="rId2"/>
              </a:rPr>
              <a:t>https://www.w3schools.com/html/html_form_elements.asp</a:t>
            </a:r>
            <a:r>
              <a:rPr lang="pt-BR" dirty="0"/>
              <a:t>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966C4A-5BA9-45F8-8DAD-7CC1F023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HTML – Formulários – Elementos</a:t>
            </a:r>
          </a:p>
        </p:txBody>
      </p:sp>
    </p:spTree>
    <p:extLst>
      <p:ext uri="{BB962C8B-B14F-4D97-AF65-F5344CB8AC3E}">
        <p14:creationId xmlns:p14="http://schemas.microsoft.com/office/powerpoint/2010/main" val="76901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2F18B4E-BE8D-49BF-8684-09FC91CB1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pt-BR" b="1" dirty="0"/>
              <a:t>Prática 3</a:t>
            </a:r>
            <a:r>
              <a:rPr lang="pt-BR" dirty="0"/>
              <a:t>: Estruturar a prática 2 com o uso de formulários;</a:t>
            </a:r>
          </a:p>
          <a:p>
            <a:r>
              <a:rPr lang="pt-BR" dirty="0"/>
              <a:t>Deverá disparar no servidor o script: </a:t>
            </a:r>
            <a:r>
              <a:rPr lang="pt-BR" dirty="0" err="1"/>
              <a:t>cadastro.php</a:t>
            </a:r>
            <a:endParaRPr lang="pt-BR" dirty="0"/>
          </a:p>
          <a:p>
            <a:r>
              <a:rPr lang="pt-BR" dirty="0"/>
              <a:t>Deverá ser enviado por meio do método POST</a:t>
            </a:r>
          </a:p>
          <a:p>
            <a:r>
              <a:rPr lang="pt-BR" dirty="0"/>
              <a:t>Utilizar junto com os elementos:</a:t>
            </a:r>
          </a:p>
          <a:p>
            <a:pPr lvl="1"/>
            <a:r>
              <a:rPr lang="pt-BR" dirty="0" err="1"/>
              <a:t>Fieldset</a:t>
            </a:r>
            <a:endParaRPr lang="pt-BR" dirty="0"/>
          </a:p>
          <a:p>
            <a:pPr lvl="1"/>
            <a:r>
              <a:rPr lang="pt-BR" dirty="0"/>
              <a:t>Input SUBMIT e RESET</a:t>
            </a:r>
          </a:p>
          <a:p>
            <a:pPr lvl="1"/>
            <a:r>
              <a:rPr lang="pt-BR" dirty="0"/>
              <a:t>UL e LI para organizar os elementos de entrada dedados.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7743086-AD16-4395-BD70-2857B5F4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- Formulários</a:t>
            </a:r>
          </a:p>
        </p:txBody>
      </p:sp>
    </p:spTree>
    <p:extLst>
      <p:ext uri="{BB962C8B-B14F-4D97-AF65-F5344CB8AC3E}">
        <p14:creationId xmlns:p14="http://schemas.microsoft.com/office/powerpoint/2010/main" val="1376803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Aula 4</a:t>
            </a:r>
          </a:p>
          <a:p>
            <a:r>
              <a:rPr lang="pt-BR" dirty="0"/>
              <a:t>Revisitando a programação WEB – </a:t>
            </a:r>
            <a:r>
              <a:rPr lang="pt-BR" dirty="0" smtClean="0"/>
              <a:t>CSS</a:t>
            </a:r>
          </a:p>
          <a:p>
            <a:r>
              <a:rPr lang="pt-BR" dirty="0" smtClean="0"/>
              <a:t>Introdução ao </a:t>
            </a:r>
            <a:r>
              <a:rPr lang="pt-BR" dirty="0" err="1" smtClean="0"/>
              <a:t>JavaScript</a:t>
            </a:r>
            <a:r>
              <a:rPr lang="pt-BR" dirty="0" smtClean="0"/>
              <a:t> – Parte 1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4624</TotalTime>
  <Words>1722</Words>
  <Application>Microsoft Office PowerPoint</Application>
  <PresentationFormat>Apresentação na tela (4:3)</PresentationFormat>
  <Paragraphs>310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Consolas</vt:lpstr>
      <vt:lpstr>Lucida Sans Unicode</vt:lpstr>
      <vt:lpstr>Verdana</vt:lpstr>
      <vt:lpstr>Wingdings 2</vt:lpstr>
      <vt:lpstr>Wingdings 3</vt:lpstr>
      <vt:lpstr>Concurso</vt:lpstr>
      <vt:lpstr>Programação Web 1 Revisitando – HTML Parte 2</vt:lpstr>
      <vt:lpstr>HTML – Review parte 1</vt:lpstr>
      <vt:lpstr>HTML - Select</vt:lpstr>
      <vt:lpstr>HTML - Select</vt:lpstr>
      <vt:lpstr>HTML - Select</vt:lpstr>
      <vt:lpstr>HTML - Tabelas</vt:lpstr>
      <vt:lpstr>HTML - Tabelas</vt:lpstr>
      <vt:lpstr>HTML - Tabelas</vt:lpstr>
      <vt:lpstr>HTML - Tabelas</vt:lpstr>
      <vt:lpstr>HTML - Tabelas</vt:lpstr>
      <vt:lpstr>HTML - Tabelas</vt:lpstr>
      <vt:lpstr>HTML - Tabelas</vt:lpstr>
      <vt:lpstr>HTML - Inputs</vt:lpstr>
      <vt:lpstr>HTML - Inputs</vt:lpstr>
      <vt:lpstr>HTML - Inputs</vt:lpstr>
      <vt:lpstr>HTML - Inputs</vt:lpstr>
      <vt:lpstr>HTML - Inputs</vt:lpstr>
      <vt:lpstr>HTML - Inputs</vt:lpstr>
      <vt:lpstr>HTML - Inputs</vt:lpstr>
      <vt:lpstr>HTML - Inputs</vt:lpstr>
      <vt:lpstr>HTML - Formulários</vt:lpstr>
      <vt:lpstr>HTML - Formulários</vt:lpstr>
      <vt:lpstr>HTML - Formulários</vt:lpstr>
      <vt:lpstr>HTML – Formulários</vt:lpstr>
      <vt:lpstr>HTML – Formulários</vt:lpstr>
      <vt:lpstr>HTML – Formulários – Elementos</vt:lpstr>
      <vt:lpstr>HTML - Formulários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User</cp:lastModifiedBy>
  <cp:revision>150</cp:revision>
  <dcterms:created xsi:type="dcterms:W3CDTF">2013-09-10T00:11:01Z</dcterms:created>
  <dcterms:modified xsi:type="dcterms:W3CDTF">2025-08-16T20:35:44Z</dcterms:modified>
</cp:coreProperties>
</file>