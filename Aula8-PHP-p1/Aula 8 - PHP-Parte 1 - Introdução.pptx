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90" r:id="rId4"/>
    <p:sldId id="291" r:id="rId5"/>
    <p:sldId id="293" r:id="rId6"/>
    <p:sldId id="292" r:id="rId7"/>
    <p:sldId id="294" r:id="rId8"/>
    <p:sldId id="295" r:id="rId9"/>
    <p:sldId id="296" r:id="rId10"/>
    <p:sldId id="302" r:id="rId11"/>
    <p:sldId id="297" r:id="rId12"/>
    <p:sldId id="299" r:id="rId13"/>
    <p:sldId id="303" r:id="rId14"/>
    <p:sldId id="298" r:id="rId15"/>
    <p:sldId id="300" r:id="rId16"/>
    <p:sldId id="301" r:id="rId17"/>
    <p:sldId id="304" r:id="rId18"/>
    <p:sldId id="305" r:id="rId19"/>
    <p:sldId id="306" r:id="rId20"/>
    <p:sldId id="308" r:id="rId21"/>
    <p:sldId id="309" r:id="rId22"/>
    <p:sldId id="307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282" r:id="rId3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</p14:sldIdLst>
        </p14:section>
        <p14:section name="Review" id="{6EA2802E-D8B5-4B71-A099-9858662AF32A}">
          <p14:sldIdLst>
            <p14:sldId id="258"/>
            <p14:sldId id="290"/>
          </p14:sldIdLst>
        </p14:section>
        <p14:section name="Tipos de Dados" id="{DD3B77B1-7B9D-49E3-86E7-0DA8484C1823}">
          <p14:sldIdLst>
            <p14:sldId id="291"/>
            <p14:sldId id="293"/>
            <p14:sldId id="292"/>
            <p14:sldId id="294"/>
            <p14:sldId id="295"/>
            <p14:sldId id="296"/>
          </p14:sldIdLst>
        </p14:section>
        <p14:section name="Operadores" id="{D8B3E3C7-7A90-4210-A2F1-482FE0BB6359}">
          <p14:sldIdLst>
            <p14:sldId id="302"/>
            <p14:sldId id="297"/>
            <p14:sldId id="299"/>
            <p14:sldId id="303"/>
            <p14:sldId id="298"/>
            <p14:sldId id="300"/>
          </p14:sldIdLst>
        </p14:section>
        <p14:section name="Condicionais" id="{2FF4177A-686E-474A-A7F3-2488BC18DEF4}">
          <p14:sldIdLst>
            <p14:sldId id="301"/>
            <p14:sldId id="304"/>
            <p14:sldId id="305"/>
            <p14:sldId id="306"/>
          </p14:sldIdLst>
        </p14:section>
        <p14:section name="Estruturas de Repetição" id="{E608CE94-7E7F-4C8A-B557-2196D393489A}">
          <p14:sldIdLst>
            <p14:sldId id="308"/>
            <p14:sldId id="309"/>
            <p14:sldId id="307"/>
            <p14:sldId id="310"/>
            <p14:sldId id="311"/>
            <p14:sldId id="312"/>
          </p14:sldIdLst>
        </p14:section>
        <p14:section name="Arrays" id="{41B17F4C-71C1-4029-B59B-0A42411BE17D}">
          <p14:sldIdLst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Próxima Aula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php.net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hpdoc.org/3.0/guide/references/phpdoc/index.html#phpdoc-referenc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de%20Atribui%C3%A7%C3%A3o%20PHP,-Os%20operadores%20d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de%20atribui%C3%A7%C3%A3o%20condicional-,Operadores%20Aritm%C3%A9ticos%20PHP,-Os%20operadores%20aritm%C3%A9tico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Operadores%20de%20incremento/decremento%20PH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L%C3%B3gicos%20PHP,-Os%20operadores%20l%C3%B3gico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Operadores%20de%20compara%C3%A7%C3%A3o%20PH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L%C3%B3gicos%20PHP,-Os%20operadores%20l%C3%B3gico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if_else.as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if_else.as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if_else.as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L%C3%B3gicos%20PHP,-Os%20operadores%20l%C3%B3gico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looping_while.as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looping_do_while.as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looping_for.as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looping_foreach.as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looping_break.as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L%C3%B3gicos%20PHP,-Os%20operadores%20l%C3%B3gico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arrays.asp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arrays.as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arrays.asp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arrays.as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L%C3%B3gicos%20PHP,-Os%20operadores%20l%C3%B3gico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php/php_operators.asp#:~:text=Try%20it%20%C2%BB-,Operadores%20L%C3%B3gicos%20PHP,-Os%20operadores%20l%C3%B3gico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/>
              <a:t>PHP - Introdução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Características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Linguagem de </a:t>
            </a:r>
            <a:r>
              <a:rPr lang="pt-BR" dirty="0" err="1"/>
              <a:t>scripting</a:t>
            </a:r>
            <a:endParaRPr lang="pt-BR" dirty="0"/>
          </a:p>
          <a:p>
            <a:pPr lvl="1"/>
            <a:r>
              <a:rPr lang="pt-BR" dirty="0"/>
              <a:t>Linguagem </a:t>
            </a:r>
            <a:r>
              <a:rPr lang="pt-BR" dirty="0" err="1"/>
              <a:t>não</a:t>
            </a:r>
            <a:r>
              <a:rPr lang="pt-BR" dirty="0"/>
              <a:t> </a:t>
            </a:r>
            <a:r>
              <a:rPr lang="pt-BR" dirty="0" err="1"/>
              <a:t>tipada</a:t>
            </a:r>
            <a:r>
              <a:rPr lang="pt-BR" dirty="0"/>
              <a:t> (</a:t>
            </a:r>
            <a:r>
              <a:rPr lang="pt-BR" dirty="0" err="1"/>
              <a:t>indiferença</a:t>
            </a:r>
            <a:r>
              <a:rPr lang="pt-BR" dirty="0"/>
              <a:t> de tipos de </a:t>
            </a:r>
            <a:r>
              <a:rPr lang="pt-BR" dirty="0" err="1"/>
              <a:t>variáveis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Possibilita a </a:t>
            </a:r>
            <a:r>
              <a:rPr lang="pt-BR" dirty="0" err="1"/>
              <a:t>implementação</a:t>
            </a:r>
            <a:r>
              <a:rPr lang="pt-BR" dirty="0"/>
              <a:t> orientada a objeto</a:t>
            </a:r>
          </a:p>
          <a:p>
            <a:pPr lvl="1"/>
            <a:r>
              <a:rPr lang="pt-BR" dirty="0"/>
              <a:t>Pode </a:t>
            </a:r>
            <a:r>
              <a:rPr lang="pt-BR" dirty="0" err="1"/>
              <a:t>também</a:t>
            </a:r>
            <a:r>
              <a:rPr lang="pt-BR" dirty="0"/>
              <a:t> ser utilizada como scripts do tipo BAT</a:t>
            </a:r>
          </a:p>
          <a:p>
            <a:r>
              <a:rPr lang="pt-BR" dirty="0"/>
              <a:t>O PHP é implementado junto ao HTML usando o sinal de abertura &lt;?</a:t>
            </a:r>
            <a:r>
              <a:rPr lang="pt-BR" dirty="0" err="1"/>
              <a:t>php</a:t>
            </a:r>
            <a:r>
              <a:rPr lang="pt-BR" dirty="0"/>
              <a:t> e de fechamento ?&gt; ou &lt;? ?&gt; ()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EA5AD299-08A8-4EEC-AD72-3D2C14BE13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7092280" y="300601"/>
            <a:ext cx="1440160" cy="1368152"/>
          </a:xfrm>
          <a:prstGeom prst="rect">
            <a:avLst/>
          </a:prstGeom>
        </p:spPr>
      </p:pic>
      <p:pic>
        <p:nvPicPr>
          <p:cNvPr id="6" name="Imagem 5">
            <a:hlinkClick r:id="rId4"/>
            <a:extLst>
              <a:ext uri="{FF2B5EF4-FFF2-40B4-BE49-F238E27FC236}">
                <a16:creationId xmlns:a16="http://schemas.microsoft.com/office/drawing/2014/main" id="{F56439A4-8994-48C0-B772-52FD4ECAEF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728" y="222103"/>
            <a:ext cx="2186192" cy="118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7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PHP em sua forma mais inicial, pode ser utilizado mesclando-se com o HTML, como por exemplo:</a:t>
            </a:r>
          </a:p>
          <a:p>
            <a:pPr lvl="1"/>
            <a:r>
              <a:rPr lang="pt-BR" dirty="0"/>
              <a:t>&lt;h1&gt;</a:t>
            </a:r>
          </a:p>
          <a:p>
            <a:pPr marL="630936" lvl="2" indent="0">
              <a:buNone/>
            </a:pPr>
            <a:r>
              <a:rPr lang="pt-BR" dirty="0"/>
              <a:t>	&lt;?</a:t>
            </a:r>
            <a:r>
              <a:rPr lang="pt-BR" dirty="0" err="1"/>
              <a:t>php</a:t>
            </a:r>
            <a:r>
              <a:rPr lang="pt-BR" dirty="0"/>
              <a:t> </a:t>
            </a:r>
            <a:r>
              <a:rPr lang="pt-BR" dirty="0" err="1"/>
              <a:t>echo</a:t>
            </a:r>
            <a:r>
              <a:rPr lang="pt-BR" dirty="0"/>
              <a:t> "Meu nome é XXX"; ?&gt;</a:t>
            </a:r>
          </a:p>
          <a:p>
            <a:pPr marL="630936" lvl="2" indent="0">
              <a:buNone/>
            </a:pPr>
            <a:r>
              <a:rPr lang="pt-BR" dirty="0"/>
              <a:t>&lt;/h1&gt;</a:t>
            </a:r>
          </a:p>
          <a:p>
            <a:pPr marL="630936" lvl="2" indent="0">
              <a:buNone/>
            </a:pPr>
            <a:endParaRPr lang="pt-BR" dirty="0"/>
          </a:p>
          <a:p>
            <a:r>
              <a:rPr lang="pt-BR" dirty="0"/>
              <a:t>Assim que esse código for processado pelo interpretador, topo o código entre &lt;?</a:t>
            </a:r>
            <a:r>
              <a:rPr lang="pt-BR" dirty="0" err="1"/>
              <a:t>php</a:t>
            </a:r>
            <a:r>
              <a:rPr lang="pt-BR" dirty="0"/>
              <a:t> ?&gt; é interpretado, substituindo-o pelo resultado da interpretação.</a:t>
            </a:r>
          </a:p>
          <a:p>
            <a:r>
              <a:rPr lang="pt-BR" dirty="0"/>
              <a:t>&lt;h1&gt;Meu nome é XXX&lt;/h1&gt;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</a:t>
            </a:r>
          </a:p>
        </p:txBody>
      </p:sp>
    </p:spTree>
    <p:extLst>
      <p:ext uri="{BB962C8B-B14F-4D97-AF65-F5344CB8AC3E}">
        <p14:creationId xmlns:p14="http://schemas.microsoft.com/office/powerpoint/2010/main" val="4241875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linguagens fortemente </a:t>
            </a:r>
            <a:r>
              <a:rPr lang="pt-BR" dirty="0" err="1"/>
              <a:t>tipadas</a:t>
            </a:r>
            <a:r>
              <a:rPr lang="pt-BR" dirty="0"/>
              <a:t>, define-se previamente o tipo das variáveis e os valores devem estar de acordo com a tipagem.</a:t>
            </a:r>
          </a:p>
          <a:p>
            <a:endParaRPr lang="pt-BR" dirty="0"/>
          </a:p>
          <a:p>
            <a:r>
              <a:rPr lang="pt-BR" dirty="0"/>
              <a:t>Não é o caso do PHP!</a:t>
            </a:r>
          </a:p>
          <a:p>
            <a:r>
              <a:rPr lang="pt-BR" dirty="0"/>
              <a:t>Tipos de dados primitivos suportados: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PHP Introdução – Tipos de Dados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3BA468-825D-47C1-ABDE-71BB83D08FA1}"/>
              </a:ext>
            </a:extLst>
          </p:cNvPr>
          <p:cNvSpPr/>
          <p:nvPr/>
        </p:nvSpPr>
        <p:spPr>
          <a:xfrm>
            <a:off x="2411760" y="4520997"/>
            <a:ext cx="4572000" cy="1569660"/>
          </a:xfrm>
          <a:prstGeom prst="rect">
            <a:avLst/>
          </a:prstGeom>
        </p:spPr>
        <p:txBody>
          <a:bodyPr numCol="2">
            <a:spAutoFit/>
          </a:bodyPr>
          <a:lstStyle/>
          <a:p>
            <a:pPr marL="457200" lvl="0" indent="-342900">
              <a:buSzPts val="1800"/>
              <a:buChar char="●"/>
            </a:pPr>
            <a:r>
              <a:rPr lang="en-US" sz="2400" dirty="0"/>
              <a:t>Boolean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Integer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Float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String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Array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Object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Resource</a:t>
            </a:r>
          </a:p>
          <a:p>
            <a:pPr marL="457200" lvl="0" indent="-342900">
              <a:buSzPts val="1800"/>
              <a:buChar char="●"/>
            </a:pPr>
            <a:r>
              <a:rPr lang="en-US" sz="2400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87727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variáveis em PHP são declaradas e utilizadas fazendo o uso do prefixo $ seguido do nome da variável</a:t>
            </a:r>
          </a:p>
          <a:p>
            <a:r>
              <a:rPr lang="pt-BR" dirty="0"/>
              <a:t>O operador de atribuição é o = (igual)</a:t>
            </a:r>
          </a:p>
          <a:p>
            <a:pPr lvl="1"/>
            <a:r>
              <a:rPr lang="pt-BR" dirty="0"/>
              <a:t> nome</a:t>
            </a:r>
          </a:p>
          <a:p>
            <a:pPr lvl="1"/>
            <a:r>
              <a:rPr lang="pt-BR" dirty="0"/>
              <a:t>$idade</a:t>
            </a:r>
          </a:p>
          <a:p>
            <a:pPr lvl="1"/>
            <a:r>
              <a:rPr lang="pt-BR" dirty="0"/>
              <a:t>$arquivo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 - Variáveis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37F09A4-C8AE-4158-8525-D83C70082DAC}"/>
              </a:ext>
            </a:extLst>
          </p:cNvPr>
          <p:cNvSpPr/>
          <p:nvPr/>
        </p:nvSpPr>
        <p:spPr>
          <a:xfrm>
            <a:off x="4211960" y="3356992"/>
            <a:ext cx="525658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&lt;?php</a:t>
            </a:r>
          </a:p>
          <a:p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$teste = "Fulano";</a:t>
            </a:r>
          </a:p>
          <a:p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$teste = 1;</a:t>
            </a:r>
          </a:p>
          <a:p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$teste = TRUE</a:t>
            </a:r>
            <a:r>
              <a:rPr lang="it-IT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;</a:t>
            </a:r>
          </a:p>
          <a:p>
            <a:endParaRPr lang="it-I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r>
              <a:rPr lang="it-IT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    echo </a:t>
            </a:r>
            <a:r>
              <a:rPr lang="it-IT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gettype</a:t>
            </a:r>
            <a:r>
              <a:rPr lang="it-IT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($teste)</a:t>
            </a:r>
            <a:endParaRPr lang="it-I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?&gt;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BE32FF5-83A1-46CC-9495-9A7A4EC7C71A}"/>
              </a:ext>
            </a:extLst>
          </p:cNvPr>
          <p:cNvSpPr/>
          <p:nvPr/>
        </p:nvSpPr>
        <p:spPr>
          <a:xfrm>
            <a:off x="432453" y="5048227"/>
            <a:ext cx="32403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2000" i="1" dirty="0"/>
              <a:t>OBS: Variáveis podem possuir diferentes tipos de dados </a:t>
            </a:r>
          </a:p>
        </p:txBody>
      </p:sp>
    </p:spTree>
    <p:extLst>
      <p:ext uri="{BB962C8B-B14F-4D97-AF65-F5344CB8AC3E}">
        <p14:creationId xmlns:p14="http://schemas.microsoft.com/office/powerpoint/2010/main" val="392447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Identificadores criados para possuir somente um valor sem que este seja alterado com a execução do script;</a:t>
            </a:r>
          </a:p>
          <a:p>
            <a:r>
              <a:rPr lang="pt-BR" dirty="0"/>
              <a:t>Não podem possuir $ em seu nome;</a:t>
            </a:r>
          </a:p>
          <a:p>
            <a:endParaRPr lang="pt-BR" dirty="0"/>
          </a:p>
          <a:p>
            <a:r>
              <a:rPr lang="pt-BR" dirty="0"/>
              <a:t>São declaradas usando a função </a:t>
            </a:r>
            <a:r>
              <a:rPr lang="pt-BR" b="1" u="sng" dirty="0"/>
              <a:t>define();</a:t>
            </a:r>
          </a:p>
          <a:p>
            <a:endParaRPr lang="pt-BR" dirty="0"/>
          </a:p>
          <a:p>
            <a:r>
              <a:rPr lang="pt-BR" dirty="0"/>
              <a:t>Não possuem escopo, podem ser criadas e acessadas dentro de um método ou função;</a:t>
            </a:r>
          </a:p>
          <a:p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>
                <a:solidFill>
                  <a:srgbClr val="FF0000"/>
                </a:solidFill>
              </a:rPr>
              <a:t>define("SENHA_DATABASE", "123")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 - Constantes</a:t>
            </a:r>
          </a:p>
        </p:txBody>
      </p:sp>
    </p:spTree>
    <p:extLst>
      <p:ext uri="{BB962C8B-B14F-4D97-AF65-F5344CB8AC3E}">
        <p14:creationId xmlns:p14="http://schemas.microsoft.com/office/powerpoint/2010/main" val="185827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uso de comentários nos códigos fonte é uma boa prática de programação;</a:t>
            </a:r>
          </a:p>
          <a:p>
            <a:r>
              <a:rPr lang="pt-BR" dirty="0"/>
              <a:t>Eles expressam informações importantes sobre o funcionamento diretamente no código;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 - Comentários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1FE576B-854C-4C04-8755-61D57E05D2E1}"/>
              </a:ext>
            </a:extLst>
          </p:cNvPr>
          <p:cNvSpPr/>
          <p:nvPr/>
        </p:nvSpPr>
        <p:spPr>
          <a:xfrm>
            <a:off x="827584" y="4915007"/>
            <a:ext cx="7859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Mais informações sobre o PHP DOC: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  <a:hlinkClick r:id="rId2"/>
              </a:rPr>
              <a:t>https://docs.phpdoc.org/3.0/guide/references/phpdoc/index.html#phpdoc-reference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*/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AEB8F12-5A48-474E-8E98-18974B4FDE95}"/>
              </a:ext>
            </a:extLst>
          </p:cNvPr>
          <p:cNvSpPr/>
          <p:nvPr/>
        </p:nvSpPr>
        <p:spPr>
          <a:xfrm>
            <a:off x="3059832" y="352481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comentário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comentário 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# comentário (este não é muito utilizado)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40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que seja produzida uma saída para o usuário (quem iniciou a execução do script) utiliza-se o comando ECHO;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Introdução - Saída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F2DCF8-777F-4666-9BDD-0E00F5FE357D}"/>
              </a:ext>
            </a:extLst>
          </p:cNvPr>
          <p:cNvSpPr/>
          <p:nvPr/>
        </p:nvSpPr>
        <p:spPr>
          <a:xfrm>
            <a:off x="1979712" y="3068960"/>
            <a:ext cx="55263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569CD6"/>
                </a:solidFill>
                <a:latin typeface="Consolas" panose="020B0609020204030204" pitchFamily="49" charset="0"/>
              </a:rPr>
              <a:t>&lt;?</a:t>
            </a:r>
            <a:r>
              <a:rPr lang="pt-BR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php</a:t>
            </a:r>
            <a:endParaRPr lang="pt-BR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$</a:t>
            </a:r>
            <a:r>
              <a:rPr lang="pt-BR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txt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"Cleber"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echo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"Meu nome é $</a:t>
            </a:r>
            <a:r>
              <a:rPr lang="pt-BR" sz="2800" dirty="0" err="1">
                <a:solidFill>
                  <a:srgbClr val="CE9178"/>
                </a:solidFill>
                <a:latin typeface="Consolas" panose="020B0609020204030204" pitchFamily="49" charset="0"/>
              </a:rPr>
              <a:t>txt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!"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800" dirty="0">
                <a:solidFill>
                  <a:srgbClr val="569CD6"/>
                </a:solidFill>
                <a:latin typeface="Consolas" panose="020B0609020204030204" pitchFamily="49" charset="0"/>
              </a:rPr>
              <a:t>?&gt;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39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63690"/>
          </a:xfrm>
        </p:spPr>
        <p:txBody>
          <a:bodyPr>
            <a:normAutofit/>
          </a:bodyPr>
          <a:lstStyle/>
          <a:p>
            <a:r>
              <a:rPr lang="pt-BR" dirty="0"/>
              <a:t>Crie um script PHP que deverá conter o seguinte:</a:t>
            </a:r>
          </a:p>
          <a:p>
            <a:pPr lvl="1"/>
            <a:r>
              <a:rPr lang="pt-BR" dirty="0"/>
              <a:t>Declaração de duas constantes, uma com o seu nome e outra com o seu sobrenome;</a:t>
            </a:r>
          </a:p>
          <a:p>
            <a:pPr lvl="1"/>
            <a:r>
              <a:rPr lang="pt-BR" dirty="0"/>
              <a:t>Declaração de uma variável chamada NOME que deverá receber o conteúdo da constante que possui seu nome concatenando com a constante do sobrenome.</a:t>
            </a:r>
          </a:p>
          <a:p>
            <a:pPr lvl="1"/>
            <a:r>
              <a:rPr lang="pt-BR" dirty="0"/>
              <a:t>Produzir saída com o conteúdo.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DICA: Para concatenar duas variáveis pode-se utilizar o “.”, </a:t>
            </a:r>
            <a:r>
              <a:rPr lang="pt-BR" dirty="0" err="1"/>
              <a:t>ex</a:t>
            </a:r>
            <a:r>
              <a:rPr lang="pt-BR" dirty="0"/>
              <a:t>: $var1 . “ “ . $var2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1 – Produzir saída </a:t>
            </a:r>
          </a:p>
        </p:txBody>
      </p:sp>
    </p:spTree>
    <p:extLst>
      <p:ext uri="{BB962C8B-B14F-4D97-AF65-F5344CB8AC3E}">
        <p14:creationId xmlns:p14="http://schemas.microsoft.com/office/powerpoint/2010/main" val="6924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operadores de comparação do PHP são usados ​​para comparar dois valores: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Operadores de Atribuição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CE25BDB7-7766-4CCC-8068-268B6DF8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65830"/>
              </p:ext>
            </p:extLst>
          </p:nvPr>
        </p:nvGraphicFramePr>
        <p:xfrm>
          <a:off x="611559" y="2420888"/>
          <a:ext cx="7488833" cy="372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831">
                  <a:extLst>
                    <a:ext uri="{9D8B030D-6E8A-4147-A177-3AD203B41FA5}">
                      <a16:colId xmlns:a16="http://schemas.microsoft.com/office/drawing/2014/main" val="411764002"/>
                    </a:ext>
                  </a:extLst>
                </a:gridCol>
                <a:gridCol w="1440342">
                  <a:extLst>
                    <a:ext uri="{9D8B030D-6E8A-4147-A177-3AD203B41FA5}">
                      <a16:colId xmlns:a16="http://schemas.microsoft.com/office/drawing/2014/main" val="3153267713"/>
                    </a:ext>
                  </a:extLst>
                </a:gridCol>
                <a:gridCol w="4544660">
                  <a:extLst>
                    <a:ext uri="{9D8B030D-6E8A-4147-A177-3AD203B41FA5}">
                      <a16:colId xmlns:a16="http://schemas.microsoft.com/office/drawing/2014/main" val="1614851599"/>
                    </a:ext>
                  </a:extLst>
                </a:gridCol>
              </a:tblGrid>
              <a:tr h="654785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Mesmo que: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31588"/>
                  </a:ext>
                </a:extLst>
              </a:tr>
              <a:tr h="654785">
                <a:tc>
                  <a:txBody>
                    <a:bodyPr/>
                    <a:lstStyle/>
                    <a:p>
                      <a:r>
                        <a:rPr lang="pt-BR" dirty="0"/>
                        <a:t>x 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ATRIBUI valor da variável a DIREITA na ESQUERDA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001648"/>
                  </a:ext>
                </a:extLst>
              </a:tr>
              <a:tr h="379360">
                <a:tc>
                  <a:txBody>
                    <a:bodyPr/>
                    <a:lstStyle/>
                    <a:p>
                      <a:r>
                        <a:rPr lang="pt-BR" dirty="0"/>
                        <a:t>x +=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 = x +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0" dirty="0"/>
                        <a:t>ADICIONA valor da variável Y na variável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9016"/>
                  </a:ext>
                </a:extLst>
              </a:tr>
              <a:tr h="379360">
                <a:tc>
                  <a:txBody>
                    <a:bodyPr/>
                    <a:lstStyle/>
                    <a:p>
                      <a:r>
                        <a:rPr lang="pt-BR" dirty="0"/>
                        <a:t>x -=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 = x –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0" dirty="0"/>
                        <a:t>REMOVE o valor da variável Y da variável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00567"/>
                  </a:ext>
                </a:extLst>
              </a:tr>
              <a:tr h="379360">
                <a:tc>
                  <a:txBody>
                    <a:bodyPr/>
                    <a:lstStyle/>
                    <a:p>
                      <a:r>
                        <a:rPr lang="pt-BR" dirty="0"/>
                        <a:t>x *=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 = x *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Multiplica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59421"/>
                  </a:ext>
                </a:extLst>
              </a:tr>
              <a:tr h="379360">
                <a:tc>
                  <a:txBody>
                    <a:bodyPr/>
                    <a:lstStyle/>
                    <a:p>
                      <a:r>
                        <a:rPr lang="pt-BR" dirty="0"/>
                        <a:t>x /=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 = x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Divide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3297"/>
                  </a:ext>
                </a:extLst>
              </a:tr>
              <a:tr h="379360">
                <a:tc>
                  <a:txBody>
                    <a:bodyPr/>
                    <a:lstStyle/>
                    <a:p>
                      <a:r>
                        <a:rPr lang="pt-BR" dirty="0"/>
                        <a:t>x %=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 = x %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Módulo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064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72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Usados ​​com valores numéricos para realizar operações aritméticas comuns, como adição, subtração, multiplicação, </a:t>
            </a:r>
            <a:r>
              <a:rPr lang="pt-BR" dirty="0" err="1"/>
              <a:t>etc</a:t>
            </a:r>
            <a:r>
              <a:rPr lang="pt-BR" dirty="0"/>
              <a:t>;</a:t>
            </a:r>
          </a:p>
          <a:p>
            <a:pPr marL="109728" indent="0">
              <a:buNone/>
            </a:pP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Operadores Aritméticos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graphicFrame>
        <p:nvGraphicFramePr>
          <p:cNvPr id="4" name="Tabela 6">
            <a:extLst>
              <a:ext uri="{FF2B5EF4-FFF2-40B4-BE49-F238E27FC236}">
                <a16:creationId xmlns:a16="http://schemas.microsoft.com/office/drawing/2014/main" id="{C6FE918E-C351-44F1-80FB-024A8D05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847476"/>
              </p:ext>
            </p:extLst>
          </p:nvPr>
        </p:nvGraphicFramePr>
        <p:xfrm>
          <a:off x="1524000" y="306896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800">
                  <a:extLst>
                    <a:ext uri="{9D8B030D-6E8A-4147-A177-3AD203B41FA5}">
                      <a16:colId xmlns:a16="http://schemas.microsoft.com/office/drawing/2014/main" val="2056087772"/>
                    </a:ext>
                  </a:extLst>
                </a:gridCol>
                <a:gridCol w="4848200">
                  <a:extLst>
                    <a:ext uri="{9D8B030D-6E8A-4147-A177-3AD203B41FA5}">
                      <a16:colId xmlns:a16="http://schemas.microsoft.com/office/drawing/2014/main" val="3527361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434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42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Subtração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5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Divisão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46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Multiplicação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11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Módulo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1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Exponenciação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82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70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Operadores especiais, utilizados ​​para incrementar ou diminuir o valor de uma variável: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Operadores </a:t>
            </a:r>
            <a:r>
              <a:rPr lang="pt-BR" dirty="0" err="1"/>
              <a:t>Inc</a:t>
            </a:r>
            <a:r>
              <a:rPr lang="pt-BR" dirty="0"/>
              <a:t>/</a:t>
            </a:r>
            <a:r>
              <a:rPr lang="pt-BR" dirty="0" err="1"/>
              <a:t>Dec</a:t>
            </a:r>
            <a:endParaRPr lang="pt-BR" dirty="0"/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CE25BDB7-7766-4CCC-8068-268B6DF8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627961"/>
              </p:ext>
            </p:extLst>
          </p:nvPr>
        </p:nvGraphicFramePr>
        <p:xfrm>
          <a:off x="791580" y="2924944"/>
          <a:ext cx="756084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11764002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1614851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3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++$var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Pré</a:t>
                      </a:r>
                      <a:r>
                        <a:rPr lang="pt-BR" dirty="0"/>
                        <a:t>-Incremento: Incrementa 1 em $var e retorna o valor novo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00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$var++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0" dirty="0"/>
                        <a:t>Pós-Incremento: Retorna o valor de $var e adiciona 1 em $var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--$var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Pré</a:t>
                      </a:r>
                      <a:r>
                        <a:rPr lang="pt-BR" dirty="0"/>
                        <a:t>-Decremento: </a:t>
                      </a:r>
                      <a:r>
                        <a:rPr lang="pt-BR" dirty="0" err="1"/>
                        <a:t>Dec</a:t>
                      </a:r>
                      <a:r>
                        <a:rPr lang="pt-BR" dirty="0"/>
                        <a:t> 1 em $var e retorna o valor novo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$var--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Pós-Decremento: Retorna o valor de $var e </a:t>
                      </a:r>
                      <a:r>
                        <a:rPr lang="pt-BR" dirty="0" err="1"/>
                        <a:t>Dec</a:t>
                      </a:r>
                      <a:r>
                        <a:rPr lang="pt-BR" dirty="0"/>
                        <a:t> 1.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4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Criar um programa em PHP para:</a:t>
            </a:r>
          </a:p>
          <a:p>
            <a:pPr lvl="1"/>
            <a:r>
              <a:rPr lang="pt-BR" dirty="0"/>
              <a:t>Declarar duas variáveis com os nomes: SALARIO1 e SALARIO2;</a:t>
            </a:r>
          </a:p>
          <a:p>
            <a:pPr lvl="1"/>
            <a:r>
              <a:rPr lang="pt-BR" dirty="0"/>
              <a:t>Atribuir 1000 para a variável SALARIO1;</a:t>
            </a:r>
          </a:p>
          <a:p>
            <a:pPr lvl="1"/>
            <a:r>
              <a:rPr lang="pt-BR" dirty="0"/>
              <a:t>Atribuir 2000 para a variável SALARIO2;</a:t>
            </a:r>
          </a:p>
          <a:p>
            <a:pPr lvl="1"/>
            <a:r>
              <a:rPr lang="pt-BR" dirty="0"/>
              <a:t>Atribuir o valor da variável SALARIO1 para SALARIO2</a:t>
            </a:r>
          </a:p>
          <a:p>
            <a:pPr lvl="1"/>
            <a:r>
              <a:rPr lang="pt-BR" dirty="0"/>
              <a:t>Incrementar 1 na variável SALARIO2;</a:t>
            </a:r>
          </a:p>
          <a:p>
            <a:pPr lvl="1"/>
            <a:r>
              <a:rPr lang="pt-BR" dirty="0"/>
              <a:t>Adicionar 10% de aumento para SALARIO1;</a:t>
            </a:r>
          </a:p>
          <a:p>
            <a:pPr lvl="1"/>
            <a:r>
              <a:rPr lang="pt-BR" dirty="0"/>
              <a:t>Produzir uma saída com o texto: “Valor Salário 1: XX e Valor Salário: XX”;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Prática 2 - Operadores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60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operadores de comparação do PHP são usados ​​para comparar dois valores: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PHP – Operadores de Comparação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CE25BDB7-7766-4CCC-8068-268B6DF8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058197"/>
              </p:ext>
            </p:extLst>
          </p:nvPr>
        </p:nvGraphicFramePr>
        <p:xfrm>
          <a:off x="1475656" y="2492896"/>
          <a:ext cx="6096000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800">
                  <a:extLst>
                    <a:ext uri="{9D8B030D-6E8A-4147-A177-3AD203B41FA5}">
                      <a16:colId xmlns:a16="http://schemas.microsoft.com/office/drawing/2014/main" val="411764002"/>
                    </a:ext>
                  </a:extLst>
                </a:gridCol>
                <a:gridCol w="4848200">
                  <a:extLst>
                    <a:ext uri="{9D8B030D-6E8A-4147-A177-3AD203B41FA5}">
                      <a16:colId xmlns:a16="http://schemas.microsoft.com/office/drawing/2014/main" val="1614851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3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para teste de igualdade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00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===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para teste de igualdade considerando inclusive o tipo. “1” === 1 1 ===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!= e 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para o este de diferente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!==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teste de diferente incluindo o tipo da variável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59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Para teste de MAIOR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Para teste de menor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064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Para teste de maior ou 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1" dirty="0"/>
                        <a:t>Para teste de menor ou 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84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518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São usados ​​para combinar instruções condicionais: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Operadores Lógicos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CE25BDB7-7766-4CCC-8068-268B6DF89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23681"/>
              </p:ext>
            </p:extLst>
          </p:nvPr>
        </p:nvGraphicFramePr>
        <p:xfrm>
          <a:off x="791580" y="2924944"/>
          <a:ext cx="756084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11764002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1614851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3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And</a:t>
                      </a:r>
                      <a:r>
                        <a:rPr lang="pt-BR" dirty="0"/>
                        <a:t> / 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Verdadeiro se ambos $var1 e $var2 forem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00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Or</a:t>
                      </a:r>
                      <a:r>
                        <a:rPr lang="pt-BR" dirty="0"/>
                        <a:t> /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0" dirty="0"/>
                        <a:t>Verdadeiro se ao menos um $var1 ou $var2 forem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Xor</a:t>
                      </a:r>
                      <a:r>
                        <a:rPr lang="pt-B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Verdadeiro se ao menos um $var1 ou $var2 forem TRUE, porém falso quando AMBOS forem.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i="0" dirty="0"/>
                        <a:t>Verdadeiro se $var1 não for TRUE (negação)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643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Usadas para executar ações diferentes com base em condições diferentes: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Declarações Condicionais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graphicFrame>
        <p:nvGraphicFramePr>
          <p:cNvPr id="8" name="Tabela 5">
            <a:extLst>
              <a:ext uri="{FF2B5EF4-FFF2-40B4-BE49-F238E27FC236}">
                <a16:creationId xmlns:a16="http://schemas.microsoft.com/office/drawing/2014/main" id="{087B8B11-DF4A-4CB6-9BAA-7EB3218AC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671558"/>
              </p:ext>
            </p:extLst>
          </p:nvPr>
        </p:nvGraphicFramePr>
        <p:xfrm>
          <a:off x="791580" y="2924944"/>
          <a:ext cx="756084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11764002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1614851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Instrução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3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Executa algum código se </a:t>
                      </a:r>
                      <a:r>
                        <a:rPr kumimoji="0" lang="pt-BR" b="0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condição for verdadeira</a:t>
                      </a:r>
                      <a:endParaRPr lang="pt-BR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00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IF...ELSE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Executa algum código se </a:t>
                      </a:r>
                      <a:r>
                        <a:rPr kumimoji="0" lang="pt-BR" b="0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condição verdadeira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outro código se essa </a:t>
                      </a:r>
                      <a:r>
                        <a:rPr kumimoji="0" lang="pt-BR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condição for falsa</a:t>
                      </a:r>
                      <a:endParaRPr lang="pt-BR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IF...ELSEIF...ELSE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Caso nenhuma das condições em IF e ELSIF sejam atendidas então executa o código em ELSE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Seleciona um dos muitos blocos de código a serem executados.</a:t>
                      </a:r>
                      <a:endParaRPr lang="pt-BR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5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132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IF: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Exemplo IF...ELSE: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Declarações Condicionais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5A4BEE-9E3F-43A1-AD05-F1745ED67C7C}"/>
              </a:ext>
            </a:extLst>
          </p:cNvPr>
          <p:cNvSpPr/>
          <p:nvPr/>
        </p:nvSpPr>
        <p:spPr>
          <a:xfrm>
            <a:off x="1619672" y="4404618"/>
            <a:ext cx="70671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if (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condição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Código a ser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executado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caso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seja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verdadeiro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else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Código a ser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executado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caso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seja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falso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7425A0-F893-43E7-B44E-8EE69564AA2E}"/>
              </a:ext>
            </a:extLst>
          </p:cNvPr>
          <p:cNvSpPr/>
          <p:nvPr/>
        </p:nvSpPr>
        <p:spPr>
          <a:xfrm>
            <a:off x="3419872" y="1482337"/>
            <a:ext cx="51480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&lt;?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php</a:t>
            </a:r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$t = date("H");</a:t>
            </a:r>
          </a:p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</a:t>
            </a:r>
            <a:r>
              <a:rPr lang="pt-BR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if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($t &lt; "20")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    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echo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 "Hora é menor do que 20";</a:t>
            </a:r>
          </a:p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    }</a:t>
            </a:r>
          </a:p>
          <a:p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80278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Exemplo SWITCH: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Declarações Condicionais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C1DA8C8-31B0-403C-A4C4-A8B1ECCBC8DD}"/>
              </a:ext>
            </a:extLst>
          </p:cNvPr>
          <p:cNvSpPr/>
          <p:nvPr/>
        </p:nvSpPr>
        <p:spPr>
          <a:xfrm>
            <a:off x="547464" y="1628800"/>
            <a:ext cx="848903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switch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	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”O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é 1 -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Ótimo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”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	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”O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é 2 –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Muito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Bom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	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”O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é 3 – Bom”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	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”O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“ . $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tipo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. “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não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é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bom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”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174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Utilizando o mesmo programa criado na Prática 2, fazer:</a:t>
            </a:r>
          </a:p>
          <a:p>
            <a:pPr lvl="1"/>
            <a:r>
              <a:rPr lang="pt-BR" dirty="0"/>
              <a:t>Se o valor da variável SALARIO1 for MAIOR que o valor da variável SALARIO2, então escrever: </a:t>
            </a:r>
          </a:p>
          <a:p>
            <a:pPr lvl="2"/>
            <a:r>
              <a:rPr lang="pt-BR" dirty="0"/>
              <a:t>“O Valor da variável 1 é maior que o valor da variável 2”</a:t>
            </a:r>
          </a:p>
          <a:p>
            <a:pPr lvl="1"/>
            <a:r>
              <a:rPr lang="pt-BR" dirty="0"/>
              <a:t>Caso contrário e o valor da variável SALARIO1 for MENOR que o valor da variável SALARIO2, então escrever, conforme.</a:t>
            </a:r>
          </a:p>
          <a:p>
            <a:pPr lvl="1"/>
            <a:r>
              <a:rPr lang="pt-BR" dirty="0"/>
              <a:t>Caso contrário, escrever: “Os valores são iguais”.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Prática 3 – Lógica Condicional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41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Executa um bloco de código enquanto a condição especificada for verdadeira.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Repetição - WHILE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4AE7328-2F36-4D6E-AED9-955533B0B28B}"/>
              </a:ext>
            </a:extLst>
          </p:cNvPr>
          <p:cNvSpPr/>
          <p:nvPr/>
        </p:nvSpPr>
        <p:spPr>
          <a:xfrm>
            <a:off x="1907704" y="2780928"/>
            <a:ext cx="57606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$x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   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($x &lt;=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número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é: $x 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 $x++;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0038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Sempre executará o bloco de código uma vez (ao menos) e verificará a condição, repetindo o loop enquanto a condição especificada for verdadeira,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Repetição – DO...WHILE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5DCC5BF-9D22-482E-A669-4D90F66CACE1}"/>
              </a:ext>
            </a:extLst>
          </p:cNvPr>
          <p:cNvSpPr/>
          <p:nvPr/>
        </p:nvSpPr>
        <p:spPr>
          <a:xfrm>
            <a:off x="1835696" y="3429000"/>
            <a:ext cx="58326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$x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"The number is: $x 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   $x++;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($x &lt;=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0010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Usado quando se sabe antecipadamente quantas vezes o script deve ser iterado.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variável $x é inicializada somente na primeira iteração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Repetição - FOR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5B99412-8B47-4151-B9EF-CAA00D0C9F3D}"/>
              </a:ext>
            </a:extLst>
          </p:cNvPr>
          <p:cNvSpPr/>
          <p:nvPr/>
        </p:nvSpPr>
        <p:spPr>
          <a:xfrm>
            <a:off x="2051720" y="2420888"/>
            <a:ext cx="52565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($x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$x &lt;=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$x++)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"The number is: $x 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1131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Percorre um bloco de código para cada elemento de uma matriz passada.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variável $valor receberá em cada iteração um elemento do vetor/matriz.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Repetição – FOREACH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2DF5EF-53DB-451F-AA3D-00D6BE20E8AA}"/>
              </a:ext>
            </a:extLst>
          </p:cNvPr>
          <p:cNvSpPr/>
          <p:nvPr/>
        </p:nvSpPr>
        <p:spPr>
          <a:xfrm>
            <a:off x="1907704" y="2341608"/>
            <a:ext cx="67790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$status =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Ótimo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Muito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Bom"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“Bom"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foreach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($status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$valor)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   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"$valor 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3631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Em blocos de repetição é importante que possamos parar toda execução, encerrando o loop ou então avançar ao próximo item interrompendo a iteração atual.</a:t>
            </a:r>
          </a:p>
          <a:p>
            <a:r>
              <a:rPr lang="pt-BR" dirty="0"/>
              <a:t>Para isso utilizamos o BREAK e CONTINUE.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PHP – Repetição BREAK/CONTINUE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00FDFD-AE1C-49F7-9246-C1EA6C1D9EE7}"/>
              </a:ext>
            </a:extLst>
          </p:cNvPr>
          <p:cNvSpPr/>
          <p:nvPr/>
        </p:nvSpPr>
        <p:spPr>
          <a:xfrm>
            <a:off x="2051720" y="3789040"/>
            <a:ext cx="56703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($x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$x &lt;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$x++)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($x ==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   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"The number is: $x 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044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Utilizando o mesmo programa adaptado na Prática 3, fazer:</a:t>
            </a:r>
          </a:p>
          <a:p>
            <a:pPr lvl="1"/>
            <a:r>
              <a:rPr lang="pt-BR" dirty="0"/>
              <a:t>Criar um laço de repetição para ser executado 100 vezes.</a:t>
            </a:r>
          </a:p>
          <a:p>
            <a:pPr lvl="1"/>
            <a:r>
              <a:rPr lang="pt-BR" dirty="0"/>
              <a:t>A cada iteração deve-se incrementar 1 na variável SALARIO1.</a:t>
            </a:r>
          </a:p>
          <a:p>
            <a:pPr lvl="1"/>
            <a:r>
              <a:rPr lang="pt-BR" dirty="0"/>
              <a:t>Dentro do laço adicionar uma condição (IF) e quando a iteração for a 50, deve-se PARAR a execução.</a:t>
            </a:r>
          </a:p>
          <a:p>
            <a:pPr lvl="1"/>
            <a:r>
              <a:rPr lang="pt-BR" dirty="0"/>
              <a:t>Ao final, fora do loop, escrever o valor de SALARIO1, caso ele seja menor do que SALARIO2;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Prática 4 – Repetição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62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Um ARRAY armazena vários valores em uma única variável.</a:t>
            </a:r>
          </a:p>
          <a:p>
            <a:r>
              <a:rPr lang="pt-BR" dirty="0"/>
              <a:t>Um ARRAY unidimensional é chamado de VETOR.</a:t>
            </a:r>
          </a:p>
          <a:p>
            <a:r>
              <a:rPr lang="pt-BR" dirty="0"/>
              <a:t>A declaração pode ser feita da seguinte maneira: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</a:t>
            </a:r>
            <a:r>
              <a:rPr lang="pt-BR" dirty="0" err="1"/>
              <a:t>Array</a:t>
            </a:r>
            <a:r>
              <a:rPr lang="pt-BR" dirty="0"/>
              <a:t> Unidimensional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AEB0DCA-D470-41A5-B1E4-56E888DF1BDE}"/>
              </a:ext>
            </a:extLst>
          </p:cNvPr>
          <p:cNvSpPr/>
          <p:nvPr/>
        </p:nvSpPr>
        <p:spPr>
          <a:xfrm>
            <a:off x="1043608" y="4149080"/>
            <a:ext cx="79208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carros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"Volvo"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"BMW"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"Toyota"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“Eu gusto de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carros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.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carros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.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and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carros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.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2474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</a:t>
            </a:r>
            <a:r>
              <a:rPr lang="pt-BR" dirty="0" err="1"/>
              <a:t>array</a:t>
            </a:r>
            <a:r>
              <a:rPr lang="pt-BR" dirty="0"/>
              <a:t> pode ser utilizado para armazenar qualquer tipo de dado: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Função </a:t>
            </a:r>
            <a:r>
              <a:rPr lang="pt-BR" b="1" u="sng" dirty="0" err="1"/>
              <a:t>count</a:t>
            </a:r>
            <a:r>
              <a:rPr lang="pt-BR" b="1" u="sng" dirty="0"/>
              <a:t>($</a:t>
            </a:r>
            <a:r>
              <a:rPr lang="pt-BR" b="1" u="sng" dirty="0" err="1"/>
              <a:t>array</a:t>
            </a:r>
            <a:r>
              <a:rPr lang="pt-BR" b="1" u="sng" dirty="0"/>
              <a:t>)</a:t>
            </a:r>
            <a:r>
              <a:rPr lang="pt-BR" dirty="0"/>
              <a:t> faz a contagem de elementos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PHP – </a:t>
            </a:r>
            <a:r>
              <a:rPr lang="pt-BR" dirty="0" err="1"/>
              <a:t>Array</a:t>
            </a:r>
            <a:r>
              <a:rPr lang="pt-BR" dirty="0"/>
              <a:t> Unidimensional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AEB0DCA-D470-41A5-B1E4-56E888DF1BDE}"/>
              </a:ext>
            </a:extLst>
          </p:cNvPr>
          <p:cNvSpPr/>
          <p:nvPr/>
        </p:nvSpPr>
        <p:spPr>
          <a:xfrm>
            <a:off x="1115616" y="2204864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$valores[0] =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true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$valores[1] = 20;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$valores[2] = “UNIDAVI”;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$valores[3] = 3.2;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/>
              <a:t>    </a:t>
            </a:r>
            <a:r>
              <a:rPr lang="pt-BR" dirty="0" err="1"/>
              <a:t>echo</a:t>
            </a:r>
            <a:r>
              <a:rPr lang="pt-BR" dirty="0"/>
              <a:t> </a:t>
            </a:r>
            <a:r>
              <a:rPr lang="pt-BR" dirty="0" err="1"/>
              <a:t>count</a:t>
            </a:r>
            <a:r>
              <a:rPr lang="pt-BR" dirty="0"/>
              <a:t>($valores);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6805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Uma matriz de matrizes (uma matriz tridimensional é uma matriz de matrizes de matrizes);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PHP – </a:t>
            </a:r>
            <a:r>
              <a:rPr lang="pt-BR" dirty="0" err="1"/>
              <a:t>Array</a:t>
            </a:r>
            <a:r>
              <a:rPr lang="pt-BR" dirty="0"/>
              <a:t> Multidimensional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A3F9C7F-FA5A-4079-BD39-E857727E1B4F}"/>
              </a:ext>
            </a:extLst>
          </p:cNvPr>
          <p:cNvSpPr/>
          <p:nvPr/>
        </p:nvSpPr>
        <p:spPr>
          <a:xfrm>
            <a:off x="755576" y="2921368"/>
            <a:ext cx="878497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$cars = array(array("Volvo",22,18), array("BMW",15,13), array("Saab",5,2), array("Land Rover",17,15));</a:t>
            </a:r>
            <a:endParaRPr lang="pt-BR" dirty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".&lt;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".&lt;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".&lt;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.$cars[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".&lt;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6274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São matrizes que usam chaves nomeadas que podemos atribuir a elas.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É possível iterar uma matriz </a:t>
            </a:r>
            <a:r>
              <a:rPr lang="pt-BR" dirty="0" err="1"/>
              <a:t>associativaÇ</a:t>
            </a:r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PHP – Matriz Associativa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3DEAC5C-3C88-4F16-B34A-596B62F8E4DF}"/>
              </a:ext>
            </a:extLst>
          </p:cNvPr>
          <p:cNvSpPr/>
          <p:nvPr/>
        </p:nvSpPr>
        <p:spPr>
          <a:xfrm>
            <a:off x="837928" y="2204864"/>
            <a:ext cx="7848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idade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“João"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"35"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“Maria"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"37"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"José"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"43"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“João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tem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idade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João'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.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anos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513AB05-AF7D-40F2-910F-6FD77E7E1651}"/>
              </a:ext>
            </a:extLst>
          </p:cNvPr>
          <p:cNvSpPr/>
          <p:nvPr/>
        </p:nvSpPr>
        <p:spPr>
          <a:xfrm>
            <a:off x="837928" y="4077072"/>
            <a:ext cx="8229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&lt;?php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idade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“João"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"35"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“Maria"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"37"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"José"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"43"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foreach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idade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chave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=&gt; $valor)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Chave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chave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.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", Valor="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$valor;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    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757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Criar um programa PHP para:</a:t>
            </a:r>
          </a:p>
          <a:p>
            <a:pPr lvl="1"/>
            <a:r>
              <a:rPr lang="pt-BR" dirty="0"/>
              <a:t>Declarar um ARRAY que contenha os nomes das disciplinas que vocês estão matriculados de segunda a sexta-feira.</a:t>
            </a:r>
          </a:p>
          <a:p>
            <a:pPr lvl="1"/>
            <a:r>
              <a:rPr lang="pt-BR" dirty="0"/>
              <a:t>Criar outro ARRAY que contenha os nomes dos professores dessas disciplinas.</a:t>
            </a:r>
          </a:p>
          <a:p>
            <a:pPr lvl="1"/>
            <a:r>
              <a:rPr lang="pt-BR" dirty="0"/>
              <a:t>Fazer um LOOP for, que faça 5 iterações, e escreva o seguinte:</a:t>
            </a:r>
          </a:p>
          <a:p>
            <a:pPr lvl="2"/>
            <a:r>
              <a:rPr lang="pt-BR" dirty="0"/>
              <a:t>“Disciplina DDD, professor PPP.”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Prática 5 – Matriz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18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Criar um programa PHP para:</a:t>
            </a:r>
          </a:p>
          <a:p>
            <a:pPr lvl="1"/>
            <a:r>
              <a:rPr lang="pt-BR" dirty="0"/>
              <a:t>Declarar uma MATRIZ MULTIDIMENSIONAL que contenha os seguintes dados: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Percorrer todos os elementos e produzir uma tabela em HTML para exibir esses dados no navegador.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Prática 6 - Final</a:t>
            </a:r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54D9526B-393A-4CB4-A19F-D36B16BBE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6948264" y="5982139"/>
            <a:ext cx="861099" cy="818044"/>
          </a:xfrm>
          <a:prstGeom prst="rect">
            <a:avLst/>
          </a:prstGeom>
        </p:spPr>
      </p:pic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6F01818C-359D-4506-8F1F-854536735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709560"/>
              </p:ext>
            </p:extLst>
          </p:nvPr>
        </p:nvGraphicFramePr>
        <p:xfrm>
          <a:off x="1331640" y="285293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153690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16686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55346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Disciplina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Faltas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4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Matemática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Português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1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Geografia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455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Educação Física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766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750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9 – PHP - Parte 2 – Conceitos de Segurança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513</TotalTime>
  <Words>1558</Words>
  <Application>Microsoft Office PowerPoint</Application>
  <PresentationFormat>Apresentação na tela (4:3)</PresentationFormat>
  <Paragraphs>348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Arial</vt:lpstr>
      <vt:lpstr>Consolas</vt:lpstr>
      <vt:lpstr>Lucida Sans Unicode</vt:lpstr>
      <vt:lpstr>Verdana</vt:lpstr>
      <vt:lpstr>Wingdings 2</vt:lpstr>
      <vt:lpstr>Wingdings 3</vt:lpstr>
      <vt:lpstr>Concurso</vt:lpstr>
      <vt:lpstr>Programação Web 1 PHP - Introdução</vt:lpstr>
      <vt:lpstr>PHP Introdução</vt:lpstr>
      <vt:lpstr>PHP Introdução</vt:lpstr>
      <vt:lpstr>PHP Introdução – Tipos de Dados</vt:lpstr>
      <vt:lpstr>PHP Introdução - Variáveis</vt:lpstr>
      <vt:lpstr>PHP Introdução - Constantes</vt:lpstr>
      <vt:lpstr>PHP Introdução - Comentários</vt:lpstr>
      <vt:lpstr>PHP Introdução - Saída</vt:lpstr>
      <vt:lpstr>Prática 1 – Produzir saída </vt:lpstr>
      <vt:lpstr>PHP – Operadores de Atribuição</vt:lpstr>
      <vt:lpstr>PHP – Operadores Aritméticos</vt:lpstr>
      <vt:lpstr>PHP – Operadores Inc/Dec</vt:lpstr>
      <vt:lpstr>Prática 2 - Operadores</vt:lpstr>
      <vt:lpstr>PHP – Operadores de Comparação</vt:lpstr>
      <vt:lpstr>PHP – Operadores Lógicos</vt:lpstr>
      <vt:lpstr>PHP – Declarações Condicionais</vt:lpstr>
      <vt:lpstr>PHP – Declarações Condicionais</vt:lpstr>
      <vt:lpstr>PHP – Declarações Condicionais</vt:lpstr>
      <vt:lpstr>Prática 3 – Lógica Condicional</vt:lpstr>
      <vt:lpstr>PHP – Repetição - WHILE</vt:lpstr>
      <vt:lpstr>PHP – Repetição – DO...WHILE</vt:lpstr>
      <vt:lpstr>PHP – Repetição - FOR</vt:lpstr>
      <vt:lpstr>PHP – Repetição – FOREACH</vt:lpstr>
      <vt:lpstr>PHP – Repetição BREAK/CONTINUE</vt:lpstr>
      <vt:lpstr>Prática 4 – Repetição</vt:lpstr>
      <vt:lpstr>PHP – Array Unidimensional</vt:lpstr>
      <vt:lpstr>PHP – Array Unidimensional</vt:lpstr>
      <vt:lpstr>PHP – Array Multidimensional</vt:lpstr>
      <vt:lpstr>PHP – Matriz Associativa</vt:lpstr>
      <vt:lpstr>Prática 5 – Matriz</vt:lpstr>
      <vt:lpstr>Prática 6 - Final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75</cp:revision>
  <dcterms:created xsi:type="dcterms:W3CDTF">2013-09-10T00:11:01Z</dcterms:created>
  <dcterms:modified xsi:type="dcterms:W3CDTF">2025-09-21T13:21:46Z</dcterms:modified>
</cp:coreProperties>
</file>